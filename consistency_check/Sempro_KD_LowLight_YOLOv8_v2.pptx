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Bapak Ibu. Kami mempresentasikan proposal pre-thesis berjudul knowledge distillation untuk deteksi objek jalan raya malam hari pada model ringan YOLOv8. Kalimat kuncinya ada di subjudul: yang kami kejar bukan angka mAP tertinggi, tapi memperkecil penurunan performa saat kondisi berubah dari siang ke malam, dan itu harus dicapai tanpa menambah beban komputasi saat model dipakai di kendaraan.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Alurnya enam bagian. Saya akan cukup banyak menampilkan angka dan referensi supaya setiap klaim ada dasarnya. Bagian yang paling ingin kami dapat masukan adalah nomor tiga soal posisi penelitian, dan nomor enam soal klaim kontribusi.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Saya mulai dari kenapa topik ini penting. Angka 76,3 persen ini dari analisis data NHTSA lima tahun terakhir yang dirangkum Pedestrian and Bicycle Information Center. Tiga dari empat kematian pejalan kaki terjadi saat gelap, padahal volume lalu lintas malam jauh lebih kecil. Bagian bawah menjelaskan kenapa ini masalah computer vision. Kamera itu sensor pasif, jadi saat cahaya berkurang informasinya memang hilang di sumber, bukan cuma tampilan yang lebih gelap.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menjawab pertanyaan kenapa tidak pakai model besar saja. Empat alasan, semuanya ada rujukannya di kolom kanan. Yang paling konkret adalah nomor dua. Pada kecepatan 60 km per jam, keterlambatan 100 milidetik setara 1,7 meter jarak tempuh, dan itu bisa menjadi selisih antara berhenti tepat waktu atau tidak. Baris keempat menunjukkan arah risetnya memang menuju model yang jauh lebih kecil, bukan lebih besar.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sengaja kami buat untuk menunjukkan kami tidak mengambil kesimpulan berlebihan. Kalau hanya melihat selisih absolut, student baseline seolah lebih tahan gelap daripada teacher. Tapi begitu dinormalisasi terhadap performa siang masing masing, urutannya kembali sesuai intuisi. Dan selisihnya lebih kecil dari variasi antar run kami, jadi secara statistik keduanya setara. Kesimpulan yang kami pakai: tanpa distilasi, besar kecilnya model tidak menentukan ketahanan terhadap perubahan cahaya.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jalur besar di literatur. Kolom keempat penting untuk kami sebut karena paper acuan kami, Sun et al. 2025, ada di jalur itu, yaitu pruning dan kuantisasi, dan mereka memakai KD justru sebagai alat pemulih akurasi. Yang jadi benang merah: tiga dari empat jalur ini membayar ongkosnya saat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yang kemarin belum ada dan menurut kami penting. Literatur membagi KD untuk detektor jadi empat keluarga. Logit based mentransfer distribusi kelas. Feature based mentransfer representasi antara. Localization distillation mentransfer distribusi kotak. Dan keluarga keempat mengatur bobot per anchor. Metode kami memakai keempat keluarga ini sekaligus, dan itu keputusan yang perlu kami pertanggungjawabkan di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jawaban untuk pertanyaan kenapa memilih logit based dan feature based sekaligus. Logikanya per baris. Malam hari punya beberapa mode kegagalan yang berbeda, dan tiap jalur distilasi menyerang satu di antaranya. Kalau kami hanya pakai logit distillation, objek kecil yang sudah hilang di feature map tidak akan tertolong, karena kerusakannya terjadi sebelum head. Sebaliknya kalau hanya feature, ambiguitas antar kelas dan ketidakpastian lokasi tidak tertangani. Jadi kombinasi ini bukan asal gabung.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alasan, semuanya ada rujukan. Yang paling menentukan tetap nomor satu. Tapi yang ingin saya tekankan adalah nomor empat, karena itu menunjukkan pilihan kami bukan spekulasi. KD sudah terbukti bekerja pada citra buram, inframerah, dan berkabut, yang semuanya adalah bentuk degradasi visual seperti kondisi malam. Nomor lima penting untuk arah lanjutan, karena artinya metode kami bisa digabung dengan pruning dan kuantisasi, bukan bersaing dengannya.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KD sudah usang, tiga hal ini tidak akan terjadi. Kolom kiri, survei besar tentang KD tidak akan terbit 2025 dan 2026. Kolom tengah, CVPR 2025 dan IEEE Transactions 2025 tidak akan menerima paper distilasi untuk autonomous driving. Kolom kanan, tidak akan ada paper 2024 dan 2025 yang khusus membahas KD untuk kondisi visual sulit seperti low light dan inframerah. Kotak bawah menjawab kekhawatiran tentang komponen kami sendiri, yang saya bahas lebih detail di slide terpisah nanti.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tidak mau berpura pura semua bagian KD masih segar. Empat poin di kolom kiri memang sudah jenuh, dan kritik terhadap paper yang hanya ganti dataset itu valid. Yang ingin kami tegaskan, kami tidak berargumen bahwa KD masih baru. Kami berargumen bahwa pertanyaan yang kami ajukan belum dijawab. Itu dua hal yang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inti untuk menjawab tuduhan hanya ganti dataset. Baris pertama adalah paper acuan kami, Sun et al. 2025. Mereka memang memakai KD untuk low light, tapi evaluasinya hanya pada kondisi low light, tanpa pembanding siang, jadi mereka tidak bisa dan tidak pernah melaporkan besar penurunannya. Tiga kolom terakhir adalah pembeda kami. Kami memisahkan evaluasi, menjadikan selisihnya metrik utama, dan menjalankan lebih dari satu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rumusan masalah mengikuti langsung dari celah tadi. RQ satu soal besarnya efek, RQ dua soal mekanismenya, dan RQ tiga soal keandalannya. Perhatikan bahwa RQ dua dan tiga adalah bagian yang biasanya tidak dijawab paper sejenis, dan itu kami jadikan bagian dari kontribusi.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jawaban untuk pertanyaan kenapa memilih dataset ini. Alasannya metodologis, bukan kemudahan. Karena metrik utama kami adalah selisih siang dan malam, kami butuh dua kondisi yang berasal dari distribusi, kamera, dan taksonomi label yang sama persis. Kalau kami memakai ExDark untuk malam dan dataset lain untuk siang, selisih yang terukur bisa saja berasal dari perbedaan dataset, bukan dari cahaya. BDD100K satu satunya yang punya atribut waktu bawaan dengan skala besar dan citra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dibagi seimbang antara siang dan malam di setiap split. Ini penting karena kalau data malam lebih sedikit, penurunan performa bisa dijelaskan oleh kekurangan data, bukan oleh kondisi cahaya. Kelas train kami keluarkan dengan alasan yang bisa dipertanggungjawabkan, dan kami latih ulang dari awal dengan sembilan kelas supaya perbandingannya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versi lengkap arsitekturnya. Baris atas adalah alirannya. Teacher dibekukan total, mode eval, tidak menerima gradien. Student dilatih penuh, semua layer, dan head-nya disesuaikan ke sembilan kelas dengan inisialisasi bias focal prior supaya stabil di epoch awal. Empat baris di bawah adalah jalur transfernya, lengkap dengan rujukan asal metodenya. Kalimat terakhir yang paling penting: semua ini hanya hidup saat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Fungsi objektifnya gabungan tiga kelompok suku. Yang perlu ditekankan, bobot terbesar tetap pada loss terhadap ground truth, yaitu 0,7. Jadi student tetap belajar dari label sebenarnya, teacher hanya memberi arahan tambahan. Ini penting karena pada malam hari teacher sendiri juga bisa salah. Baris terakhir, beta bukan konstanta, dan itu salah satu dari tiga perubahan yang kami buat.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perubahan, lengkap dengan sumber adaptasinya di kolom paling kanan. Yang paling ingin saya jelaskan adalah baris ketiga, karena alasannya paling spesifik untuk masalah kami. Perubahan cahaya mengubah magnitudo aktivasi feature map. Kalau kami pakai MSE, student dipaksa meniru angka aktivasi yang nilainya sendiri bergantung pada tingkat cahaya. Channel-wise Distillation menormalisasi tiap channel lewat softmax spasial, sehingga yang ditransfer murni pola perhatian, terlepas dari terang gelapnya. Itu alasan teknis kenapa komponen ini kami pilih untuk kasus low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khusus untuk pertanyaan kenapa memakai metode 2021. Tiga jawaban. Pertama, alasannya kecocokan sifat, bukan tahun. Sifat CWD yang menormalisasi magnitudo aktivasi itu justru yang kami butuhkan karena cahaya mengubah magnitudo. Kedua, biayanya paling kecil, hanya satu konvolusi 1x1, sementara MGD butuh generator tambahan. Ketiga, dan ini yang paling kuat, kami punya bukti ablation bahwa komponen ini benar benar bekerja dan efeknya spesifik ke malam hari. Jadi argumennya fungsional, bukan sekadar mengikuti tren.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masuk hasil utama, saya jelaskan dulu kenapa kami menjalankan training tiga kali. Batang biru adalah hasil tiap run, garis oranye rata ratanya, area oranye rentang satu simpangan baku, garis putus putus abu abu adalah student baseline. Perhatikan panel ketiga, gap. Run 1 memberi 0,0274, run 2 memberi 0,0173. Kalau kami hanya melapor run 1, besarannya meleset sekitar 18 persen dari rata rata sebenarnya. Arah kesimpulan tetap sama, tapi angka yang kami klaim tidak akan akurat.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gambaran lengkap semua metrik. Titik biru adalah tiap run, garis biru rata ratanya, berlian oranye adalah baseline. Koefisien variasi tertinggi hanya 2,1 persen, dan untuk mAP hanya 0,5 sampai 0,8 persen. Yang perlu ditekankan, pada semua metrik kecuali precision siang, ketiga titik biru berada di atas berlian oranye. Jadi kemenangannya tidak bergantung pada run mana yang kami pilih.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menjawab pertanyaan yang wajar muncul: kalau gap KD v1 dan KD v3 sama sama 0,0233, apa gunanya v3. Jawabannya ada di panel kiri. Pada gap yang sama, v3 lebih tinggi 0,0060 mAP baik di siang maupun di malam. Jadi bukan trade off, tapi peningkatan murni. Yang juga penting, KD tuned menunjukkan bahaya optimasi yang salah sasaran. Kami menaikkan akurasi siang jadi 0,5047, tertinggi dari semua, tapi gapnya melebar kembali ke 0,0427, hampir sama dengan baseline. Itu yang mengajarkan kami bahwa mAP saja tidak cukup jadi kriteria.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temuan utama kami, dan saya sengaja menyajikannya dalam bentuk penurunan relatif supaya perbandingannya adil antar model yang titik awalnya berbeda. Teacher turun 7,88 persen, baseline 8,65 persen, keduanya setara secara statistik. Student hasil distilasi turun 4,65 persen, hampir setengahnya, dengan jumlah parameter yang persis sama dengan baseline. Dua poin di bawah penting. Yang kami klaim adalah efek dari proses distilasinya. Yang tidak kami klaim adalah bahwa model kecil pada dasarnya lebih tahan gelap. Kami sengaja memisahkan keduanya supaya klaim kami bisa dipertahankan.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dibedah per kelas, distilasi menang di semua 18 kombinasi, tidak ada satu pun yang turun. Yang menarik, lonjakan terbesarnya bukan di kelas mobil yang datanya melimpah, melainkan di sepeda dan pengendara pada malam hari, masing masing sekitar 0,10 AP atau naik sepertiga sampai setengah secara relatif. Dari sisi keselamatan berkendara, itu justru kelas yang paling penting, dan ini menghubungkan hasil kami dengan arah riset Edge AI untuk keselamatan pengguna jalan rentan.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menampilkan hasil ablation, saya jelaskan dulu apa itu dan kenapa hanya tiga komponen ini. Ablation artinya kami menghapus satu komponen, menahan semua yang lain persis sama, lalu mengukur selisihnya. Kenapa tiga ini, karena tepat tiga inilah yang kami ubah dari KD standar. Komponen lain seperti task loss dan KL pada class logits adalah praktik mapan yang tidak kami klaim sebagai kontribusi. Dan kotak paling bawah, kami akan sampaikan terus terang bahwa pilihan awal ketiga komponen ini berasal dari kajian literatur, dan ablation inilah yang mengubahnya dari dugaan menjadi bukti.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hasil ablation. Yang perlu ditekankan bukan besar penurunan mAP-nya, melainkan polanya. Ketika CWD dicabut, akurasi siang praktis tidak berubah, hanya 0,0010 yang masih di dalam rentang noise kami. Tapi akurasi malam turun 0,0098, dan gapnya melebar dari 0,0233 jadi 0,0321. Artinya komponen ini menyumbang 46 persen dari total pengecilan gap, dan efeknya khusus pada kondisi malam. Itu persis yang kami hipotesiskan, sehingga hasilnya menguatkan penjelasan mekanismenya, bukan cuma angkanya.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klaim kontribusi. Dua yang pertama kami anggap paling kuat, dan itu yang akan kami taruh di abstract. Nomor satu adalah cara mengukurnya, nomor dua adalah bukti mekanismenya. Kalimat penutup di kotak bawah sengaja kami tulis, karena kami lebih memilih klaim kecil yang bisa dipertahankan sepenuhnya daripada klaim besar yang runtuh di pertanyaan kedua.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pekerjaan. Kolom kiri sudah selesai, termasuk ketiga ablation. Kolom tengah adalah prioritas berikutnya dan keduanya kami pilih justru karena menutup celah yang paling mungkin dipertanyakan. Mengulang baseline tiga kali melengkapi uji statistiknya di kedua sisi. Mengukur latency membuat klaim deployable punya bukti angka.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Tiga kalimat di bawah adalah ringkasan yang ingin kami tinggalkan. Kami sangat terbuka untuk masukan, khususnya apakah klaim kontribusi kami sudah cukup kuat untuk level thesis dan apakah rencana pengujian statistik kami sudah memadai.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cadangan, jangan ditampilkan kecuali ditanya. Empat pertanyaan pertama ini yang paling mungkin muncul, terutama yang pertama karena itu masukan langsung dari bimbingan.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pertanyaan lanjutan. Yang terakhir penting untuk dijawab jujur, karena kalau kita berpura pura punya uji signifikansi lengkap padahal baseline baru satu run, itu justru yang akan menjatuhkan kredibilitas.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referensi, ditampilkan sekilas saja atau dipakai kalau ada pertanyaan tentang sumber.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E3C"/>
        </a:solidFill>
      </p:bgPr>
    </p:bg>
    <p:spTree>
      <p:nvGrpSpPr>
        <p:cNvPr id="1" name=""/>
        <p:cNvGrpSpPr/>
        <p:nvPr/>
      </p:nvGrpSpPr>
      <p:grpSpPr>
        <a:xfrm>
          <a:off x="0" y="0"/>
          <a:ext cx="0" cy="0"/>
          <a:chOff x="0" y="0"/>
          <a:chExt cx="0" cy="0"/>
        </a:xfrm>
      </p:grpSpPr>
      <p:sp>
        <p:nvSpPr>
          <p:cNvPr id="2" name="Shape 0"/>
          <p:cNvSpPr/>
          <p:nvPr/>
        </p:nvSpPr>
        <p:spPr>
          <a:xfrm>
            <a:off x="9509760" y="-1463040"/>
            <a:ext cx="5120640" cy="5120640"/>
          </a:xfrm>
          <a:prstGeom prst="ellipse">
            <a:avLst/>
          </a:prstGeom>
          <a:solidFill>
            <a:srgbClr val="1B3260"/>
          </a:solidFill>
          <a:ln w="12700">
            <a:solidFill>
              <a:srgbClr val="1B3260"/>
            </a:solidFill>
            <a:prstDash val="solid"/>
          </a:ln>
        </p:spPr>
      </p:sp>
      <p:sp>
        <p:nvSpPr>
          <p:cNvPr id="3" name="Text 1"/>
          <p:cNvSpPr/>
          <p:nvPr/>
        </p:nvSpPr>
        <p:spPr>
          <a:xfrm>
            <a:off x="822960" y="1371600"/>
            <a:ext cx="8229600" cy="27432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SEMINAR PROPOSAL PRE-THESIS</a:t>
            </a:r>
            <a:endParaRPr lang="en-US" sz="1200" dirty="0"/>
          </a:p>
        </p:txBody>
      </p:sp>
      <p:sp>
        <p:nvSpPr>
          <p:cNvPr id="4" name="Text 2"/>
          <p:cNvSpPr/>
          <p:nvPr/>
        </p:nvSpPr>
        <p:spPr>
          <a:xfrm>
            <a:off x="822960" y="1874520"/>
            <a:ext cx="9509760" cy="1737360"/>
          </a:xfrm>
          <a:prstGeom prst="rect">
            <a:avLst/>
          </a:prstGeom>
          <a:noFill/>
          <a:ln/>
        </p:spPr>
        <p:txBody>
          <a:bodyPr wrap="square" lIns="0" tIns="0" rIns="0" bIns="0" rtlCol="0" anchor="ctr"/>
          <a:lstStyle/>
          <a:p>
            <a:pPr indent="0" marL="0">
              <a:lnSpc>
                <a:spcPts val="4100"/>
              </a:lnSpc>
              <a:buNone/>
            </a:pPr>
            <a:r>
              <a:rPr lang="en-US" sz="3300" b="1" dirty="0">
                <a:solidFill>
                  <a:srgbClr val="FFFFFF"/>
                </a:solidFill>
                <a:latin typeface="Cambria" pitchFamily="34" charset="0"/>
                <a:ea typeface="Cambria" pitchFamily="34" charset="-122"/>
                <a:cs typeface="Cambria" pitchFamily="34" charset="-120"/>
              </a:rPr>
              <a:t>Knowledge Distillation untuk Deteksi Objek</a:t>
            </a:r>
            <a:endParaRPr lang="en-US" sz="3300" dirty="0"/>
          </a:p>
          <a:p>
            <a:pPr indent="0" marL="0">
              <a:lnSpc>
                <a:spcPts val="4100"/>
              </a:lnSpc>
              <a:buNone/>
            </a:pPr>
            <a:r>
              <a:rPr lang="en-US" sz="3300" b="1" dirty="0">
                <a:solidFill>
                  <a:srgbClr val="FFFFFF"/>
                </a:solidFill>
                <a:latin typeface="Cambria" pitchFamily="34" charset="0"/>
                <a:ea typeface="Cambria" pitchFamily="34" charset="-122"/>
                <a:cs typeface="Cambria" pitchFamily="34" charset="-120"/>
              </a:rPr>
              <a:t>Jalan Raya Malam Hari pada Model Ringan YOLOv8</a:t>
            </a:r>
            <a:endParaRPr lang="en-US" sz="3300" dirty="0"/>
          </a:p>
        </p:txBody>
      </p:sp>
      <p:sp>
        <p:nvSpPr>
          <p:cNvPr id="5" name="Text 3"/>
          <p:cNvSpPr/>
          <p:nvPr/>
        </p:nvSpPr>
        <p:spPr>
          <a:xfrm>
            <a:off x="822960" y="3657600"/>
            <a:ext cx="9326880" cy="41148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Memperkecil penurunan performa siang ke malam tanpa menambah biaya inference</a:t>
            </a:r>
            <a:endParaRPr lang="en-US" sz="1600" dirty="0"/>
          </a:p>
        </p:txBody>
      </p:sp>
      <p:sp>
        <p:nvSpPr>
          <p:cNvPr id="6" name="Text 4"/>
          <p:cNvSpPr/>
          <p:nvPr/>
        </p:nvSpPr>
        <p:spPr>
          <a:xfrm>
            <a:off x="822960" y="4846320"/>
            <a:ext cx="9601200" cy="822960"/>
          </a:xfrm>
          <a:prstGeom prst="rect">
            <a:avLst/>
          </a:prstGeom>
          <a:noFill/>
          <a:ln/>
        </p:spPr>
        <p:txBody>
          <a:bodyPr wrap="square" lIns="0" tIns="0" rIns="0" bIns="0" rtlCol="0" anchor="ctr"/>
          <a:lstStyle/>
          <a:p>
            <a:pPr indent="0" marL="0">
              <a:lnSpc>
                <a:spcPts val="2200"/>
              </a:lnSpc>
              <a:buNone/>
            </a:pPr>
            <a:r>
              <a:rPr lang="en-US" sz="1400" dirty="0">
                <a:solidFill>
                  <a:srgbClr val="FFFFFF"/>
                </a:solidFill>
                <a:latin typeface="Calibri" pitchFamily="34" charset="0"/>
                <a:ea typeface="Calibri" pitchFamily="34" charset="-122"/>
                <a:cs typeface="Calibri" pitchFamily="34" charset="-120"/>
              </a:rPr>
              <a:t>Yoseph Oktavianus Yusanto  |  William Hartanto  |  Kezia Meilany Tandapai</a:t>
            </a:r>
            <a:endParaRPr lang="en-US" sz="1400" dirty="0"/>
          </a:p>
          <a:p>
            <a:pPr indent="0" marL="0">
              <a:lnSpc>
                <a:spcPts val="2200"/>
              </a:lnSpc>
              <a:buNone/>
            </a:pPr>
            <a:r>
              <a:rPr lang="en-US" sz="1300" dirty="0">
                <a:solidFill>
                  <a:srgbClr val="CADCFC"/>
                </a:solidFill>
                <a:latin typeface="Calibri" pitchFamily="34" charset="0"/>
                <a:ea typeface="Calibri" pitchFamily="34" charset="-122"/>
                <a:cs typeface="Calibri" pitchFamily="34" charset="-120"/>
              </a:rPr>
              <a:t>Pembimbing: Anderies  |  Computer Science, Bina Nusantara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Alur presentasi</a:t>
            </a:r>
            <a:endParaRPr lang="en-US" sz="2700" dirty="0"/>
          </a:p>
        </p:txBody>
      </p:sp>
      <p:sp>
        <p:nvSpPr>
          <p:cNvPr id="4" name="Shape 2"/>
          <p:cNvSpPr/>
          <p:nvPr/>
        </p:nvSpPr>
        <p:spPr>
          <a:xfrm>
            <a:off x="548640" y="1554480"/>
            <a:ext cx="5394960" cy="1143000"/>
          </a:xfrm>
          <a:prstGeom prst="roundRect">
            <a:avLst>
              <a:gd name="adj" fmla="val 6400"/>
            </a:avLst>
          </a:prstGeom>
          <a:solidFill>
            <a:srgbClr val="F2F4F8"/>
          </a:solidFill>
          <a:ln w="12700">
            <a:solidFill>
              <a:srgbClr val="F2F4F8"/>
            </a:solidFill>
            <a:prstDash val="solid"/>
          </a:ln>
        </p:spPr>
      </p:sp>
      <p:sp>
        <p:nvSpPr>
          <p:cNvPr id="5" name="Shape 3"/>
          <p:cNvSpPr/>
          <p:nvPr/>
        </p:nvSpPr>
        <p:spPr>
          <a:xfrm>
            <a:off x="841248" y="1929384"/>
            <a:ext cx="384048" cy="384048"/>
          </a:xfrm>
          <a:prstGeom prst="ellipse">
            <a:avLst/>
          </a:prstGeom>
          <a:solidFill>
            <a:srgbClr val="2A78D6"/>
          </a:solidFill>
          <a:ln w="12700">
            <a:solidFill>
              <a:srgbClr val="2A78D6"/>
            </a:solidFill>
            <a:prstDash val="solid"/>
          </a:ln>
        </p:spPr>
      </p:sp>
      <p:sp>
        <p:nvSpPr>
          <p:cNvPr id="6" name="Text 4"/>
          <p:cNvSpPr/>
          <p:nvPr/>
        </p:nvSpPr>
        <p:spPr>
          <a:xfrm>
            <a:off x="841248" y="19293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7556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Masalah dan buktinya</a:t>
            </a:r>
            <a:endParaRPr lang="en-US" sz="1600" dirty="0"/>
          </a:p>
        </p:txBody>
      </p:sp>
      <p:sp>
        <p:nvSpPr>
          <p:cNvPr id="8" name="Text 6"/>
          <p:cNvSpPr/>
          <p:nvPr/>
        </p:nvSpPr>
        <p:spPr>
          <a:xfrm>
            <a:off x="1417320" y="21031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Data kecelakaan malam, keterbatasan edge device, dan angka dari eksperimen kami</a:t>
            </a:r>
            <a:endParaRPr lang="en-US" sz="1150" dirty="0"/>
          </a:p>
        </p:txBody>
      </p:sp>
      <p:sp>
        <p:nvSpPr>
          <p:cNvPr id="9" name="Shape 7"/>
          <p:cNvSpPr/>
          <p:nvPr/>
        </p:nvSpPr>
        <p:spPr>
          <a:xfrm>
            <a:off x="6309360" y="1554480"/>
            <a:ext cx="5394960" cy="1143000"/>
          </a:xfrm>
          <a:prstGeom prst="roundRect">
            <a:avLst>
              <a:gd name="adj" fmla="val 6400"/>
            </a:avLst>
          </a:prstGeom>
          <a:solidFill>
            <a:srgbClr val="F2F4F8"/>
          </a:solidFill>
          <a:ln w="12700">
            <a:solidFill>
              <a:srgbClr val="F2F4F8"/>
            </a:solidFill>
            <a:prstDash val="solid"/>
          </a:ln>
        </p:spPr>
      </p:sp>
      <p:sp>
        <p:nvSpPr>
          <p:cNvPr id="10" name="Shape 8"/>
          <p:cNvSpPr/>
          <p:nvPr/>
        </p:nvSpPr>
        <p:spPr>
          <a:xfrm>
            <a:off x="6601968" y="1929384"/>
            <a:ext cx="384048" cy="384048"/>
          </a:xfrm>
          <a:prstGeom prst="ellipse">
            <a:avLst/>
          </a:prstGeom>
          <a:solidFill>
            <a:srgbClr val="2A78D6"/>
          </a:solidFill>
          <a:ln w="12700">
            <a:solidFill>
              <a:srgbClr val="2A78D6"/>
            </a:solidFill>
            <a:prstDash val="solid"/>
          </a:ln>
        </p:spPr>
      </p:sp>
      <p:sp>
        <p:nvSpPr>
          <p:cNvPr id="11" name="Text 9"/>
          <p:cNvSpPr/>
          <p:nvPr/>
        </p:nvSpPr>
        <p:spPr>
          <a:xfrm>
            <a:off x="6601968" y="19293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7178040" y="17556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Peta metode KD</a:t>
            </a:r>
            <a:endParaRPr lang="en-US" sz="1600" dirty="0"/>
          </a:p>
        </p:txBody>
      </p:sp>
      <p:sp>
        <p:nvSpPr>
          <p:cNvPr id="13" name="Text 11"/>
          <p:cNvSpPr/>
          <p:nvPr/>
        </p:nvSpPr>
        <p:spPr>
          <a:xfrm>
            <a:off x="7178040" y="21031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Taksonomi logit based, feature based, localization, dan instance weighting</a:t>
            </a:r>
            <a:endParaRPr lang="en-US" sz="1150" dirty="0"/>
          </a:p>
        </p:txBody>
      </p:sp>
      <p:sp>
        <p:nvSpPr>
          <p:cNvPr id="14" name="Shape 12"/>
          <p:cNvSpPr/>
          <p:nvPr/>
        </p:nvSpPr>
        <p:spPr>
          <a:xfrm>
            <a:off x="548640" y="2926080"/>
            <a:ext cx="5394960" cy="1143000"/>
          </a:xfrm>
          <a:prstGeom prst="roundRect">
            <a:avLst>
              <a:gd name="adj" fmla="val 6400"/>
            </a:avLst>
          </a:prstGeom>
          <a:solidFill>
            <a:srgbClr val="F2F4F8"/>
          </a:solidFill>
          <a:ln w="12700">
            <a:solidFill>
              <a:srgbClr val="F2F4F8"/>
            </a:solidFill>
            <a:prstDash val="solid"/>
          </a:ln>
        </p:spPr>
      </p:sp>
      <p:sp>
        <p:nvSpPr>
          <p:cNvPr id="15" name="Shape 13"/>
          <p:cNvSpPr/>
          <p:nvPr/>
        </p:nvSpPr>
        <p:spPr>
          <a:xfrm>
            <a:off x="841248" y="3300984"/>
            <a:ext cx="384048" cy="384048"/>
          </a:xfrm>
          <a:prstGeom prst="ellipse">
            <a:avLst/>
          </a:prstGeom>
          <a:solidFill>
            <a:srgbClr val="2A78D6"/>
          </a:solidFill>
          <a:ln w="12700">
            <a:solidFill>
              <a:srgbClr val="2A78D6"/>
            </a:solidFill>
            <a:prstDash val="solid"/>
          </a:ln>
        </p:spPr>
      </p:sp>
      <p:sp>
        <p:nvSpPr>
          <p:cNvPr id="16" name="Text 14"/>
          <p:cNvSpPr/>
          <p:nvPr/>
        </p:nvSpPr>
        <p:spPr>
          <a:xfrm>
            <a:off x="841248" y="33009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17320" y="31272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Posisi dan celah</a:t>
            </a:r>
            <a:endParaRPr lang="en-US" sz="1600" dirty="0"/>
          </a:p>
        </p:txBody>
      </p:sp>
      <p:sp>
        <p:nvSpPr>
          <p:cNvPr id="18" name="Text 16"/>
          <p:cNvSpPr/>
          <p:nvPr/>
        </p:nvSpPr>
        <p:spPr>
          <a:xfrm>
            <a:off x="1417320" y="34747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Apa yang sudah dikerjakan orang lain dan apa yang belum</a:t>
            </a:r>
            <a:endParaRPr lang="en-US" sz="1150" dirty="0"/>
          </a:p>
        </p:txBody>
      </p:sp>
      <p:sp>
        <p:nvSpPr>
          <p:cNvPr id="19" name="Shape 17"/>
          <p:cNvSpPr/>
          <p:nvPr/>
        </p:nvSpPr>
        <p:spPr>
          <a:xfrm>
            <a:off x="6309360" y="2926080"/>
            <a:ext cx="5394960" cy="1143000"/>
          </a:xfrm>
          <a:prstGeom prst="roundRect">
            <a:avLst>
              <a:gd name="adj" fmla="val 6400"/>
            </a:avLst>
          </a:prstGeom>
          <a:solidFill>
            <a:srgbClr val="F2F4F8"/>
          </a:solidFill>
          <a:ln w="12700">
            <a:solidFill>
              <a:srgbClr val="F2F4F8"/>
            </a:solidFill>
            <a:prstDash val="solid"/>
          </a:ln>
        </p:spPr>
      </p:sp>
      <p:sp>
        <p:nvSpPr>
          <p:cNvPr id="20" name="Shape 18"/>
          <p:cNvSpPr/>
          <p:nvPr/>
        </p:nvSpPr>
        <p:spPr>
          <a:xfrm>
            <a:off x="6601968" y="3300984"/>
            <a:ext cx="384048" cy="384048"/>
          </a:xfrm>
          <a:prstGeom prst="ellipse">
            <a:avLst/>
          </a:prstGeom>
          <a:solidFill>
            <a:srgbClr val="EB6834"/>
          </a:solidFill>
          <a:ln w="12700">
            <a:solidFill>
              <a:srgbClr val="EB6834"/>
            </a:solidFill>
            <a:prstDash val="solid"/>
          </a:ln>
        </p:spPr>
      </p:sp>
      <p:sp>
        <p:nvSpPr>
          <p:cNvPr id="21" name="Text 19"/>
          <p:cNvSpPr/>
          <p:nvPr/>
        </p:nvSpPr>
        <p:spPr>
          <a:xfrm>
            <a:off x="6601968" y="33009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178040" y="31272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Metode kami</a:t>
            </a:r>
            <a:endParaRPr lang="en-US" sz="1600" dirty="0"/>
          </a:p>
        </p:txBody>
      </p:sp>
      <p:sp>
        <p:nvSpPr>
          <p:cNvPr id="23" name="Text 21"/>
          <p:cNvSpPr/>
          <p:nvPr/>
        </p:nvSpPr>
        <p:spPr>
          <a:xfrm>
            <a:off x="7178040" y="34747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Arsitektur, fungsi objektif, dan tiga perubahan mekanisme</a:t>
            </a:r>
            <a:endParaRPr lang="en-US" sz="1150" dirty="0"/>
          </a:p>
        </p:txBody>
      </p:sp>
      <p:sp>
        <p:nvSpPr>
          <p:cNvPr id="24" name="Shape 22"/>
          <p:cNvSpPr/>
          <p:nvPr/>
        </p:nvSpPr>
        <p:spPr>
          <a:xfrm>
            <a:off x="548640" y="4297680"/>
            <a:ext cx="5394960" cy="1143000"/>
          </a:xfrm>
          <a:prstGeom prst="roundRect">
            <a:avLst>
              <a:gd name="adj" fmla="val 6400"/>
            </a:avLst>
          </a:prstGeom>
          <a:solidFill>
            <a:srgbClr val="F2F4F8"/>
          </a:solidFill>
          <a:ln w="12700">
            <a:solidFill>
              <a:srgbClr val="F2F4F8"/>
            </a:solidFill>
            <a:prstDash val="solid"/>
          </a:ln>
        </p:spPr>
      </p:sp>
      <p:sp>
        <p:nvSpPr>
          <p:cNvPr id="25" name="Shape 23"/>
          <p:cNvSpPr/>
          <p:nvPr/>
        </p:nvSpPr>
        <p:spPr>
          <a:xfrm>
            <a:off x="841248" y="4672584"/>
            <a:ext cx="384048" cy="384048"/>
          </a:xfrm>
          <a:prstGeom prst="ellipse">
            <a:avLst/>
          </a:prstGeom>
          <a:solidFill>
            <a:srgbClr val="EB6834"/>
          </a:solidFill>
          <a:ln w="12700">
            <a:solidFill>
              <a:srgbClr val="EB6834"/>
            </a:solidFill>
            <a:prstDash val="solid"/>
          </a:ln>
        </p:spPr>
      </p:sp>
      <p:sp>
        <p:nvSpPr>
          <p:cNvPr id="26" name="Text 24"/>
          <p:cNvSpPr/>
          <p:nvPr/>
        </p:nvSpPr>
        <p:spPr>
          <a:xfrm>
            <a:off x="841248" y="4672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417320" y="44988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Hasil dan ablation</a:t>
            </a:r>
            <a:endParaRPr lang="en-US" sz="1600" dirty="0"/>
          </a:p>
        </p:txBody>
      </p:sp>
      <p:sp>
        <p:nvSpPr>
          <p:cNvPr id="28" name="Text 26"/>
          <p:cNvSpPr/>
          <p:nvPr/>
        </p:nvSpPr>
        <p:spPr>
          <a:xfrm>
            <a:off x="1417320" y="48463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Tiga kali training, ablation per komponen, temuan utama</a:t>
            </a:r>
            <a:endParaRPr lang="en-US" sz="1150" dirty="0"/>
          </a:p>
        </p:txBody>
      </p:sp>
      <p:sp>
        <p:nvSpPr>
          <p:cNvPr id="29" name="Shape 27"/>
          <p:cNvSpPr/>
          <p:nvPr/>
        </p:nvSpPr>
        <p:spPr>
          <a:xfrm>
            <a:off x="6309360" y="4297680"/>
            <a:ext cx="5394960" cy="1143000"/>
          </a:xfrm>
          <a:prstGeom prst="roundRect">
            <a:avLst>
              <a:gd name="adj" fmla="val 6400"/>
            </a:avLst>
          </a:prstGeom>
          <a:solidFill>
            <a:srgbClr val="F2F4F8"/>
          </a:solidFill>
          <a:ln w="12700">
            <a:solidFill>
              <a:srgbClr val="F2F4F8"/>
            </a:solidFill>
            <a:prstDash val="solid"/>
          </a:ln>
        </p:spPr>
      </p:sp>
      <p:sp>
        <p:nvSpPr>
          <p:cNvPr id="30" name="Shape 28"/>
          <p:cNvSpPr/>
          <p:nvPr/>
        </p:nvSpPr>
        <p:spPr>
          <a:xfrm>
            <a:off x="6601968" y="4672584"/>
            <a:ext cx="384048" cy="384048"/>
          </a:xfrm>
          <a:prstGeom prst="ellipse">
            <a:avLst/>
          </a:prstGeom>
          <a:solidFill>
            <a:srgbClr val="EB6834"/>
          </a:solidFill>
          <a:ln w="12700">
            <a:solidFill>
              <a:srgbClr val="EB6834"/>
            </a:solidFill>
            <a:prstDash val="solid"/>
          </a:ln>
        </p:spPr>
      </p:sp>
      <p:sp>
        <p:nvSpPr>
          <p:cNvPr id="31" name="Text 29"/>
          <p:cNvSpPr/>
          <p:nvPr/>
        </p:nvSpPr>
        <p:spPr>
          <a:xfrm>
            <a:off x="6601968" y="4672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7178040" y="44988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Kontribusi dan rencana</a:t>
            </a:r>
            <a:endParaRPr lang="en-US" sz="1600" dirty="0"/>
          </a:p>
        </p:txBody>
      </p:sp>
      <p:sp>
        <p:nvSpPr>
          <p:cNvPr id="33" name="Text 31"/>
          <p:cNvSpPr/>
          <p:nvPr/>
        </p:nvSpPr>
        <p:spPr>
          <a:xfrm>
            <a:off x="7178040" y="48463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Klaim yang kami ajukan dan sisa pekerjaan</a:t>
            </a:r>
            <a:endParaRPr lang="en-US" sz="1150" dirty="0"/>
          </a:p>
        </p:txBody>
      </p:sp>
      <p:sp>
        <p:nvSpPr>
          <p:cNvPr id="34" name="Text 32"/>
          <p:cNvSpPr/>
          <p:nvPr/>
        </p:nvSpPr>
        <p:spPr>
          <a:xfrm>
            <a:off x="548640" y="5852160"/>
            <a:ext cx="11064240" cy="365760"/>
          </a:xfrm>
          <a:prstGeom prst="rect">
            <a:avLst/>
          </a:prstGeom>
          <a:noFill/>
          <a:ln/>
        </p:spPr>
        <p:txBody>
          <a:bodyPr wrap="square" lIns="0" tIns="0" rIns="0" bIns="0" rtlCol="0" anchor="ctr"/>
          <a:lstStyle/>
          <a:p>
            <a:pPr indent="0" marL="0">
              <a:buNone/>
            </a:pPr>
            <a:r>
              <a:rPr lang="en-US" sz="1300" i="1" dirty="0">
                <a:solidFill>
                  <a:srgbClr val="0E1E3C"/>
                </a:solidFill>
                <a:latin typeface="Calibri" pitchFamily="34" charset="0"/>
                <a:ea typeface="Calibri" pitchFamily="34" charset="-122"/>
                <a:cs typeface="Calibri" pitchFamily="34" charset="-120"/>
              </a:rPr>
              <a:t>Bagian yang paling ingin kami diskusikan: nomor 3 dan nomor 6.</a:t>
            </a:r>
            <a:endParaRPr lang="en-US" sz="1300" dirty="0"/>
          </a:p>
        </p:txBody>
      </p:sp>
      <p:sp>
        <p:nvSpPr>
          <p:cNvPr id="35" name="Text 3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LATAR BELAKANG 1 DARI 3</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Malam hari adalah kondisi paling mematikan di jalan</a:t>
            </a:r>
            <a:endParaRPr lang="en-US" sz="2700" dirty="0"/>
          </a:p>
        </p:txBody>
      </p:sp>
      <p:sp>
        <p:nvSpPr>
          <p:cNvPr id="4" name="Shape 2"/>
          <p:cNvSpPr/>
          <p:nvPr/>
        </p:nvSpPr>
        <p:spPr>
          <a:xfrm>
            <a:off x="548640" y="1508760"/>
            <a:ext cx="5394960" cy="2057400"/>
          </a:xfrm>
          <a:prstGeom prst="roundRect">
            <a:avLst>
              <a:gd name="adj" fmla="val 3556"/>
            </a:avLst>
          </a:prstGeom>
          <a:solidFill>
            <a:srgbClr val="0E1E3C"/>
          </a:solidFill>
          <a:ln w="12700">
            <a:solidFill>
              <a:srgbClr val="0E1E3C"/>
            </a:solidFill>
            <a:prstDash val="solid"/>
          </a:ln>
        </p:spPr>
      </p:sp>
      <p:sp>
        <p:nvSpPr>
          <p:cNvPr id="5" name="Text 3"/>
          <p:cNvSpPr/>
          <p:nvPr/>
        </p:nvSpPr>
        <p:spPr>
          <a:xfrm>
            <a:off x="868680" y="1691640"/>
            <a:ext cx="4754880" cy="685800"/>
          </a:xfrm>
          <a:prstGeom prst="rect">
            <a:avLst/>
          </a:prstGeom>
          <a:noFill/>
          <a:ln/>
        </p:spPr>
        <p:txBody>
          <a:bodyPr wrap="square" lIns="0" tIns="0" rIns="0" bIns="0" rtlCol="0" anchor="ctr"/>
          <a:lstStyle/>
          <a:p>
            <a:pPr indent="0" marL="0">
              <a:buNone/>
            </a:pPr>
            <a:r>
              <a:rPr lang="en-US" sz="3800" b="1" dirty="0">
                <a:solidFill>
                  <a:srgbClr val="EB6834"/>
                </a:solidFill>
                <a:latin typeface="Cambria" pitchFamily="34" charset="0"/>
                <a:ea typeface="Cambria" pitchFamily="34" charset="-122"/>
                <a:cs typeface="Cambria" pitchFamily="34" charset="-120"/>
              </a:rPr>
              <a:t>76,3%</a:t>
            </a:r>
            <a:endParaRPr lang="en-US" sz="3800" dirty="0"/>
          </a:p>
        </p:txBody>
      </p:sp>
      <p:sp>
        <p:nvSpPr>
          <p:cNvPr id="6" name="Text 4"/>
          <p:cNvSpPr/>
          <p:nvPr/>
        </p:nvSpPr>
        <p:spPr>
          <a:xfrm>
            <a:off x="868680" y="2423160"/>
            <a:ext cx="4754880" cy="5943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kematian pejalan kaki di Amerika Serikat terjadi pada kondisi gelap</a:t>
            </a:r>
            <a:endParaRPr lang="en-US" sz="1300" dirty="0"/>
          </a:p>
        </p:txBody>
      </p:sp>
      <p:sp>
        <p:nvSpPr>
          <p:cNvPr id="7" name="Text 5"/>
          <p:cNvSpPr/>
          <p:nvPr/>
        </p:nvSpPr>
        <p:spPr>
          <a:xfrm>
            <a:off x="868680" y="3035808"/>
            <a:ext cx="4754880" cy="41148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Pedestrian and Bicycle Information Center, analisis data NHTSA 2019 sampai 2023</a:t>
            </a:r>
            <a:endParaRPr lang="en-US" sz="1050" dirty="0"/>
          </a:p>
        </p:txBody>
      </p:sp>
      <p:sp>
        <p:nvSpPr>
          <p:cNvPr id="8" name="Shape 6"/>
          <p:cNvSpPr/>
          <p:nvPr/>
        </p:nvSpPr>
        <p:spPr>
          <a:xfrm>
            <a:off x="6309360" y="1508760"/>
            <a:ext cx="5394960" cy="2057400"/>
          </a:xfrm>
          <a:prstGeom prst="roundRect">
            <a:avLst>
              <a:gd name="adj" fmla="val 3556"/>
            </a:avLst>
          </a:prstGeom>
          <a:solidFill>
            <a:srgbClr val="F2F4F8"/>
          </a:solidFill>
          <a:ln w="12700">
            <a:solidFill>
              <a:srgbClr val="F2F4F8"/>
            </a:solidFill>
            <a:prstDash val="solid"/>
          </a:ln>
        </p:spPr>
      </p:sp>
      <p:sp>
        <p:nvSpPr>
          <p:cNvPr id="9" name="Text 7"/>
          <p:cNvSpPr/>
          <p:nvPr/>
        </p:nvSpPr>
        <p:spPr>
          <a:xfrm>
            <a:off x="6629400" y="1691640"/>
            <a:ext cx="4754880" cy="685800"/>
          </a:xfrm>
          <a:prstGeom prst="rect">
            <a:avLst/>
          </a:prstGeom>
          <a:noFill/>
          <a:ln/>
        </p:spPr>
        <p:txBody>
          <a:bodyPr wrap="square" lIns="0" tIns="0" rIns="0" bIns="0" rtlCol="0" anchor="ctr"/>
          <a:lstStyle/>
          <a:p>
            <a:pPr indent="0" marL="0">
              <a:buNone/>
            </a:pPr>
            <a:r>
              <a:rPr lang="en-US" sz="3800" b="1" dirty="0">
                <a:solidFill>
                  <a:srgbClr val="0E1E3C"/>
                </a:solidFill>
                <a:latin typeface="Cambria" pitchFamily="34" charset="0"/>
                <a:ea typeface="Cambria" pitchFamily="34" charset="-122"/>
                <a:cs typeface="Cambria" pitchFamily="34" charset="-120"/>
              </a:rPr>
              <a:t>3 dari 4</a:t>
            </a:r>
            <a:endParaRPr lang="en-US" sz="3800" dirty="0"/>
          </a:p>
        </p:txBody>
      </p:sp>
      <p:sp>
        <p:nvSpPr>
          <p:cNvPr id="10" name="Text 8"/>
          <p:cNvSpPr/>
          <p:nvPr/>
        </p:nvSpPr>
        <p:spPr>
          <a:xfrm>
            <a:off x="6629400" y="2423160"/>
            <a:ext cx="4754880" cy="59436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kecelakaan fatal pejalan kaki terjadi di luar jam terang, walaupun volume lalu lintas malam jauh lebih rendah</a:t>
            </a:r>
            <a:endParaRPr lang="en-US" sz="1300" dirty="0"/>
          </a:p>
        </p:txBody>
      </p:sp>
      <p:sp>
        <p:nvSpPr>
          <p:cNvPr id="11" name="Text 9"/>
          <p:cNvSpPr/>
          <p:nvPr/>
        </p:nvSpPr>
        <p:spPr>
          <a:xfrm>
            <a:off x="6629400" y="3035808"/>
            <a:ext cx="4754880" cy="411480"/>
          </a:xfrm>
          <a:prstGeom prst="rect">
            <a:avLst/>
          </a:prstGeom>
          <a:noFill/>
          <a:ln/>
        </p:spPr>
        <p:txBody>
          <a:bodyPr wrap="square" lIns="0" tIns="0" rIns="0" bIns="0" rtlCol="0" anchor="ctr"/>
          <a:lstStyle/>
          <a:p>
            <a:pPr indent="0" marL="0">
              <a:buNone/>
            </a:pPr>
            <a:r>
              <a:rPr lang="en-US" sz="1050" i="1" dirty="0">
                <a:solidFill>
                  <a:srgbClr val="898781"/>
                </a:solidFill>
                <a:latin typeface="Calibri" pitchFamily="34" charset="0"/>
                <a:ea typeface="Calibri" pitchFamily="34" charset="-122"/>
                <a:cs typeface="Calibri" pitchFamily="34" charset="-120"/>
              </a:rPr>
              <a:t>Konsekuensinya: risiko per kilometer perjalanan pada malam hari jauh lebih tinggi</a:t>
            </a:r>
            <a:endParaRPr lang="en-US" sz="1050" dirty="0"/>
          </a:p>
        </p:txBody>
      </p:sp>
      <p:sp>
        <p:nvSpPr>
          <p:cNvPr id="12" name="Shape 10"/>
          <p:cNvSpPr/>
          <p:nvPr/>
        </p:nvSpPr>
        <p:spPr>
          <a:xfrm>
            <a:off x="548640" y="3749040"/>
            <a:ext cx="11064240" cy="1874520"/>
          </a:xfrm>
          <a:prstGeom prst="roundRect">
            <a:avLst>
              <a:gd name="adj" fmla="val 3902"/>
            </a:avLst>
          </a:prstGeom>
          <a:solidFill>
            <a:srgbClr val="F2F4F8"/>
          </a:solidFill>
          <a:ln w="12700">
            <a:solidFill>
              <a:srgbClr val="F2F4F8"/>
            </a:solidFill>
            <a:prstDash val="solid"/>
          </a:ln>
        </p:spPr>
      </p:sp>
      <p:sp>
        <p:nvSpPr>
          <p:cNvPr id="13" name="Text 11"/>
          <p:cNvSpPr/>
          <p:nvPr/>
        </p:nvSpPr>
        <p:spPr>
          <a:xfrm>
            <a:off x="868680" y="3931920"/>
            <a:ext cx="10424160" cy="320040"/>
          </a:xfrm>
          <a:prstGeom prst="rect">
            <a:avLst/>
          </a:prstGeom>
          <a:noFill/>
          <a:ln/>
        </p:spPr>
        <p:txBody>
          <a:bodyPr wrap="square" lIns="0" tIns="0" rIns="0" bIns="0" rtlCol="0" anchor="ctr"/>
          <a:lstStyle/>
          <a:p>
            <a:pPr indent="0" marL="0">
              <a:buNone/>
            </a:pPr>
            <a:r>
              <a:rPr lang="en-US" sz="1500" b="1" dirty="0">
                <a:solidFill>
                  <a:srgbClr val="0E1E3C"/>
                </a:solidFill>
                <a:latin typeface="Cambria" pitchFamily="34" charset="0"/>
                <a:ea typeface="Cambria" pitchFamily="34" charset="-122"/>
                <a:cs typeface="Cambria" pitchFamily="34" charset="-120"/>
              </a:rPr>
              <a:t>Kenapa ini masalah computer vision, bukan sekadar masalah penerangan jalan</a:t>
            </a:r>
            <a:endParaRPr lang="en-US" sz="1500" dirty="0"/>
          </a:p>
        </p:txBody>
      </p:sp>
      <p:sp>
        <p:nvSpPr>
          <p:cNvPr id="14" name="Text 12"/>
          <p:cNvSpPr/>
          <p:nvPr/>
        </p:nvSpPr>
        <p:spPr>
          <a:xfrm>
            <a:off x="868680" y="4297680"/>
            <a:ext cx="10424160" cy="12344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52514E"/>
                </a:solidFill>
                <a:latin typeface="Calibri" pitchFamily="34" charset="0"/>
                <a:ea typeface="Calibri" pitchFamily="34" charset="-122"/>
                <a:cs typeface="Calibri" pitchFamily="34" charset="-120"/>
              </a:rPr>
              <a:t>Kamera adalah sensor pasif. Saat cahaya berkurang, kontras turun, sensor noise naik, dan motion blur bertambah karena exposure time diperpanjang [Jaw et al., IEEE T-Cybernetics 2023]</a:t>
            </a:r>
            <a:endParaRPr lang="en-US" sz="1150" dirty="0"/>
          </a:p>
          <a:p>
            <a:pPr marL="342900" indent="-342900">
              <a:spcAft>
                <a:spcPts val="700"/>
              </a:spcAft>
              <a:buSzPct val="100000"/>
              <a:buChar char="•"/>
            </a:pPr>
            <a:r>
              <a:rPr lang="en-US" sz="1150" dirty="0">
                <a:solidFill>
                  <a:srgbClr val="52514E"/>
                </a:solidFill>
                <a:latin typeface="Calibri" pitchFamily="34" charset="0"/>
                <a:ea typeface="Calibri" pitchFamily="34" charset="-122"/>
                <a:cs typeface="Calibri" pitchFamily="34" charset="-120"/>
              </a:rPr>
              <a:t>Degradasi ini merusak feature map di level rendah, sehingga detektor kehilangan objek sebelum tahap klasifikasi [Li et al., Neurocomputing 2022]</a:t>
            </a:r>
            <a:endParaRPr lang="en-US" sz="1150" dirty="0"/>
          </a:p>
          <a:p>
            <a:pPr marL="342900" indent="-342900">
              <a:spcAft>
                <a:spcPts val="700"/>
              </a:spcAft>
              <a:buSzPct val="100000"/>
              <a:buChar char="•"/>
            </a:pPr>
            <a:r>
              <a:rPr lang="en-US" sz="1150" dirty="0">
                <a:solidFill>
                  <a:srgbClr val="52514E"/>
                </a:solidFill>
                <a:latin typeface="Calibri" pitchFamily="34" charset="0"/>
                <a:ea typeface="Calibri" pitchFamily="34" charset="-122"/>
                <a:cs typeface="Calibri" pitchFamily="34" charset="-120"/>
              </a:rPr>
              <a:t>Detektor klasik seperti RetinaNet dan YOLOv3 terbukti gagal mengenali pengguna jalan pada citra yang kurang cahaya [Zhang dan Lee, Applied Sciences 2024]</a:t>
            </a:r>
            <a:endParaRPr lang="en-US" sz="1150" dirty="0"/>
          </a:p>
        </p:txBody>
      </p:sp>
      <p:sp>
        <p:nvSpPr>
          <p:cNvPr id="15" name="Text 1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LATAR BELAKANG 2 DARI 3</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Solusi tidak boleh menambah beban komputasi kendaraan</a:t>
            </a:r>
            <a:endParaRPr lang="en-US" sz="2700" dirty="0"/>
          </a:p>
        </p:txBody>
      </p:sp>
      <p:sp>
        <p:nvSpPr>
          <p:cNvPr id="4" name="Shape 2"/>
          <p:cNvSpPr/>
          <p:nvPr/>
        </p:nvSpPr>
        <p:spPr>
          <a:xfrm>
            <a:off x="548640" y="1481328"/>
            <a:ext cx="11064240" cy="950976"/>
          </a:xfrm>
          <a:prstGeom prst="roundRect">
            <a:avLst>
              <a:gd name="adj" fmla="val 7692"/>
            </a:avLst>
          </a:prstGeom>
          <a:solidFill>
            <a:srgbClr val="F2F4F8"/>
          </a:solidFill>
          <a:ln w="12700">
            <a:solidFill>
              <a:srgbClr val="F2F4F8"/>
            </a:solidFill>
            <a:prstDash val="solid"/>
          </a:ln>
        </p:spPr>
      </p:sp>
      <p:sp>
        <p:nvSpPr>
          <p:cNvPr id="5" name="Shape 3"/>
          <p:cNvSpPr/>
          <p:nvPr/>
        </p:nvSpPr>
        <p:spPr>
          <a:xfrm>
            <a:off x="841248" y="1764792"/>
            <a:ext cx="384048" cy="384048"/>
          </a:xfrm>
          <a:prstGeom prst="ellipse">
            <a:avLst/>
          </a:prstGeom>
          <a:solidFill>
            <a:srgbClr val="2A78D6"/>
          </a:solidFill>
          <a:ln w="12700">
            <a:solidFill>
              <a:srgbClr val="2A78D6"/>
            </a:solidFill>
            <a:prstDash val="solid"/>
          </a:ln>
        </p:spPr>
      </p:sp>
      <p:sp>
        <p:nvSpPr>
          <p:cNvPr id="6" name="Text 4"/>
          <p:cNvSpPr/>
          <p:nvPr/>
        </p:nvSpPr>
        <p:spPr>
          <a:xfrm>
            <a:off x="841248" y="1764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591056"/>
            <a:ext cx="2880360" cy="73152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Memori dan compute embedded terbatas</a:t>
            </a:r>
            <a:endParaRPr lang="en-US" sz="1300" dirty="0"/>
          </a:p>
        </p:txBody>
      </p:sp>
      <p:sp>
        <p:nvSpPr>
          <p:cNvPr id="8" name="Text 6"/>
          <p:cNvSpPr/>
          <p:nvPr/>
        </p:nvSpPr>
        <p:spPr>
          <a:xfrm>
            <a:off x="4434840" y="1572768"/>
            <a:ext cx="5029200" cy="7772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Perangkat in-vehicle seperti NVIDIA Jetson punya memori dan bandwidth yang jauh di bawah GPU server, sehingga model deteksi harus dipangkas agar muat</a:t>
            </a:r>
            <a:endParaRPr lang="en-US" sz="1100" dirty="0"/>
          </a:p>
        </p:txBody>
      </p:sp>
      <p:sp>
        <p:nvSpPr>
          <p:cNvPr id="9" name="Text 7"/>
          <p:cNvSpPr/>
          <p:nvPr/>
        </p:nvSpPr>
        <p:spPr>
          <a:xfrm>
            <a:off x="9646920" y="1572768"/>
            <a:ext cx="1783080" cy="777240"/>
          </a:xfrm>
          <a:prstGeom prst="rect">
            <a:avLst/>
          </a:prstGeom>
          <a:noFill/>
          <a:ln/>
        </p:spPr>
        <p:txBody>
          <a:bodyPr wrap="square" lIns="0" tIns="0" rIns="0" bIns="0" rtlCol="0" anchor="ctr"/>
          <a:lstStyle/>
          <a:p>
            <a:pPr indent="0" marL="0">
              <a:buNone/>
            </a:pPr>
            <a:r>
              <a:rPr lang="en-US" sz="950" i="1" dirty="0">
                <a:solidFill>
                  <a:srgbClr val="898781"/>
                </a:solidFill>
                <a:latin typeface="Calibri" pitchFamily="34" charset="0"/>
                <a:ea typeface="Calibri" pitchFamily="34" charset="-122"/>
                <a:cs typeface="Calibri" pitchFamily="34" charset="-120"/>
              </a:rPr>
              <a:t>Karjol dan Hanna, CVPR 2024; Sun et al., 2025</a:t>
            </a:r>
            <a:endParaRPr lang="en-US" sz="950" dirty="0"/>
          </a:p>
        </p:txBody>
      </p:sp>
      <p:sp>
        <p:nvSpPr>
          <p:cNvPr id="10" name="Shape 8"/>
          <p:cNvSpPr/>
          <p:nvPr/>
        </p:nvSpPr>
        <p:spPr>
          <a:xfrm>
            <a:off x="548640" y="2542032"/>
            <a:ext cx="11064240" cy="950976"/>
          </a:xfrm>
          <a:prstGeom prst="roundRect">
            <a:avLst>
              <a:gd name="adj" fmla="val 7692"/>
            </a:avLst>
          </a:prstGeom>
          <a:solidFill>
            <a:srgbClr val="F2F4F8"/>
          </a:solidFill>
          <a:ln w="12700">
            <a:solidFill>
              <a:srgbClr val="F2F4F8"/>
            </a:solidFill>
            <a:prstDash val="solid"/>
          </a:ln>
        </p:spPr>
      </p:sp>
      <p:sp>
        <p:nvSpPr>
          <p:cNvPr id="11" name="Shape 9"/>
          <p:cNvSpPr/>
          <p:nvPr/>
        </p:nvSpPr>
        <p:spPr>
          <a:xfrm>
            <a:off x="841248" y="2825496"/>
            <a:ext cx="384048" cy="384048"/>
          </a:xfrm>
          <a:prstGeom prst="ellipse">
            <a:avLst/>
          </a:prstGeom>
          <a:solidFill>
            <a:srgbClr val="EB6834"/>
          </a:solidFill>
          <a:ln w="12700">
            <a:solidFill>
              <a:srgbClr val="EB6834"/>
            </a:solidFill>
            <a:prstDash val="solid"/>
          </a:ln>
        </p:spPr>
      </p:sp>
      <p:sp>
        <p:nvSpPr>
          <p:cNvPr id="12" name="Text 10"/>
          <p:cNvSpPr/>
          <p:nvPr/>
        </p:nvSpPr>
        <p:spPr>
          <a:xfrm>
            <a:off x="841248" y="28254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417320" y="2651760"/>
            <a:ext cx="2880360" cy="73152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Latency berubah menjadi jarak tempuh</a:t>
            </a:r>
            <a:endParaRPr lang="en-US" sz="1300" dirty="0"/>
          </a:p>
        </p:txBody>
      </p:sp>
      <p:sp>
        <p:nvSpPr>
          <p:cNvPr id="14" name="Text 12"/>
          <p:cNvSpPr/>
          <p:nvPr/>
        </p:nvSpPr>
        <p:spPr>
          <a:xfrm>
            <a:off x="4434840" y="2633472"/>
            <a:ext cx="5029200" cy="7772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Pada 60 km per jam kendaraan menempuh 1,7 meter setiap 100 ms. Keterlambatan deteksi langsung menjadi jarak reaksi yang hilang</a:t>
            </a:r>
            <a:endParaRPr lang="en-US" sz="1100" dirty="0"/>
          </a:p>
        </p:txBody>
      </p:sp>
      <p:sp>
        <p:nvSpPr>
          <p:cNvPr id="15" name="Text 13"/>
          <p:cNvSpPr/>
          <p:nvPr/>
        </p:nvSpPr>
        <p:spPr>
          <a:xfrm>
            <a:off x="9646920" y="2633472"/>
            <a:ext cx="1783080" cy="777240"/>
          </a:xfrm>
          <a:prstGeom prst="rect">
            <a:avLst/>
          </a:prstGeom>
          <a:noFill/>
          <a:ln/>
        </p:spPr>
        <p:txBody>
          <a:bodyPr wrap="square" lIns="0" tIns="0" rIns="0" bIns="0" rtlCol="0" anchor="ctr"/>
          <a:lstStyle/>
          <a:p>
            <a:pPr indent="0" marL="0">
              <a:buNone/>
            </a:pPr>
            <a:r>
              <a:rPr lang="en-US" sz="950" i="1" dirty="0">
                <a:solidFill>
                  <a:srgbClr val="898781"/>
                </a:solidFill>
                <a:latin typeface="Calibri" pitchFamily="34" charset="0"/>
                <a:ea typeface="Calibri" pitchFamily="34" charset="-122"/>
                <a:cs typeface="Calibri" pitchFamily="34" charset="-120"/>
              </a:rPr>
              <a:t>Yang et al., Drones 2025</a:t>
            </a:r>
            <a:endParaRPr lang="en-US" sz="950" dirty="0"/>
          </a:p>
        </p:txBody>
      </p:sp>
      <p:sp>
        <p:nvSpPr>
          <p:cNvPr id="16" name="Shape 14"/>
          <p:cNvSpPr/>
          <p:nvPr/>
        </p:nvSpPr>
        <p:spPr>
          <a:xfrm>
            <a:off x="548640" y="3602736"/>
            <a:ext cx="11064240" cy="950976"/>
          </a:xfrm>
          <a:prstGeom prst="roundRect">
            <a:avLst>
              <a:gd name="adj" fmla="val 7692"/>
            </a:avLst>
          </a:prstGeom>
          <a:solidFill>
            <a:srgbClr val="F2F4F8"/>
          </a:solidFill>
          <a:ln w="12700">
            <a:solidFill>
              <a:srgbClr val="F2F4F8"/>
            </a:solidFill>
            <a:prstDash val="solid"/>
          </a:ln>
        </p:spPr>
      </p:sp>
      <p:sp>
        <p:nvSpPr>
          <p:cNvPr id="17" name="Shape 15"/>
          <p:cNvSpPr/>
          <p:nvPr/>
        </p:nvSpPr>
        <p:spPr>
          <a:xfrm>
            <a:off x="841248" y="3886200"/>
            <a:ext cx="384048" cy="384048"/>
          </a:xfrm>
          <a:prstGeom prst="ellipse">
            <a:avLst/>
          </a:prstGeom>
          <a:solidFill>
            <a:srgbClr val="2A78D6"/>
          </a:solidFill>
          <a:ln w="12700">
            <a:solidFill>
              <a:srgbClr val="2A78D6"/>
            </a:solidFill>
            <a:prstDash val="solid"/>
          </a:ln>
        </p:spPr>
      </p:sp>
      <p:sp>
        <p:nvSpPr>
          <p:cNvPr id="18" name="Text 16"/>
          <p:cNvSpPr/>
          <p:nvPr/>
        </p:nvSpPr>
        <p:spPr>
          <a:xfrm>
            <a:off x="841248" y="3886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417320" y="3712464"/>
            <a:ext cx="2880360" cy="73152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Perception berbagi compute dengan modul lain</a:t>
            </a:r>
            <a:endParaRPr lang="en-US" sz="1300" dirty="0"/>
          </a:p>
        </p:txBody>
      </p:sp>
      <p:sp>
        <p:nvSpPr>
          <p:cNvPr id="20" name="Text 18"/>
          <p:cNvSpPr/>
          <p:nvPr/>
        </p:nvSpPr>
        <p:spPr>
          <a:xfrm>
            <a:off x="4434840" y="3694176"/>
            <a:ext cx="5029200" cy="7772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Detection berjalan bersama lane detection, tracking, dan planning pada satu SoC, jadi anggaran komputasi per modul kecil</a:t>
            </a:r>
            <a:endParaRPr lang="en-US" sz="1100" dirty="0"/>
          </a:p>
        </p:txBody>
      </p:sp>
      <p:sp>
        <p:nvSpPr>
          <p:cNvPr id="21" name="Text 19"/>
          <p:cNvSpPr/>
          <p:nvPr/>
        </p:nvSpPr>
        <p:spPr>
          <a:xfrm>
            <a:off x="9646920" y="3694176"/>
            <a:ext cx="1783080" cy="777240"/>
          </a:xfrm>
          <a:prstGeom prst="rect">
            <a:avLst/>
          </a:prstGeom>
          <a:noFill/>
          <a:ln/>
        </p:spPr>
        <p:txBody>
          <a:bodyPr wrap="square" lIns="0" tIns="0" rIns="0" bIns="0" rtlCol="0" anchor="ctr"/>
          <a:lstStyle/>
          <a:p>
            <a:pPr indent="0" marL="0">
              <a:buNone/>
            </a:pPr>
            <a:r>
              <a:rPr lang="en-US" sz="950" i="1" dirty="0">
                <a:solidFill>
                  <a:srgbClr val="898781"/>
                </a:solidFill>
                <a:latin typeface="Calibri" pitchFamily="34" charset="0"/>
                <a:ea typeface="Calibri" pitchFamily="34" charset="-122"/>
                <a:cs typeface="Calibri" pitchFamily="34" charset="-120"/>
              </a:rPr>
              <a:t>Guo et al., Electronics 2024</a:t>
            </a:r>
            <a:endParaRPr lang="en-US" sz="950" dirty="0"/>
          </a:p>
        </p:txBody>
      </p:sp>
      <p:sp>
        <p:nvSpPr>
          <p:cNvPr id="22" name="Shape 20"/>
          <p:cNvSpPr/>
          <p:nvPr/>
        </p:nvSpPr>
        <p:spPr>
          <a:xfrm>
            <a:off x="548640" y="4663440"/>
            <a:ext cx="11064240" cy="950976"/>
          </a:xfrm>
          <a:prstGeom prst="roundRect">
            <a:avLst>
              <a:gd name="adj" fmla="val 7692"/>
            </a:avLst>
          </a:prstGeom>
          <a:solidFill>
            <a:srgbClr val="F2F4F8"/>
          </a:solidFill>
          <a:ln w="12700">
            <a:solidFill>
              <a:srgbClr val="F2F4F8"/>
            </a:solidFill>
            <a:prstDash val="solid"/>
          </a:ln>
        </p:spPr>
      </p:sp>
      <p:sp>
        <p:nvSpPr>
          <p:cNvPr id="23" name="Shape 21"/>
          <p:cNvSpPr/>
          <p:nvPr/>
        </p:nvSpPr>
        <p:spPr>
          <a:xfrm>
            <a:off x="841248" y="4946904"/>
            <a:ext cx="384048" cy="384048"/>
          </a:xfrm>
          <a:prstGeom prst="ellipse">
            <a:avLst/>
          </a:prstGeom>
          <a:solidFill>
            <a:srgbClr val="EB6834"/>
          </a:solidFill>
          <a:ln w="12700">
            <a:solidFill>
              <a:srgbClr val="EB6834"/>
            </a:solidFill>
            <a:prstDash val="solid"/>
          </a:ln>
        </p:spPr>
      </p:sp>
      <p:sp>
        <p:nvSpPr>
          <p:cNvPr id="24" name="Text 22"/>
          <p:cNvSpPr/>
          <p:nvPr/>
        </p:nvSpPr>
        <p:spPr>
          <a:xfrm>
            <a:off x="841248" y="49469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1417320" y="4773168"/>
            <a:ext cx="2880360" cy="73152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Tren riset menuju model sangat kecil</a:t>
            </a:r>
            <a:endParaRPr lang="en-US" sz="1300" dirty="0"/>
          </a:p>
        </p:txBody>
      </p:sp>
      <p:sp>
        <p:nvSpPr>
          <p:cNvPr id="26" name="Text 24"/>
          <p:cNvSpPr/>
          <p:nvPr/>
        </p:nvSpPr>
        <p:spPr>
          <a:xfrm>
            <a:off x="4434840" y="4754880"/>
            <a:ext cx="5029200" cy="7772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Sudah ada framework pengenalan perilaku pengemudi dengan hanya 0,42 juta parameter khusus untuk vehicle mounted computing</a:t>
            </a:r>
            <a:endParaRPr lang="en-US" sz="1100" dirty="0"/>
          </a:p>
        </p:txBody>
      </p:sp>
      <p:sp>
        <p:nvSpPr>
          <p:cNvPr id="27" name="Text 25"/>
          <p:cNvSpPr/>
          <p:nvPr/>
        </p:nvSpPr>
        <p:spPr>
          <a:xfrm>
            <a:off x="9646920" y="4754880"/>
            <a:ext cx="1783080" cy="777240"/>
          </a:xfrm>
          <a:prstGeom prst="rect">
            <a:avLst/>
          </a:prstGeom>
          <a:noFill/>
          <a:ln/>
        </p:spPr>
        <p:txBody>
          <a:bodyPr wrap="square" lIns="0" tIns="0" rIns="0" bIns="0" rtlCol="0" anchor="ctr"/>
          <a:lstStyle/>
          <a:p>
            <a:pPr indent="0" marL="0">
              <a:buNone/>
            </a:pPr>
            <a:r>
              <a:rPr lang="en-US" sz="950" i="1" dirty="0">
                <a:solidFill>
                  <a:srgbClr val="898781"/>
                </a:solidFill>
                <a:latin typeface="Calibri" pitchFamily="34" charset="0"/>
                <a:ea typeface="Calibri" pitchFamily="34" charset="-122"/>
                <a:cs typeface="Calibri" pitchFamily="34" charset="-120"/>
              </a:rPr>
              <a:t>Liu et al., IEEE T-ITS 2023</a:t>
            </a:r>
            <a:endParaRPr lang="en-US" sz="950" dirty="0"/>
          </a:p>
        </p:txBody>
      </p:sp>
      <p:sp>
        <p:nvSpPr>
          <p:cNvPr id="28" name="Text 26"/>
          <p:cNvSpPr/>
          <p:nvPr/>
        </p:nvSpPr>
        <p:spPr>
          <a:xfrm>
            <a:off x="548640" y="5806440"/>
            <a:ext cx="11064240" cy="365760"/>
          </a:xfrm>
          <a:prstGeom prst="rect">
            <a:avLst/>
          </a:prstGeom>
          <a:noFill/>
          <a:ln/>
        </p:spPr>
        <p:txBody>
          <a:bodyPr wrap="square" lIns="0" tIns="0" rIns="0" bIns="0" rtlCol="0" anchor="ctr"/>
          <a:lstStyle/>
          <a:p>
            <a:pPr indent="0" marL="0">
              <a:buNone/>
            </a:pPr>
            <a:r>
              <a:rPr lang="en-US" sz="1300" b="1" i="1" dirty="0">
                <a:solidFill>
                  <a:srgbClr val="0E1E3C"/>
                </a:solidFill>
                <a:latin typeface="Calibri" pitchFamily="34" charset="0"/>
                <a:ea typeface="Calibri" pitchFamily="34" charset="-122"/>
                <a:cs typeface="Calibri" pitchFamily="34" charset="-120"/>
              </a:rPr>
              <a:t>Karena itu memperbesar model bukan solusi yang boleh dipilih, walaupun secara akurasi paling mudah.</a:t>
            </a:r>
            <a:endParaRPr lang="en-US" sz="1300" dirty="0"/>
          </a:p>
        </p:txBody>
      </p:sp>
      <p:sp>
        <p:nvSpPr>
          <p:cNvPr id="29" name="Text 27"/>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LATAR BELAKANG 3 DARI 3</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Dilema intinya, dan pembacaan angka yang jujur</a:t>
            </a:r>
            <a:endParaRPr lang="en-US" sz="2700" dirty="0"/>
          </a:p>
        </p:txBody>
      </p:sp>
      <p:pic>
        <p:nvPicPr>
          <p:cNvPr id="4" name="Image 0" descr="/home/claude/kd_consistency/figB_relative_degradation.png">    </p:cNvPr>
          <p:cNvPicPr>
            <a:picLocks noChangeAspect="1"/>
          </p:cNvPicPr>
          <p:nvPr/>
        </p:nvPicPr>
        <p:blipFill>
          <a:blip r:embed="rId1"/>
          <a:stretch>
            <a:fillRect/>
          </a:stretch>
        </p:blipFill>
        <p:spPr>
          <a:xfrm>
            <a:off x="566928" y="1371600"/>
            <a:ext cx="6492240" cy="2990088"/>
          </a:xfrm>
          <a:prstGeom prst="rect">
            <a:avLst/>
          </a:prstGeom>
        </p:spPr>
      </p:pic>
      <p:sp>
        <p:nvSpPr>
          <p:cNvPr id="5" name="Shape 2"/>
          <p:cNvSpPr/>
          <p:nvPr/>
        </p:nvSpPr>
        <p:spPr>
          <a:xfrm>
            <a:off x="7315200" y="1371600"/>
            <a:ext cx="4297680" cy="2990088"/>
          </a:xfrm>
          <a:prstGeom prst="roundRect">
            <a:avLst>
              <a:gd name="adj" fmla="val 2446"/>
            </a:avLst>
          </a:prstGeom>
          <a:solidFill>
            <a:srgbClr val="0E1E3C"/>
          </a:solidFill>
          <a:ln w="12700">
            <a:solidFill>
              <a:srgbClr val="0E1E3C"/>
            </a:solidFill>
            <a:prstDash val="solid"/>
          </a:ln>
        </p:spPr>
      </p:sp>
      <p:sp>
        <p:nvSpPr>
          <p:cNvPr id="6" name="Text 3"/>
          <p:cNvSpPr/>
          <p:nvPr/>
        </p:nvSpPr>
        <p:spPr>
          <a:xfrm>
            <a:off x="7589520" y="1536192"/>
            <a:ext cx="3840480" cy="292608"/>
          </a:xfrm>
          <a:prstGeom prst="rect">
            <a:avLst/>
          </a:prstGeom>
          <a:noFill/>
          <a:ln/>
        </p:spPr>
        <p:txBody>
          <a:bodyPr wrap="square" lIns="0" tIns="0" rIns="0" bIns="0" rtlCol="0" anchor="ctr"/>
          <a:lstStyle/>
          <a:p>
            <a:pPr indent="0" marL="0">
              <a:buNone/>
            </a:pPr>
            <a:r>
              <a:rPr lang="en-US" sz="1150" b="1" spc="100" kern="0" dirty="0">
                <a:solidFill>
                  <a:srgbClr val="EB6834"/>
                </a:solidFill>
                <a:latin typeface="Calibri" pitchFamily="34" charset="0"/>
                <a:ea typeface="Calibri" pitchFamily="34" charset="-122"/>
                <a:cs typeface="Calibri" pitchFamily="34" charset="-120"/>
              </a:rPr>
              <a:t>Cara membacanya</a:t>
            </a:r>
            <a:endParaRPr lang="en-US" sz="1150" dirty="0"/>
          </a:p>
        </p:txBody>
      </p:sp>
      <p:sp>
        <p:nvSpPr>
          <p:cNvPr id="7" name="Text 4"/>
          <p:cNvSpPr/>
          <p:nvPr/>
        </p:nvSpPr>
        <p:spPr>
          <a:xfrm>
            <a:off x="7589520" y="1901952"/>
            <a:ext cx="3794760" cy="2377440"/>
          </a:xfrm>
          <a:prstGeom prst="rect">
            <a:avLst/>
          </a:prstGeom>
          <a:noFill/>
          <a:ln/>
        </p:spPr>
        <p:txBody>
          <a:bodyPr wrap="square" lIns="0" tIns="0" rIns="0" bIns="0" rtlCol="0" anchor="t"/>
          <a:lstStyle/>
          <a:p>
            <a:pPr marL="342900" indent="-342900">
              <a:spcAft>
                <a:spcPts val="900"/>
              </a:spcAft>
              <a:buSzPct val="100000"/>
              <a:buChar char="•"/>
            </a:pPr>
            <a:r>
              <a:rPr lang="en-US" sz="1100" dirty="0">
                <a:solidFill>
                  <a:srgbClr val="FFFFFF"/>
                </a:solidFill>
                <a:latin typeface="Calibri" pitchFamily="34" charset="0"/>
                <a:ea typeface="Calibri" pitchFamily="34" charset="-122"/>
                <a:cs typeface="Calibri" pitchFamily="34" charset="-120"/>
              </a:rPr>
              <a:t>Teacher turun 7,88 persen dan baseline turun 8,65 persen. Selisih keduanya hanya 0,0018 mAP, di bawah simpangan baku antar run kami yaitu 0,0038, jadi keduanya harus dibaca setara</a:t>
            </a:r>
            <a:endParaRPr lang="en-US" sz="1100" dirty="0"/>
          </a:p>
          <a:p>
            <a:pPr marL="342900" indent="-342900">
              <a:spcAft>
                <a:spcPts val="900"/>
              </a:spcAft>
              <a:buSzPct val="100000"/>
              <a:buChar char="•"/>
            </a:pPr>
            <a:r>
              <a:rPr lang="en-US" sz="1100" dirty="0">
                <a:solidFill>
                  <a:srgbClr val="FFFFFF"/>
                </a:solidFill>
                <a:latin typeface="Calibri" pitchFamily="34" charset="0"/>
                <a:ea typeface="Calibri" pitchFamily="34" charset="-122"/>
                <a:cs typeface="Calibri" pitchFamily="34" charset="-120"/>
              </a:rPr>
              <a:t>Artinya memperbesar model tidak membuat model lebih tahan gelap, hanya menaikkan titik awalnya</a:t>
            </a:r>
            <a:endParaRPr lang="en-US" sz="1100" dirty="0"/>
          </a:p>
          <a:p>
            <a:pPr marL="342900" indent="-342900">
              <a:spcAft>
                <a:spcPts val="900"/>
              </a:spcAft>
              <a:buSzPct val="100000"/>
              <a:buChar char="•"/>
            </a:pPr>
            <a:r>
              <a:rPr lang="en-US" sz="1100" dirty="0">
                <a:solidFill>
                  <a:srgbClr val="FFFFFF"/>
                </a:solidFill>
                <a:latin typeface="Calibri" pitchFamily="34" charset="0"/>
                <a:ea typeface="Calibri" pitchFamily="34" charset="-122"/>
                <a:cs typeface="Calibri" pitchFamily="34" charset="-120"/>
              </a:rPr>
              <a:t>Student hasil distilasi turun 4,65 persen, terpisah jelas dari keduanya</a:t>
            </a:r>
            <a:endParaRPr lang="en-US" sz="1100" dirty="0"/>
          </a:p>
        </p:txBody>
      </p:sp>
      <p:sp>
        <p:nvSpPr>
          <p:cNvPr id="8" name="Shape 5"/>
          <p:cNvSpPr/>
          <p:nvPr/>
        </p:nvSpPr>
        <p:spPr>
          <a:xfrm>
            <a:off x="548640" y="4572000"/>
            <a:ext cx="11064240" cy="1371600"/>
          </a:xfrm>
          <a:prstGeom prst="roundRect">
            <a:avLst>
              <a:gd name="adj" fmla="val 5333"/>
            </a:avLst>
          </a:prstGeom>
          <a:solidFill>
            <a:srgbClr val="F2F4F8"/>
          </a:solidFill>
          <a:ln w="12700">
            <a:solidFill>
              <a:srgbClr val="F2F4F8"/>
            </a:solidFill>
            <a:prstDash val="solid"/>
          </a:ln>
        </p:spPr>
      </p:sp>
      <p:sp>
        <p:nvSpPr>
          <p:cNvPr id="9" name="Text 6"/>
          <p:cNvSpPr/>
          <p:nvPr/>
        </p:nvSpPr>
        <p:spPr>
          <a:xfrm>
            <a:off x="868680" y="4736592"/>
            <a:ext cx="10424160" cy="320040"/>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Kenapa kami tidak mengklaim student baseline lebih tahan gelap daripada teacher</a:t>
            </a:r>
            <a:endParaRPr lang="en-US" sz="1400" dirty="0"/>
          </a:p>
        </p:txBody>
      </p:sp>
      <p:sp>
        <p:nvSpPr>
          <p:cNvPr id="10" name="Text 7"/>
          <p:cNvSpPr/>
          <p:nvPr/>
        </p:nvSpPr>
        <p:spPr>
          <a:xfrm>
            <a:off x="868680" y="5102352"/>
            <a:ext cx="10424160" cy="77724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Kalau dilihat selisih absolutnya saja, baseline turun 0,0423 dan teacher turun 0,0441, seolah model kecil lebih tahan. Tetapi kalau dinormalisasi terhadap titik awal masing masing, urutannya justru terbalik dan sesuai intuisi: teacher sedikit lebih tahan. Selisih itu juga lebih kecil daripada variasi antar training run kami. Kesimpulan yang aman: tanpa distilasi, kapasitas model tidak menentukan ketahanan terhadap perubahan cahaya. Yang menentukan adalah cara model itu dilatih.</a:t>
            </a:r>
            <a:endParaRPr lang="en-US" sz="1150" dirty="0"/>
          </a:p>
        </p:txBody>
      </p:sp>
      <p:sp>
        <p:nvSpPr>
          <p:cNvPr id="11" name="Text 8"/>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RELATED WORK 1 DARI 4</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Pendekatan yang sudah ada untuk kondisi low light</a:t>
            </a:r>
            <a:endParaRPr lang="en-US" sz="2700" dirty="0"/>
          </a:p>
        </p:txBody>
      </p:sp>
      <p:sp>
        <p:nvSpPr>
          <p:cNvPr id="4" name="Shape 2"/>
          <p:cNvSpPr/>
          <p:nvPr/>
        </p:nvSpPr>
        <p:spPr>
          <a:xfrm>
            <a:off x="548640" y="1463040"/>
            <a:ext cx="2606040" cy="4114800"/>
          </a:xfrm>
          <a:prstGeom prst="roundRect">
            <a:avLst>
              <a:gd name="adj" fmla="val 2807"/>
            </a:avLst>
          </a:prstGeom>
          <a:solidFill>
            <a:srgbClr val="F2F4F8"/>
          </a:solidFill>
          <a:ln w="12700">
            <a:solidFill>
              <a:srgbClr val="F2F4F8"/>
            </a:solidFill>
            <a:prstDash val="solid"/>
          </a:ln>
        </p:spPr>
      </p:sp>
      <p:sp>
        <p:nvSpPr>
          <p:cNvPr id="5" name="Text 3"/>
          <p:cNvSpPr/>
          <p:nvPr/>
        </p:nvSpPr>
        <p:spPr>
          <a:xfrm>
            <a:off x="777240" y="1627632"/>
            <a:ext cx="2194560" cy="54864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Image enhancement</a:t>
            </a:r>
            <a:endParaRPr lang="en-US" sz="1450" dirty="0"/>
          </a:p>
        </p:txBody>
      </p:sp>
      <p:sp>
        <p:nvSpPr>
          <p:cNvPr id="6" name="Text 4"/>
          <p:cNvSpPr/>
          <p:nvPr/>
        </p:nvSpPr>
        <p:spPr>
          <a:xfrm>
            <a:off x="777240" y="2212848"/>
            <a:ext cx="2194560" cy="8686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Cerahkan citra dulu sebelum masuk detektor. Contoh: LIME, SID, LightImg</a:t>
            </a:r>
            <a:endParaRPr lang="en-US" sz="1050" dirty="0"/>
          </a:p>
        </p:txBody>
      </p:sp>
      <p:sp>
        <p:nvSpPr>
          <p:cNvPr id="7" name="Text 5"/>
          <p:cNvSpPr/>
          <p:nvPr/>
        </p:nvSpPr>
        <p:spPr>
          <a:xfrm>
            <a:off x="777240" y="3154680"/>
            <a:ext cx="2194560" cy="256032"/>
          </a:xfrm>
          <a:prstGeom prst="rect">
            <a:avLst/>
          </a:prstGeom>
          <a:noFill/>
          <a:ln/>
        </p:spPr>
        <p:txBody>
          <a:bodyPr wrap="square" lIns="0" tIns="0" rIns="0" bIns="0" rtlCol="0" anchor="ctr"/>
          <a:lstStyle/>
          <a:p>
            <a:pPr indent="0" marL="0">
              <a:buNone/>
            </a:pPr>
            <a:r>
              <a:rPr lang="en-US" sz="1000" b="1" spc="80" kern="0" dirty="0">
                <a:solidFill>
                  <a:srgbClr val="EB6834"/>
                </a:solidFill>
                <a:latin typeface="Calibri" pitchFamily="34" charset="0"/>
                <a:ea typeface="Calibri" pitchFamily="34" charset="-122"/>
                <a:cs typeface="Calibri" pitchFamily="34" charset="-120"/>
              </a:rPr>
              <a:t>Keterbatasan</a:t>
            </a:r>
            <a:endParaRPr lang="en-US" sz="1000" dirty="0"/>
          </a:p>
        </p:txBody>
      </p:sp>
      <p:sp>
        <p:nvSpPr>
          <p:cNvPr id="8" name="Text 6"/>
          <p:cNvSpPr/>
          <p:nvPr/>
        </p:nvSpPr>
        <p:spPr>
          <a:xfrm>
            <a:off x="777240" y="3429000"/>
            <a:ext cx="2194560" cy="118872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Menambah jaringan di depan detektor sehingga latency naik, dan bisa memunculkan domain mismatch baru</a:t>
            </a:r>
            <a:endParaRPr lang="en-US" sz="1050" dirty="0"/>
          </a:p>
        </p:txBody>
      </p:sp>
      <p:sp>
        <p:nvSpPr>
          <p:cNvPr id="9" name="Text 7"/>
          <p:cNvSpPr/>
          <p:nvPr/>
        </p:nvSpPr>
        <p:spPr>
          <a:xfrm>
            <a:off x="777240" y="5029200"/>
            <a:ext cx="2194560" cy="45720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Li et al., Neurocomputing 2022</a:t>
            </a:r>
            <a:endParaRPr lang="en-US" sz="900" dirty="0"/>
          </a:p>
        </p:txBody>
      </p:sp>
      <p:sp>
        <p:nvSpPr>
          <p:cNvPr id="10" name="Shape 8"/>
          <p:cNvSpPr/>
          <p:nvPr/>
        </p:nvSpPr>
        <p:spPr>
          <a:xfrm>
            <a:off x="3374136" y="1463040"/>
            <a:ext cx="2606040" cy="4114800"/>
          </a:xfrm>
          <a:prstGeom prst="roundRect">
            <a:avLst>
              <a:gd name="adj" fmla="val 2807"/>
            </a:avLst>
          </a:prstGeom>
          <a:solidFill>
            <a:srgbClr val="F2F4F8"/>
          </a:solidFill>
          <a:ln w="12700">
            <a:solidFill>
              <a:srgbClr val="F2F4F8"/>
            </a:solidFill>
            <a:prstDash val="solid"/>
          </a:ln>
        </p:spPr>
      </p:sp>
      <p:sp>
        <p:nvSpPr>
          <p:cNvPr id="11" name="Text 9"/>
          <p:cNvSpPr/>
          <p:nvPr/>
        </p:nvSpPr>
        <p:spPr>
          <a:xfrm>
            <a:off x="3602736" y="1627632"/>
            <a:ext cx="2194560" cy="54864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Domain adaptation</a:t>
            </a:r>
            <a:endParaRPr lang="en-US" sz="1450" dirty="0"/>
          </a:p>
        </p:txBody>
      </p:sp>
      <p:sp>
        <p:nvSpPr>
          <p:cNvPr id="12" name="Text 10"/>
          <p:cNvSpPr/>
          <p:nvPr/>
        </p:nvSpPr>
        <p:spPr>
          <a:xfrm>
            <a:off x="3602736" y="2212848"/>
            <a:ext cx="2194560" cy="8686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Petakan domain malam ke domain terang dengan GAN atau UDA. Contoh: RMD-Net, NUDN, DAINet</a:t>
            </a:r>
            <a:endParaRPr lang="en-US" sz="1050" dirty="0"/>
          </a:p>
        </p:txBody>
      </p:sp>
      <p:sp>
        <p:nvSpPr>
          <p:cNvPr id="13" name="Text 11"/>
          <p:cNvSpPr/>
          <p:nvPr/>
        </p:nvSpPr>
        <p:spPr>
          <a:xfrm>
            <a:off x="3602736" y="3154680"/>
            <a:ext cx="2194560" cy="256032"/>
          </a:xfrm>
          <a:prstGeom prst="rect">
            <a:avLst/>
          </a:prstGeom>
          <a:noFill/>
          <a:ln/>
        </p:spPr>
        <p:txBody>
          <a:bodyPr wrap="square" lIns="0" tIns="0" rIns="0" bIns="0" rtlCol="0" anchor="ctr"/>
          <a:lstStyle/>
          <a:p>
            <a:pPr indent="0" marL="0">
              <a:buNone/>
            </a:pPr>
            <a:r>
              <a:rPr lang="en-US" sz="1000" b="1" spc="80" kern="0" dirty="0">
                <a:solidFill>
                  <a:srgbClr val="EB6834"/>
                </a:solidFill>
                <a:latin typeface="Calibri" pitchFamily="34" charset="0"/>
                <a:ea typeface="Calibri" pitchFamily="34" charset="-122"/>
                <a:cs typeface="Calibri" pitchFamily="34" charset="-120"/>
              </a:rPr>
              <a:t>Keterbatasan</a:t>
            </a:r>
            <a:endParaRPr lang="en-US" sz="1000" dirty="0"/>
          </a:p>
        </p:txBody>
      </p:sp>
      <p:sp>
        <p:nvSpPr>
          <p:cNvPr id="14" name="Text 12"/>
          <p:cNvSpPr/>
          <p:nvPr/>
        </p:nvSpPr>
        <p:spPr>
          <a:xfrm>
            <a:off x="3602736" y="3429000"/>
            <a:ext cx="2194560" cy="118872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Butuh training tambahan yang berat, dan sebagian sub network ikut terbawa ke deployment</a:t>
            </a:r>
            <a:endParaRPr lang="en-US" sz="1050" dirty="0"/>
          </a:p>
        </p:txBody>
      </p:sp>
      <p:sp>
        <p:nvSpPr>
          <p:cNvPr id="15" name="Text 13"/>
          <p:cNvSpPr/>
          <p:nvPr/>
        </p:nvSpPr>
        <p:spPr>
          <a:xfrm>
            <a:off x="3602736" y="5029200"/>
            <a:ext cx="2194560" cy="45720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Zhang dan Lee, Applied Sciences 2024; Du et al., CVPR 2024</a:t>
            </a:r>
            <a:endParaRPr lang="en-US" sz="900" dirty="0"/>
          </a:p>
        </p:txBody>
      </p:sp>
      <p:sp>
        <p:nvSpPr>
          <p:cNvPr id="16" name="Shape 14"/>
          <p:cNvSpPr/>
          <p:nvPr/>
        </p:nvSpPr>
        <p:spPr>
          <a:xfrm>
            <a:off x="6199632" y="1463040"/>
            <a:ext cx="2606040" cy="4114800"/>
          </a:xfrm>
          <a:prstGeom prst="roundRect">
            <a:avLst>
              <a:gd name="adj" fmla="val 2807"/>
            </a:avLst>
          </a:prstGeom>
          <a:solidFill>
            <a:srgbClr val="F2F4F8"/>
          </a:solidFill>
          <a:ln w="12700">
            <a:solidFill>
              <a:srgbClr val="F2F4F8"/>
            </a:solidFill>
            <a:prstDash val="solid"/>
          </a:ln>
        </p:spPr>
      </p:sp>
      <p:sp>
        <p:nvSpPr>
          <p:cNvPr id="17" name="Text 15"/>
          <p:cNvSpPr/>
          <p:nvPr/>
        </p:nvSpPr>
        <p:spPr>
          <a:xfrm>
            <a:off x="6428232" y="1627632"/>
            <a:ext cx="2194560" cy="54864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Perbesar kapasitas model</a:t>
            </a:r>
            <a:endParaRPr lang="en-US" sz="1450" dirty="0"/>
          </a:p>
        </p:txBody>
      </p:sp>
      <p:sp>
        <p:nvSpPr>
          <p:cNvPr id="18" name="Text 16"/>
          <p:cNvSpPr/>
          <p:nvPr/>
        </p:nvSpPr>
        <p:spPr>
          <a:xfrm>
            <a:off x="6428232" y="2212848"/>
            <a:ext cx="2194560" cy="8686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Pakai detektor besar atau berbasis transformer</a:t>
            </a:r>
            <a:endParaRPr lang="en-US" sz="1050" dirty="0"/>
          </a:p>
        </p:txBody>
      </p:sp>
      <p:sp>
        <p:nvSpPr>
          <p:cNvPr id="19" name="Text 17"/>
          <p:cNvSpPr/>
          <p:nvPr/>
        </p:nvSpPr>
        <p:spPr>
          <a:xfrm>
            <a:off x="6428232" y="3154680"/>
            <a:ext cx="2194560" cy="256032"/>
          </a:xfrm>
          <a:prstGeom prst="rect">
            <a:avLst/>
          </a:prstGeom>
          <a:noFill/>
          <a:ln/>
        </p:spPr>
        <p:txBody>
          <a:bodyPr wrap="square" lIns="0" tIns="0" rIns="0" bIns="0" rtlCol="0" anchor="ctr"/>
          <a:lstStyle/>
          <a:p>
            <a:pPr indent="0" marL="0">
              <a:buNone/>
            </a:pPr>
            <a:r>
              <a:rPr lang="en-US" sz="1000" b="1" spc="80" kern="0" dirty="0">
                <a:solidFill>
                  <a:srgbClr val="EB6834"/>
                </a:solidFill>
                <a:latin typeface="Calibri" pitchFamily="34" charset="0"/>
                <a:ea typeface="Calibri" pitchFamily="34" charset="-122"/>
                <a:cs typeface="Calibri" pitchFamily="34" charset="-120"/>
              </a:rPr>
              <a:t>Keterbatasan</a:t>
            </a:r>
            <a:endParaRPr lang="en-US" sz="1000" dirty="0"/>
          </a:p>
        </p:txBody>
      </p:sp>
      <p:sp>
        <p:nvSpPr>
          <p:cNvPr id="20" name="Text 18"/>
          <p:cNvSpPr/>
          <p:nvPr/>
        </p:nvSpPr>
        <p:spPr>
          <a:xfrm>
            <a:off x="6428232" y="3429000"/>
            <a:ext cx="2194560" cy="118872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Tidak muat di edge device, dan slide sebelumnya menunjukkan gap siang malam tetap tidak hilang</a:t>
            </a:r>
            <a:endParaRPr lang="en-US" sz="1050" dirty="0"/>
          </a:p>
        </p:txBody>
      </p:sp>
      <p:sp>
        <p:nvSpPr>
          <p:cNvPr id="21" name="Text 19"/>
          <p:cNvSpPr/>
          <p:nvPr/>
        </p:nvSpPr>
        <p:spPr>
          <a:xfrm>
            <a:off x="6428232" y="5029200"/>
            <a:ext cx="2194560" cy="45720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Rossi et al., IEEE IV 2025</a:t>
            </a:r>
            <a:endParaRPr lang="en-US" sz="900" dirty="0"/>
          </a:p>
        </p:txBody>
      </p:sp>
      <p:sp>
        <p:nvSpPr>
          <p:cNvPr id="22" name="Shape 20"/>
          <p:cNvSpPr/>
          <p:nvPr/>
        </p:nvSpPr>
        <p:spPr>
          <a:xfrm>
            <a:off x="9025128" y="1463040"/>
            <a:ext cx="2606040" cy="4114800"/>
          </a:xfrm>
          <a:prstGeom prst="roundRect">
            <a:avLst>
              <a:gd name="adj" fmla="val 2807"/>
            </a:avLst>
          </a:prstGeom>
          <a:solidFill>
            <a:srgbClr val="F2F4F8"/>
          </a:solidFill>
          <a:ln w="12700">
            <a:solidFill>
              <a:srgbClr val="F2F4F8"/>
            </a:solidFill>
            <a:prstDash val="solid"/>
          </a:ln>
        </p:spPr>
      </p:sp>
      <p:sp>
        <p:nvSpPr>
          <p:cNvPr id="23" name="Text 21"/>
          <p:cNvSpPr/>
          <p:nvPr/>
        </p:nvSpPr>
        <p:spPr>
          <a:xfrm>
            <a:off x="9253728" y="1627632"/>
            <a:ext cx="2194560" cy="54864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Kompresi model</a:t>
            </a:r>
            <a:endParaRPr lang="en-US" sz="1450" dirty="0"/>
          </a:p>
        </p:txBody>
      </p:sp>
      <p:sp>
        <p:nvSpPr>
          <p:cNvPr id="24" name="Text 22"/>
          <p:cNvSpPr/>
          <p:nvPr/>
        </p:nvSpPr>
        <p:spPr>
          <a:xfrm>
            <a:off x="9253728" y="2212848"/>
            <a:ext cx="2194560" cy="8686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Pruning dan kuantisasi untuk mengecilkan model yang sudah ada</a:t>
            </a:r>
            <a:endParaRPr lang="en-US" sz="1050" dirty="0"/>
          </a:p>
        </p:txBody>
      </p:sp>
      <p:sp>
        <p:nvSpPr>
          <p:cNvPr id="25" name="Text 23"/>
          <p:cNvSpPr/>
          <p:nvPr/>
        </p:nvSpPr>
        <p:spPr>
          <a:xfrm>
            <a:off x="9253728" y="3154680"/>
            <a:ext cx="2194560" cy="256032"/>
          </a:xfrm>
          <a:prstGeom prst="rect">
            <a:avLst/>
          </a:prstGeom>
          <a:noFill/>
          <a:ln/>
        </p:spPr>
        <p:txBody>
          <a:bodyPr wrap="square" lIns="0" tIns="0" rIns="0" bIns="0" rtlCol="0" anchor="ctr"/>
          <a:lstStyle/>
          <a:p>
            <a:pPr indent="0" marL="0">
              <a:buNone/>
            </a:pPr>
            <a:r>
              <a:rPr lang="en-US" sz="1000" b="1" spc="80" kern="0" dirty="0">
                <a:solidFill>
                  <a:srgbClr val="EB6834"/>
                </a:solidFill>
                <a:latin typeface="Calibri" pitchFamily="34" charset="0"/>
                <a:ea typeface="Calibri" pitchFamily="34" charset="-122"/>
                <a:cs typeface="Calibri" pitchFamily="34" charset="-120"/>
              </a:rPr>
              <a:t>Keterbatasan</a:t>
            </a:r>
            <a:endParaRPr lang="en-US" sz="1000" dirty="0"/>
          </a:p>
        </p:txBody>
      </p:sp>
      <p:sp>
        <p:nvSpPr>
          <p:cNvPr id="26" name="Text 24"/>
          <p:cNvSpPr/>
          <p:nvPr/>
        </p:nvSpPr>
        <p:spPr>
          <a:xfrm>
            <a:off x="9253728" y="3429000"/>
            <a:ext cx="2194560" cy="118872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Menurunkan akurasi, terutama pada kondisi sulit. KD justru dipakai untuk memulihkannya</a:t>
            </a:r>
            <a:endParaRPr lang="en-US" sz="1050" dirty="0"/>
          </a:p>
        </p:txBody>
      </p:sp>
      <p:sp>
        <p:nvSpPr>
          <p:cNvPr id="27" name="Text 25"/>
          <p:cNvSpPr/>
          <p:nvPr/>
        </p:nvSpPr>
        <p:spPr>
          <a:xfrm>
            <a:off x="9253728" y="5029200"/>
            <a:ext cx="2194560" cy="45720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Wu et al., CVPR 2025; Sun et al., 2025</a:t>
            </a:r>
            <a:endParaRPr lang="en-US" sz="900" dirty="0"/>
          </a:p>
        </p:txBody>
      </p:sp>
      <p:sp>
        <p:nvSpPr>
          <p:cNvPr id="28" name="Shape 26"/>
          <p:cNvSpPr/>
          <p:nvPr/>
        </p:nvSpPr>
        <p:spPr>
          <a:xfrm>
            <a:off x="548640" y="5715000"/>
            <a:ext cx="11064240" cy="658368"/>
          </a:xfrm>
          <a:prstGeom prst="roundRect">
            <a:avLst>
              <a:gd name="adj" fmla="val 11111"/>
            </a:avLst>
          </a:prstGeom>
          <a:solidFill>
            <a:srgbClr val="0E1E3C"/>
          </a:solidFill>
          <a:ln w="12700">
            <a:solidFill>
              <a:srgbClr val="0E1E3C"/>
            </a:solidFill>
            <a:prstDash val="solid"/>
          </a:ln>
        </p:spPr>
      </p:sp>
      <p:sp>
        <p:nvSpPr>
          <p:cNvPr id="29" name="Text 27"/>
          <p:cNvSpPr/>
          <p:nvPr/>
        </p:nvSpPr>
        <p:spPr>
          <a:xfrm>
            <a:off x="868680" y="5852160"/>
            <a:ext cx="1042416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Tiga dari empat jalur ini membayar ongkosnya saat inference. Untuk kendaraan, itu ongkos yang paling mahal.</a:t>
            </a:r>
            <a:endParaRPr lang="en-US" sz="1300" dirty="0"/>
          </a:p>
        </p:txBody>
      </p:sp>
      <p:sp>
        <p:nvSpPr>
          <p:cNvPr id="30" name="Text 28"/>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RELATED WORK 2 DARI 4</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Peta metode Knowledge Distillation untuk object detection</a:t>
            </a:r>
            <a:endParaRPr lang="en-US" sz="2700" dirty="0"/>
          </a:p>
        </p:txBody>
      </p:sp>
      <p:sp>
        <p:nvSpPr>
          <p:cNvPr id="4" name="Text 2"/>
          <p:cNvSpPr/>
          <p:nvPr/>
        </p:nvSpPr>
        <p:spPr>
          <a:xfrm>
            <a:off x="548640" y="1371600"/>
            <a:ext cx="11064240" cy="292608"/>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Literatur membagi KD untuk detektor ke dalam empat keluarga besar [Li et al., IEEE TPAMI 2023; Cheng et al., IEEE Access 2025]</a:t>
            </a:r>
            <a:endParaRPr lang="en-US" sz="1200" dirty="0"/>
          </a:p>
        </p:txBody>
      </p:sp>
      <p:sp>
        <p:nvSpPr>
          <p:cNvPr id="5" name="Shape 3"/>
          <p:cNvSpPr/>
          <p:nvPr/>
        </p:nvSpPr>
        <p:spPr>
          <a:xfrm>
            <a:off x="548640" y="1783080"/>
            <a:ext cx="11064240" cy="987552"/>
          </a:xfrm>
          <a:prstGeom prst="roundRect">
            <a:avLst>
              <a:gd name="adj" fmla="val 7407"/>
            </a:avLst>
          </a:prstGeom>
          <a:solidFill>
            <a:srgbClr val="EEF3FB"/>
          </a:solidFill>
          <a:ln w="12700">
            <a:solidFill>
              <a:srgbClr val="EEF3FB"/>
            </a:solidFill>
            <a:prstDash val="solid"/>
          </a:ln>
        </p:spPr>
      </p:sp>
      <p:sp>
        <p:nvSpPr>
          <p:cNvPr id="6" name="Text 4"/>
          <p:cNvSpPr/>
          <p:nvPr/>
        </p:nvSpPr>
        <p:spPr>
          <a:xfrm>
            <a:off x="868680" y="1892808"/>
            <a:ext cx="2606040" cy="7772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Logit atau response based</a:t>
            </a:r>
            <a:endParaRPr lang="en-US" sz="1300" dirty="0"/>
          </a:p>
        </p:txBody>
      </p:sp>
      <p:sp>
        <p:nvSpPr>
          <p:cNvPr id="7" name="Text 5"/>
          <p:cNvSpPr/>
          <p:nvPr/>
        </p:nvSpPr>
        <p:spPr>
          <a:xfrm>
            <a:off x="3611880" y="1874520"/>
            <a:ext cx="4480560" cy="804672"/>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Student meniru distribusi probabilitas kelas dari teacher, bukan hanya label benar salah. Informasi antar kelas yang mirip ikut tertransfer</a:t>
            </a:r>
            <a:endParaRPr lang="en-US" sz="1080" dirty="0"/>
          </a:p>
        </p:txBody>
      </p:sp>
      <p:sp>
        <p:nvSpPr>
          <p:cNvPr id="8" name="Text 6"/>
          <p:cNvSpPr/>
          <p:nvPr/>
        </p:nvSpPr>
        <p:spPr>
          <a:xfrm>
            <a:off x="8229600" y="1874520"/>
            <a:ext cx="2331720" cy="80467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Hinton et al., 2015</a:t>
            </a:r>
            <a:endParaRPr lang="en-US" sz="900" dirty="0"/>
          </a:p>
          <a:p>
            <a:pPr indent="0" marL="0">
              <a:buNone/>
            </a:pPr>
            <a:r>
              <a:rPr lang="en-US" sz="900" i="1" dirty="0">
                <a:solidFill>
                  <a:srgbClr val="898781"/>
                </a:solidFill>
                <a:latin typeface="Calibri" pitchFamily="34" charset="0"/>
                <a:ea typeface="Calibri" pitchFamily="34" charset="-122"/>
                <a:cs typeface="Calibri" pitchFamily="34" charset="-120"/>
              </a:rPr>
              <a:t>Zhao et al., CVPR 2022 (DKD)</a:t>
            </a:r>
            <a:endParaRPr lang="en-US" sz="900" dirty="0"/>
          </a:p>
          <a:p>
            <a:pPr indent="0" marL="0">
              <a:buNone/>
            </a:pPr>
            <a:r>
              <a:rPr lang="en-US" sz="900" i="1" dirty="0">
                <a:solidFill>
                  <a:srgbClr val="898781"/>
                </a:solidFill>
                <a:latin typeface="Calibri" pitchFamily="34" charset="0"/>
                <a:ea typeface="Calibri" pitchFamily="34" charset="-122"/>
                <a:cs typeface="Calibri" pitchFamily="34" charset="-120"/>
              </a:rPr>
              <a:t>Wang et al., CVPR 2023 (CrossKD)</a:t>
            </a:r>
            <a:endParaRPr lang="en-US" sz="900" dirty="0"/>
          </a:p>
        </p:txBody>
      </p:sp>
      <p:sp>
        <p:nvSpPr>
          <p:cNvPr id="9" name="Shape 7"/>
          <p:cNvSpPr/>
          <p:nvPr/>
        </p:nvSpPr>
        <p:spPr>
          <a:xfrm>
            <a:off x="10744200" y="2093976"/>
            <a:ext cx="658368" cy="365760"/>
          </a:xfrm>
          <a:prstGeom prst="roundRect">
            <a:avLst>
              <a:gd name="adj" fmla="val 15000"/>
            </a:avLst>
          </a:prstGeom>
          <a:solidFill>
            <a:srgbClr val="1BAF7A"/>
          </a:solidFill>
          <a:ln w="12700">
            <a:solidFill>
              <a:srgbClr val="1BAF7A"/>
            </a:solidFill>
            <a:prstDash val="solid"/>
          </a:ln>
        </p:spPr>
      </p:sp>
      <p:sp>
        <p:nvSpPr>
          <p:cNvPr id="10" name="Text 8"/>
          <p:cNvSpPr/>
          <p:nvPr/>
        </p:nvSpPr>
        <p:spPr>
          <a:xfrm>
            <a:off x="10744200" y="2093976"/>
            <a:ext cx="658368"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PAKAI</a:t>
            </a:r>
            <a:endParaRPr lang="en-US" sz="900" dirty="0"/>
          </a:p>
        </p:txBody>
      </p:sp>
      <p:sp>
        <p:nvSpPr>
          <p:cNvPr id="11" name="Shape 9"/>
          <p:cNvSpPr/>
          <p:nvPr/>
        </p:nvSpPr>
        <p:spPr>
          <a:xfrm>
            <a:off x="548640" y="2880360"/>
            <a:ext cx="11064240" cy="987552"/>
          </a:xfrm>
          <a:prstGeom prst="roundRect">
            <a:avLst>
              <a:gd name="adj" fmla="val 7407"/>
            </a:avLst>
          </a:prstGeom>
          <a:solidFill>
            <a:srgbClr val="EEF3FB"/>
          </a:solidFill>
          <a:ln w="12700">
            <a:solidFill>
              <a:srgbClr val="EEF3FB"/>
            </a:solidFill>
            <a:prstDash val="solid"/>
          </a:ln>
        </p:spPr>
      </p:sp>
      <p:sp>
        <p:nvSpPr>
          <p:cNvPr id="12" name="Text 10"/>
          <p:cNvSpPr/>
          <p:nvPr/>
        </p:nvSpPr>
        <p:spPr>
          <a:xfrm>
            <a:off x="868680" y="2990088"/>
            <a:ext cx="2606040" cy="7772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Feature based</a:t>
            </a:r>
            <a:endParaRPr lang="en-US" sz="1300" dirty="0"/>
          </a:p>
        </p:txBody>
      </p:sp>
      <p:sp>
        <p:nvSpPr>
          <p:cNvPr id="13" name="Text 11"/>
          <p:cNvSpPr/>
          <p:nvPr/>
        </p:nvSpPr>
        <p:spPr>
          <a:xfrm>
            <a:off x="3611880" y="2971800"/>
            <a:ext cx="4480560" cy="804672"/>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Student meniru representasi antara di dalam backbone atau neck, biasanya lewat MSE atau attention map</a:t>
            </a:r>
            <a:endParaRPr lang="en-US" sz="1080" dirty="0"/>
          </a:p>
        </p:txBody>
      </p:sp>
      <p:sp>
        <p:nvSpPr>
          <p:cNvPr id="14" name="Text 12"/>
          <p:cNvSpPr/>
          <p:nvPr/>
        </p:nvSpPr>
        <p:spPr>
          <a:xfrm>
            <a:off x="8229600" y="2971800"/>
            <a:ext cx="2331720" cy="80467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Yang et al., CVPR 2022 (FGD)</a:t>
            </a:r>
            <a:endParaRPr lang="en-US" sz="900" dirty="0"/>
          </a:p>
          <a:p>
            <a:pPr indent="0" marL="0">
              <a:buNone/>
            </a:pPr>
            <a:r>
              <a:rPr lang="en-US" sz="900" i="1" dirty="0">
                <a:solidFill>
                  <a:srgbClr val="898781"/>
                </a:solidFill>
                <a:latin typeface="Calibri" pitchFamily="34" charset="0"/>
                <a:ea typeface="Calibri" pitchFamily="34" charset="-122"/>
                <a:cs typeface="Calibri" pitchFamily="34" charset="-120"/>
              </a:rPr>
              <a:t>Zhang dan Ma, TPAMI 2023</a:t>
            </a:r>
            <a:endParaRPr lang="en-US" sz="900" dirty="0"/>
          </a:p>
          <a:p>
            <a:pPr indent="0" marL="0">
              <a:buNone/>
            </a:pPr>
            <a:r>
              <a:rPr lang="en-US" sz="900" i="1" dirty="0">
                <a:solidFill>
                  <a:srgbClr val="898781"/>
                </a:solidFill>
                <a:latin typeface="Calibri" pitchFamily="34" charset="0"/>
                <a:ea typeface="Calibri" pitchFamily="34" charset="-122"/>
                <a:cs typeface="Calibri" pitchFamily="34" charset="-120"/>
              </a:rPr>
              <a:t>Shu et al., ICCV 2021 (CWD)</a:t>
            </a:r>
            <a:endParaRPr lang="en-US" sz="900" dirty="0"/>
          </a:p>
        </p:txBody>
      </p:sp>
      <p:sp>
        <p:nvSpPr>
          <p:cNvPr id="15" name="Shape 13"/>
          <p:cNvSpPr/>
          <p:nvPr/>
        </p:nvSpPr>
        <p:spPr>
          <a:xfrm>
            <a:off x="10744200" y="3191256"/>
            <a:ext cx="658368" cy="365760"/>
          </a:xfrm>
          <a:prstGeom prst="roundRect">
            <a:avLst>
              <a:gd name="adj" fmla="val 15000"/>
            </a:avLst>
          </a:prstGeom>
          <a:solidFill>
            <a:srgbClr val="1BAF7A"/>
          </a:solidFill>
          <a:ln w="12700">
            <a:solidFill>
              <a:srgbClr val="1BAF7A"/>
            </a:solidFill>
            <a:prstDash val="solid"/>
          </a:ln>
        </p:spPr>
      </p:sp>
      <p:sp>
        <p:nvSpPr>
          <p:cNvPr id="16" name="Text 14"/>
          <p:cNvSpPr/>
          <p:nvPr/>
        </p:nvSpPr>
        <p:spPr>
          <a:xfrm>
            <a:off x="10744200" y="3191256"/>
            <a:ext cx="658368"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PAKAI</a:t>
            </a:r>
            <a:endParaRPr lang="en-US" sz="900" dirty="0"/>
          </a:p>
        </p:txBody>
      </p:sp>
      <p:sp>
        <p:nvSpPr>
          <p:cNvPr id="17" name="Shape 15"/>
          <p:cNvSpPr/>
          <p:nvPr/>
        </p:nvSpPr>
        <p:spPr>
          <a:xfrm>
            <a:off x="548640" y="3977640"/>
            <a:ext cx="11064240" cy="987552"/>
          </a:xfrm>
          <a:prstGeom prst="roundRect">
            <a:avLst>
              <a:gd name="adj" fmla="val 7407"/>
            </a:avLst>
          </a:prstGeom>
          <a:solidFill>
            <a:srgbClr val="EEF3FB"/>
          </a:solidFill>
          <a:ln w="12700">
            <a:solidFill>
              <a:srgbClr val="EEF3FB"/>
            </a:solidFill>
            <a:prstDash val="solid"/>
          </a:ln>
        </p:spPr>
      </p:sp>
      <p:sp>
        <p:nvSpPr>
          <p:cNvPr id="18" name="Text 16"/>
          <p:cNvSpPr/>
          <p:nvPr/>
        </p:nvSpPr>
        <p:spPr>
          <a:xfrm>
            <a:off x="868680" y="4087368"/>
            <a:ext cx="2606040" cy="7772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Localization distillation</a:t>
            </a:r>
            <a:endParaRPr lang="en-US" sz="1300" dirty="0"/>
          </a:p>
        </p:txBody>
      </p:sp>
      <p:sp>
        <p:nvSpPr>
          <p:cNvPr id="19" name="Text 17"/>
          <p:cNvSpPr/>
          <p:nvPr/>
        </p:nvSpPr>
        <p:spPr>
          <a:xfrm>
            <a:off x="3611880" y="4069080"/>
            <a:ext cx="4480560" cy="804672"/>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Bounding box diubah menjadi distribusi probabilitas, lalu distribusinya yang ditransfer. Cocok saat tepi objek ambigu</a:t>
            </a:r>
            <a:endParaRPr lang="en-US" sz="1080" dirty="0"/>
          </a:p>
        </p:txBody>
      </p:sp>
      <p:sp>
        <p:nvSpPr>
          <p:cNvPr id="20" name="Text 18"/>
          <p:cNvSpPr/>
          <p:nvPr/>
        </p:nvSpPr>
        <p:spPr>
          <a:xfrm>
            <a:off x="8229600" y="4069080"/>
            <a:ext cx="2331720" cy="80467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Zheng et al., CVPR 2022 dan TPAMI 2023 (LD)</a:t>
            </a:r>
            <a:endParaRPr lang="en-US" sz="900" dirty="0"/>
          </a:p>
        </p:txBody>
      </p:sp>
      <p:sp>
        <p:nvSpPr>
          <p:cNvPr id="21" name="Shape 19"/>
          <p:cNvSpPr/>
          <p:nvPr/>
        </p:nvSpPr>
        <p:spPr>
          <a:xfrm>
            <a:off x="10744200" y="4288536"/>
            <a:ext cx="658368" cy="365760"/>
          </a:xfrm>
          <a:prstGeom prst="roundRect">
            <a:avLst>
              <a:gd name="adj" fmla="val 15000"/>
            </a:avLst>
          </a:prstGeom>
          <a:solidFill>
            <a:srgbClr val="1BAF7A"/>
          </a:solidFill>
          <a:ln w="12700">
            <a:solidFill>
              <a:srgbClr val="1BAF7A"/>
            </a:solidFill>
            <a:prstDash val="solid"/>
          </a:ln>
        </p:spPr>
      </p:sp>
      <p:sp>
        <p:nvSpPr>
          <p:cNvPr id="22" name="Text 20"/>
          <p:cNvSpPr/>
          <p:nvPr/>
        </p:nvSpPr>
        <p:spPr>
          <a:xfrm>
            <a:off x="10744200" y="4288536"/>
            <a:ext cx="658368"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PAKAI</a:t>
            </a:r>
            <a:endParaRPr lang="en-US" sz="900" dirty="0"/>
          </a:p>
        </p:txBody>
      </p:sp>
      <p:sp>
        <p:nvSpPr>
          <p:cNvPr id="23" name="Shape 21"/>
          <p:cNvSpPr/>
          <p:nvPr/>
        </p:nvSpPr>
        <p:spPr>
          <a:xfrm>
            <a:off x="548640" y="5074920"/>
            <a:ext cx="11064240" cy="987552"/>
          </a:xfrm>
          <a:prstGeom prst="roundRect">
            <a:avLst>
              <a:gd name="adj" fmla="val 7407"/>
            </a:avLst>
          </a:prstGeom>
          <a:solidFill>
            <a:srgbClr val="EEF3FB"/>
          </a:solidFill>
          <a:ln w="12700">
            <a:solidFill>
              <a:srgbClr val="EEF3FB"/>
            </a:solidFill>
            <a:prstDash val="solid"/>
          </a:ln>
        </p:spPr>
      </p:sp>
      <p:sp>
        <p:nvSpPr>
          <p:cNvPr id="24" name="Text 22"/>
          <p:cNvSpPr/>
          <p:nvPr/>
        </p:nvSpPr>
        <p:spPr>
          <a:xfrm>
            <a:off x="868680" y="5184648"/>
            <a:ext cx="2606040" cy="7772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Instance atau region weighting</a:t>
            </a:r>
            <a:endParaRPr lang="en-US" sz="1300" dirty="0"/>
          </a:p>
        </p:txBody>
      </p:sp>
      <p:sp>
        <p:nvSpPr>
          <p:cNvPr id="25" name="Text 23"/>
          <p:cNvSpPr/>
          <p:nvPr/>
        </p:nvSpPr>
        <p:spPr>
          <a:xfrm>
            <a:off x="3611880" y="5166360"/>
            <a:ext cx="4480560" cy="804672"/>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Tidak semua anchor sama pentingnya. Bobot distilasi disesuaikan berdasarkan kepentingan atau keyakinan</a:t>
            </a:r>
            <a:endParaRPr lang="en-US" sz="1080" dirty="0"/>
          </a:p>
        </p:txBody>
      </p:sp>
      <p:sp>
        <p:nvSpPr>
          <p:cNvPr id="26" name="Text 24"/>
          <p:cNvSpPr/>
          <p:nvPr/>
        </p:nvSpPr>
        <p:spPr>
          <a:xfrm>
            <a:off x="8229600" y="5166360"/>
            <a:ext cx="2331720" cy="80467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Lan dan Tian, ICPR 2022 (AID)</a:t>
            </a:r>
            <a:endParaRPr lang="en-US" sz="900" dirty="0"/>
          </a:p>
          <a:p>
            <a:pPr indent="0" marL="0">
              <a:buNone/>
            </a:pPr>
            <a:r>
              <a:rPr lang="en-US" sz="900" i="1" dirty="0">
                <a:solidFill>
                  <a:srgbClr val="898781"/>
                </a:solidFill>
                <a:latin typeface="Calibri" pitchFamily="34" charset="0"/>
                <a:ea typeface="Calibri" pitchFamily="34" charset="-122"/>
                <a:cs typeface="Calibri" pitchFamily="34" charset="-120"/>
              </a:rPr>
              <a:t>Lan dan Tian, WACV 2024 (GKD)</a:t>
            </a:r>
            <a:endParaRPr lang="en-US" sz="900" dirty="0"/>
          </a:p>
        </p:txBody>
      </p:sp>
      <p:sp>
        <p:nvSpPr>
          <p:cNvPr id="27" name="Shape 25"/>
          <p:cNvSpPr/>
          <p:nvPr/>
        </p:nvSpPr>
        <p:spPr>
          <a:xfrm>
            <a:off x="10744200" y="5385816"/>
            <a:ext cx="658368" cy="365760"/>
          </a:xfrm>
          <a:prstGeom prst="roundRect">
            <a:avLst>
              <a:gd name="adj" fmla="val 15000"/>
            </a:avLst>
          </a:prstGeom>
          <a:solidFill>
            <a:srgbClr val="1BAF7A"/>
          </a:solidFill>
          <a:ln w="12700">
            <a:solidFill>
              <a:srgbClr val="1BAF7A"/>
            </a:solidFill>
            <a:prstDash val="solid"/>
          </a:ln>
        </p:spPr>
      </p:sp>
      <p:sp>
        <p:nvSpPr>
          <p:cNvPr id="28" name="Text 26"/>
          <p:cNvSpPr/>
          <p:nvPr/>
        </p:nvSpPr>
        <p:spPr>
          <a:xfrm>
            <a:off x="10744200" y="5385816"/>
            <a:ext cx="658368"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PAKAI</a:t>
            </a:r>
            <a:endParaRPr lang="en-US" sz="900" dirty="0"/>
          </a:p>
        </p:txBody>
      </p:sp>
      <p:sp>
        <p:nvSpPr>
          <p:cNvPr id="29" name="Text 27"/>
          <p:cNvSpPr/>
          <p:nvPr/>
        </p:nvSpPr>
        <p:spPr>
          <a:xfrm>
            <a:off x="548640" y="6263640"/>
            <a:ext cx="11064240" cy="329184"/>
          </a:xfrm>
          <a:prstGeom prst="rect">
            <a:avLst/>
          </a:prstGeom>
          <a:noFill/>
          <a:ln/>
        </p:spPr>
        <p:txBody>
          <a:bodyPr wrap="square" lIns="0" tIns="0" rIns="0" bIns="0" rtlCol="0" anchor="ctr"/>
          <a:lstStyle/>
          <a:p>
            <a:pPr indent="0" marL="0">
              <a:buNone/>
            </a:pPr>
            <a:r>
              <a:rPr lang="en-US" sz="1200" b="1" i="1" dirty="0">
                <a:solidFill>
                  <a:srgbClr val="0E1E3C"/>
                </a:solidFill>
                <a:latin typeface="Calibri" pitchFamily="34" charset="0"/>
                <a:ea typeface="Calibri" pitchFamily="34" charset="-122"/>
                <a:cs typeface="Calibri" pitchFamily="34" charset="-120"/>
              </a:rPr>
              <a:t>Metode kami memakai keempat keluarga sekaligus. Slide berikutnya menjelaskan kenapa kombinasi ini, bukan salah satu saja.</a:t>
            </a:r>
            <a:endParaRPr lang="en-US" sz="1200" dirty="0"/>
          </a:p>
        </p:txBody>
      </p:sp>
      <p:sp>
        <p:nvSpPr>
          <p:cNvPr id="30" name="Text 28"/>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RELATED WORK 3 DARI 4</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kami menggabungkan keempatnya, bukan memilih satu</a:t>
            </a:r>
            <a:endParaRPr lang="en-US" sz="2700" dirty="0"/>
          </a:p>
        </p:txBody>
      </p:sp>
      <p:sp>
        <p:nvSpPr>
          <p:cNvPr id="4" name="Text 2"/>
          <p:cNvSpPr/>
          <p:nvPr/>
        </p:nvSpPr>
        <p:spPr>
          <a:xfrm>
            <a:off x="548640" y="1298448"/>
            <a:ext cx="11064240" cy="566928"/>
          </a:xfrm>
          <a:prstGeom prst="rect">
            <a:avLst/>
          </a:prstGeom>
          <a:noFill/>
          <a:ln/>
        </p:spPr>
        <p:txBody>
          <a:bodyPr wrap="square" lIns="0" tIns="0" rIns="0" bIns="0" rtlCol="0" anchor="ctr"/>
          <a:lstStyle/>
          <a:p>
            <a:pPr indent="0" marL="0">
              <a:buNone/>
            </a:pPr>
            <a:r>
              <a:rPr lang="en-US" sz="1200" i="1" dirty="0">
                <a:solidFill>
                  <a:srgbClr val="52514E"/>
                </a:solidFill>
                <a:latin typeface="Calibri" pitchFamily="34" charset="0"/>
                <a:ea typeface="Calibri" pitchFamily="34" charset="-122"/>
                <a:cs typeface="Calibri" pitchFamily="34" charset="-120"/>
              </a:rPr>
              <a:t>Argumennya bukan lebih banyak lebih baik, tapi setiap keluarga menyerang mode kegagalan malam hari yang berbeda. Bahwa gabungan logit dan feature saling melengkapi sudah dilaporkan sebelumnya [Zheng et al., TPAMI 2023; Yao et al., CMC 2025]; kontribusi kami adalah memilih varian tiap jalur secara spesifik untuk kondisi low light.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3017520"/>
                <a:gridCol w="5394960"/>
                <a:gridCol w="2651760"/>
              </a:tblGrid>
              <a:tr h="82296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Jalur distilasi</a:t>
                      </a:r>
                      <a:endParaRPr lang="en-US" sz="11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Mode kegagalan malam yang diserang</a:t>
                      </a:r>
                      <a:endParaRPr lang="en-US" sz="11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Dasar rujukan</a:t>
                      </a:r>
                      <a:endParaRPr lang="en-US" sz="11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822960">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Logit, KL pada class logits (T = 4,0)</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Objek samar membuat student ragu antar kelas mirip, misalnya rider melawan person. Soft label teacher membawa informasi kemiripan antar kelas yang hilang dari hard label</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Hinton et al., 2015</a:t>
                      </a:r>
                      <a:endParaRPr lang="en-US" sz="1100" dirty="0">
                        <a:latin typeface="Calibri" charset="0"/>
                        <a:ea typeface="Calibri" charset="0"/>
                        <a:cs typeface="Calibri" charset="0"/>
                      </a:endParaRPr>
                    </a:p>
                    <a:p>
                      <a:pPr algn="l" indent="0" marL="0">
                        <a:buNone/>
                      </a:pPr>
                      <a:r>
                        <a:rPr lang="en-US" sz="1100" dirty="0">
                          <a:solidFill>
                            <a:srgbClr val="52514E"/>
                          </a:solidFill>
                          <a:latin typeface="Calibri" pitchFamily="34" charset="0"/>
                          <a:ea typeface="Calibri" pitchFamily="34" charset="-122"/>
                          <a:cs typeface="Calibri" pitchFamily="34" charset="-120"/>
                        </a:rPr>
                        <a:t>Zhao et al., CVPR 2022</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22960">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Localization, KL pada distribusi DFL (T = 2,0)</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Tepi objek kabur karena blur dan noise. Distribusi DFL teacher membawa informasi ketidakpastian lokasi, yang tidak ada pada label kotak tunggal</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Zheng et al., CVPR 2022</a:t>
                      </a:r>
                      <a:endParaRPr lang="en-US" sz="1100" dirty="0">
                        <a:latin typeface="Calibri" charset="0"/>
                        <a:ea typeface="Calibri" charset="0"/>
                        <a:cs typeface="Calibri" charset="0"/>
                      </a:endParaRPr>
                    </a:p>
                    <a:p>
                      <a:pPr algn="l" indent="0" marL="0">
                        <a:buNone/>
                      </a:pPr>
                      <a:r>
                        <a:rPr lang="en-US" sz="1100" dirty="0">
                          <a:solidFill>
                            <a:srgbClr val="52514E"/>
                          </a:solidFill>
                          <a:latin typeface="Calibri" pitchFamily="34" charset="0"/>
                          <a:ea typeface="Calibri" pitchFamily="34" charset="-122"/>
                          <a:cs typeface="Calibri" pitchFamily="34" charset="-120"/>
                        </a:rPr>
                        <a:t>dan TPAMI 2023</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22960">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Feature, CWD pada neck P3 P4 P5</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Objek kecil hilang dari feature map sebelum sampai ke head, sehingga perbaikan di level head saja tidak cukup</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Shu et al., ICCV 2021</a:t>
                      </a:r>
                      <a:endParaRPr lang="en-US" sz="1100" dirty="0">
                        <a:latin typeface="Calibri" charset="0"/>
                        <a:ea typeface="Calibri" charset="0"/>
                        <a:cs typeface="Calibri" charset="0"/>
                      </a:endParaRPr>
                    </a:p>
                    <a:p>
                      <a:pPr algn="l" indent="0" marL="0">
                        <a:buNone/>
                      </a:pPr>
                      <a:r>
                        <a:rPr lang="en-US" sz="1100" dirty="0">
                          <a:solidFill>
                            <a:srgbClr val="52514E"/>
                          </a:solidFill>
                          <a:latin typeface="Calibri" pitchFamily="34" charset="0"/>
                          <a:ea typeface="Calibri" pitchFamily="34" charset="-122"/>
                          <a:cs typeface="Calibri" pitchFamily="34" charset="-120"/>
                        </a:rPr>
                        <a:t>Yang et al., CVPR 2022</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22960">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Instance weighting berbasis confidence teacher</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Pada malam hari teacher sendiri ikut menurun, jadi tidak semua prediksinya layak ditiru dengan bobot sama</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Lan dan Tian, ICPR 2022</a:t>
                      </a:r>
                      <a:endParaRPr lang="en-US" sz="1100" dirty="0">
                        <a:latin typeface="Calibri" charset="0"/>
                        <a:ea typeface="Calibri" charset="0"/>
                        <a:cs typeface="Calibri" charset="0"/>
                      </a:endParaRPr>
                    </a:p>
                    <a:p>
                      <a:pPr algn="l" indent="0" marL="0">
                        <a:buNone/>
                      </a:pPr>
                      <a:r>
                        <a:rPr lang="en-US" sz="1100" dirty="0">
                          <a:solidFill>
                            <a:srgbClr val="52514E"/>
                          </a:solidFill>
                          <a:latin typeface="Calibri" pitchFamily="34" charset="0"/>
                          <a:ea typeface="Calibri" pitchFamily="34" charset="-122"/>
                          <a:cs typeface="Calibri" pitchFamily="34" charset="-120"/>
                        </a:rPr>
                        <a:t>dan WACV 2024</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6" name="Text 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RELATED WORK 4 DARI 4</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Knowledge Distillation, bukan jalur lain</a:t>
            </a:r>
            <a:endParaRPr lang="en-US" sz="2700" dirty="0"/>
          </a:p>
        </p:txBody>
      </p:sp>
      <p:sp>
        <p:nvSpPr>
          <p:cNvPr id="4" name="Shape 2"/>
          <p:cNvSpPr/>
          <p:nvPr/>
        </p:nvSpPr>
        <p:spPr>
          <a:xfrm>
            <a:off x="548640" y="1417320"/>
            <a:ext cx="11064240" cy="841248"/>
          </a:xfrm>
          <a:prstGeom prst="roundRect">
            <a:avLst>
              <a:gd name="adj" fmla="val 8696"/>
            </a:avLst>
          </a:prstGeom>
          <a:solidFill>
            <a:srgbClr val="F2F4F8"/>
          </a:solidFill>
          <a:ln w="12700">
            <a:solidFill>
              <a:srgbClr val="F2F4F8"/>
            </a:solidFill>
            <a:prstDash val="solid"/>
          </a:ln>
        </p:spPr>
      </p:sp>
      <p:sp>
        <p:nvSpPr>
          <p:cNvPr id="5" name="Shape 3"/>
          <p:cNvSpPr/>
          <p:nvPr/>
        </p:nvSpPr>
        <p:spPr>
          <a:xfrm>
            <a:off x="822960" y="1655064"/>
            <a:ext cx="365760" cy="365760"/>
          </a:xfrm>
          <a:prstGeom prst="ellipse">
            <a:avLst/>
          </a:prstGeom>
          <a:solidFill>
            <a:srgbClr val="2A78D6"/>
          </a:solidFill>
          <a:ln w="12700">
            <a:solidFill>
              <a:srgbClr val="2A78D6"/>
            </a:solidFill>
            <a:prstDash val="solid"/>
          </a:ln>
        </p:spPr>
      </p:sp>
      <p:sp>
        <p:nvSpPr>
          <p:cNvPr id="6" name="Text 4"/>
          <p:cNvSpPr/>
          <p:nvPr/>
        </p:nvSpPr>
        <p:spPr>
          <a:xfrm>
            <a:off x="822960" y="1655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1490472"/>
            <a:ext cx="3017520" cy="694944"/>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Biaya inference benar benar nol</a:t>
            </a:r>
            <a:endParaRPr lang="en-US" sz="1250" dirty="0"/>
          </a:p>
        </p:txBody>
      </p:sp>
      <p:sp>
        <p:nvSpPr>
          <p:cNvPr id="8" name="Text 6"/>
          <p:cNvSpPr/>
          <p:nvPr/>
        </p:nvSpPr>
        <p:spPr>
          <a:xfrm>
            <a:off x="4526280" y="1472184"/>
            <a:ext cx="4434840" cy="7315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Teacher hanya hadir saat training. Model yang dikirim ke kendaraan tetap YOLOv8s murni, tanpa modul tambahan, tanpa perubahan arsitektur</a:t>
            </a:r>
            <a:endParaRPr lang="en-US" sz="1080" dirty="0"/>
          </a:p>
        </p:txBody>
      </p:sp>
      <p:sp>
        <p:nvSpPr>
          <p:cNvPr id="9" name="Text 7"/>
          <p:cNvSpPr/>
          <p:nvPr/>
        </p:nvSpPr>
        <p:spPr>
          <a:xfrm>
            <a:off x="9144000" y="1472184"/>
            <a:ext cx="228600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Li et al., IEEE TPAMI 2023</a:t>
            </a:r>
            <a:endParaRPr lang="en-US" sz="900" dirty="0"/>
          </a:p>
        </p:txBody>
      </p:sp>
      <p:sp>
        <p:nvSpPr>
          <p:cNvPr id="10" name="Shape 8"/>
          <p:cNvSpPr/>
          <p:nvPr/>
        </p:nvSpPr>
        <p:spPr>
          <a:xfrm>
            <a:off x="548640" y="2350008"/>
            <a:ext cx="11064240" cy="841248"/>
          </a:xfrm>
          <a:prstGeom prst="roundRect">
            <a:avLst>
              <a:gd name="adj" fmla="val 8696"/>
            </a:avLst>
          </a:prstGeom>
          <a:solidFill>
            <a:srgbClr val="FFFFFF"/>
          </a:solidFill>
          <a:ln w="12700">
            <a:solidFill>
              <a:srgbClr val="FFFFFF"/>
            </a:solidFill>
            <a:prstDash val="solid"/>
          </a:ln>
        </p:spPr>
      </p:sp>
      <p:sp>
        <p:nvSpPr>
          <p:cNvPr id="11" name="Shape 9"/>
          <p:cNvSpPr/>
          <p:nvPr/>
        </p:nvSpPr>
        <p:spPr>
          <a:xfrm>
            <a:off x="822960" y="2587752"/>
            <a:ext cx="365760" cy="365760"/>
          </a:xfrm>
          <a:prstGeom prst="ellipse">
            <a:avLst/>
          </a:prstGeom>
          <a:solidFill>
            <a:srgbClr val="EB6834"/>
          </a:solidFill>
          <a:ln w="12700">
            <a:solidFill>
              <a:srgbClr val="EB6834"/>
            </a:solidFill>
            <a:prstDash val="solid"/>
          </a:ln>
        </p:spPr>
      </p:sp>
      <p:sp>
        <p:nvSpPr>
          <p:cNvPr id="12" name="Text 10"/>
          <p:cNvSpPr/>
          <p:nvPr/>
        </p:nvSpPr>
        <p:spPr>
          <a:xfrm>
            <a:off x="822960" y="25877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371600" y="2423160"/>
            <a:ext cx="3017520" cy="694944"/>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Yang ditransfer adalah cara melihat</a:t>
            </a:r>
            <a:endParaRPr lang="en-US" sz="1250" dirty="0"/>
          </a:p>
        </p:txBody>
      </p:sp>
      <p:sp>
        <p:nvSpPr>
          <p:cNvPr id="14" name="Text 12"/>
          <p:cNvSpPr/>
          <p:nvPr/>
        </p:nvSpPr>
        <p:spPr>
          <a:xfrm>
            <a:off x="4526280" y="2404872"/>
            <a:ext cx="4434840" cy="7315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Bukan hanya jawaban akhir, tapi distribusi keyakinan dan pola perhatian spasial. Keraguan teacher pada objek samar justru informatif</a:t>
            </a:r>
            <a:endParaRPr lang="en-US" sz="1080" dirty="0"/>
          </a:p>
        </p:txBody>
      </p:sp>
      <p:sp>
        <p:nvSpPr>
          <p:cNvPr id="15" name="Text 13"/>
          <p:cNvSpPr/>
          <p:nvPr/>
        </p:nvSpPr>
        <p:spPr>
          <a:xfrm>
            <a:off x="9144000" y="2404872"/>
            <a:ext cx="228600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Hinton et al., 2015; Shu et al., ICCV 2021</a:t>
            </a:r>
            <a:endParaRPr lang="en-US" sz="900" dirty="0"/>
          </a:p>
        </p:txBody>
      </p:sp>
      <p:sp>
        <p:nvSpPr>
          <p:cNvPr id="16" name="Shape 14"/>
          <p:cNvSpPr/>
          <p:nvPr/>
        </p:nvSpPr>
        <p:spPr>
          <a:xfrm>
            <a:off x="548640" y="3282696"/>
            <a:ext cx="11064240" cy="841248"/>
          </a:xfrm>
          <a:prstGeom prst="roundRect">
            <a:avLst>
              <a:gd name="adj" fmla="val 8696"/>
            </a:avLst>
          </a:prstGeom>
          <a:solidFill>
            <a:srgbClr val="F2F4F8"/>
          </a:solidFill>
          <a:ln w="12700">
            <a:solidFill>
              <a:srgbClr val="F2F4F8"/>
            </a:solidFill>
            <a:prstDash val="solid"/>
          </a:ln>
        </p:spPr>
      </p:sp>
      <p:sp>
        <p:nvSpPr>
          <p:cNvPr id="17" name="Shape 15"/>
          <p:cNvSpPr/>
          <p:nvPr/>
        </p:nvSpPr>
        <p:spPr>
          <a:xfrm>
            <a:off x="822960" y="3520440"/>
            <a:ext cx="365760" cy="365760"/>
          </a:xfrm>
          <a:prstGeom prst="ellipse">
            <a:avLst/>
          </a:prstGeom>
          <a:solidFill>
            <a:srgbClr val="2A78D6"/>
          </a:solidFill>
          <a:ln w="12700">
            <a:solidFill>
              <a:srgbClr val="2A78D6"/>
            </a:solidFill>
            <a:prstDash val="solid"/>
          </a:ln>
        </p:spPr>
      </p:sp>
      <p:sp>
        <p:nvSpPr>
          <p:cNvPr id="18" name="Text 16"/>
          <p:cNvSpPr/>
          <p:nvPr/>
        </p:nvSpPr>
        <p:spPr>
          <a:xfrm>
            <a:off x="822960" y="3520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371600" y="3355848"/>
            <a:ext cx="3017520" cy="694944"/>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Tidak butuh data atau anotasi tambahan</a:t>
            </a:r>
            <a:endParaRPr lang="en-US" sz="1250" dirty="0"/>
          </a:p>
        </p:txBody>
      </p:sp>
      <p:sp>
        <p:nvSpPr>
          <p:cNvPr id="20" name="Text 18"/>
          <p:cNvSpPr/>
          <p:nvPr/>
        </p:nvSpPr>
        <p:spPr>
          <a:xfrm>
            <a:off x="4526280" y="3337560"/>
            <a:ext cx="4434840" cy="7315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Berbeda dari domain adaptation, tidak perlu pasangan citra siang malam maupun label baru</a:t>
            </a:r>
            <a:endParaRPr lang="en-US" sz="1080" dirty="0"/>
          </a:p>
        </p:txBody>
      </p:sp>
      <p:sp>
        <p:nvSpPr>
          <p:cNvPr id="21" name="Text 19"/>
          <p:cNvSpPr/>
          <p:nvPr/>
        </p:nvSpPr>
        <p:spPr>
          <a:xfrm>
            <a:off x="9144000" y="3337560"/>
            <a:ext cx="228600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Jaw et al., IEEE T-Cybernetics 2023</a:t>
            </a:r>
            <a:endParaRPr lang="en-US" sz="900" dirty="0"/>
          </a:p>
        </p:txBody>
      </p:sp>
      <p:sp>
        <p:nvSpPr>
          <p:cNvPr id="22" name="Shape 20"/>
          <p:cNvSpPr/>
          <p:nvPr/>
        </p:nvSpPr>
        <p:spPr>
          <a:xfrm>
            <a:off x="548640" y="4215384"/>
            <a:ext cx="11064240" cy="841248"/>
          </a:xfrm>
          <a:prstGeom prst="roundRect">
            <a:avLst>
              <a:gd name="adj" fmla="val 8696"/>
            </a:avLst>
          </a:prstGeom>
          <a:solidFill>
            <a:srgbClr val="FFFFFF"/>
          </a:solidFill>
          <a:ln w="12700">
            <a:solidFill>
              <a:srgbClr val="FFFFFF"/>
            </a:solidFill>
            <a:prstDash val="solid"/>
          </a:ln>
        </p:spPr>
      </p:sp>
      <p:sp>
        <p:nvSpPr>
          <p:cNvPr id="23" name="Shape 21"/>
          <p:cNvSpPr/>
          <p:nvPr/>
        </p:nvSpPr>
        <p:spPr>
          <a:xfrm>
            <a:off x="822960" y="4453128"/>
            <a:ext cx="365760" cy="365760"/>
          </a:xfrm>
          <a:prstGeom prst="ellipse">
            <a:avLst/>
          </a:prstGeom>
          <a:solidFill>
            <a:srgbClr val="EB6834"/>
          </a:solidFill>
          <a:ln w="12700">
            <a:solidFill>
              <a:srgbClr val="EB6834"/>
            </a:solidFill>
            <a:prstDash val="solid"/>
          </a:ln>
        </p:spPr>
      </p:sp>
      <p:sp>
        <p:nvSpPr>
          <p:cNvPr id="24" name="Text 22"/>
          <p:cNvSpPr/>
          <p:nvPr/>
        </p:nvSpPr>
        <p:spPr>
          <a:xfrm>
            <a:off x="822960" y="4453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1371600" y="4288536"/>
            <a:ext cx="3017520" cy="694944"/>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Terbukti bekerja pada kondisi visual terdegradasi</a:t>
            </a:r>
            <a:endParaRPr lang="en-US" sz="1250" dirty="0"/>
          </a:p>
        </p:txBody>
      </p:sp>
      <p:sp>
        <p:nvSpPr>
          <p:cNvPr id="26" name="Text 24"/>
          <p:cNvSpPr/>
          <p:nvPr/>
        </p:nvSpPr>
        <p:spPr>
          <a:xfrm>
            <a:off x="4526280" y="4270248"/>
            <a:ext cx="4434840" cy="7315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KD sudah berhasil dipakai untuk citra buram, citra inframerah, dan cuaca berkabut, jadi bukan asumsi kami sendiri</a:t>
            </a:r>
            <a:endParaRPr lang="en-US" sz="1080" dirty="0"/>
          </a:p>
        </p:txBody>
      </p:sp>
      <p:sp>
        <p:nvSpPr>
          <p:cNvPr id="27" name="Text 25"/>
          <p:cNvSpPr/>
          <p:nvPr/>
        </p:nvSpPr>
        <p:spPr>
          <a:xfrm>
            <a:off x="9144000" y="4270248"/>
            <a:ext cx="228600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Jobaer et al., Complex and Intelligent Systems 2024; Xiancheng et al., Sensors 2025; Liu et al., IEEE SPL 2025</a:t>
            </a:r>
            <a:endParaRPr lang="en-US" sz="900" dirty="0"/>
          </a:p>
        </p:txBody>
      </p:sp>
      <p:sp>
        <p:nvSpPr>
          <p:cNvPr id="28" name="Shape 26"/>
          <p:cNvSpPr/>
          <p:nvPr/>
        </p:nvSpPr>
        <p:spPr>
          <a:xfrm>
            <a:off x="548640" y="5148072"/>
            <a:ext cx="11064240" cy="841248"/>
          </a:xfrm>
          <a:prstGeom prst="roundRect">
            <a:avLst>
              <a:gd name="adj" fmla="val 8696"/>
            </a:avLst>
          </a:prstGeom>
          <a:solidFill>
            <a:srgbClr val="F2F4F8"/>
          </a:solidFill>
          <a:ln w="12700">
            <a:solidFill>
              <a:srgbClr val="F2F4F8"/>
            </a:solidFill>
            <a:prstDash val="solid"/>
          </a:ln>
        </p:spPr>
      </p:sp>
      <p:sp>
        <p:nvSpPr>
          <p:cNvPr id="29" name="Shape 27"/>
          <p:cNvSpPr/>
          <p:nvPr/>
        </p:nvSpPr>
        <p:spPr>
          <a:xfrm>
            <a:off x="822960" y="5385816"/>
            <a:ext cx="365760" cy="365760"/>
          </a:xfrm>
          <a:prstGeom prst="ellipse">
            <a:avLst/>
          </a:prstGeom>
          <a:solidFill>
            <a:srgbClr val="2A78D6"/>
          </a:solidFill>
          <a:ln w="12700">
            <a:solidFill>
              <a:srgbClr val="2A78D6"/>
            </a:solidFill>
            <a:prstDash val="solid"/>
          </a:ln>
        </p:spPr>
      </p:sp>
      <p:sp>
        <p:nvSpPr>
          <p:cNvPr id="30" name="Text 28"/>
          <p:cNvSpPr/>
          <p:nvPr/>
        </p:nvSpPr>
        <p:spPr>
          <a:xfrm>
            <a:off x="822960" y="53858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p:nvPr/>
        </p:nvSpPr>
        <p:spPr>
          <a:xfrm>
            <a:off x="1371600" y="5221224"/>
            <a:ext cx="3017520" cy="694944"/>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Cocok dengan pipeline deployment nyata</a:t>
            </a:r>
            <a:endParaRPr lang="en-US" sz="1250" dirty="0"/>
          </a:p>
        </p:txBody>
      </p:sp>
      <p:sp>
        <p:nvSpPr>
          <p:cNvPr id="32" name="Text 30"/>
          <p:cNvSpPr/>
          <p:nvPr/>
        </p:nvSpPr>
        <p:spPr>
          <a:xfrm>
            <a:off x="4526280" y="5202936"/>
            <a:ext cx="4434840" cy="7315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Model hasil distilasi lebih tahan terhadap kuantisasi INT8 dan pruning, sehingga bisa digabung dengan teknik kompresi lain</a:t>
            </a:r>
            <a:endParaRPr lang="en-US" sz="1080" dirty="0"/>
          </a:p>
        </p:txBody>
      </p:sp>
      <p:sp>
        <p:nvSpPr>
          <p:cNvPr id="33" name="Text 31"/>
          <p:cNvSpPr/>
          <p:nvPr/>
        </p:nvSpPr>
        <p:spPr>
          <a:xfrm>
            <a:off x="9144000" y="5202936"/>
            <a:ext cx="228600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Karjol dan Hanna, CVPR 2024; Wu et al., CVPR 2025</a:t>
            </a:r>
            <a:endParaRPr lang="en-US" sz="900" dirty="0"/>
          </a:p>
        </p:txBody>
      </p:sp>
      <p:sp>
        <p:nvSpPr>
          <p:cNvPr id="34" name="Text 32"/>
          <p:cNvSpPr/>
          <p:nvPr/>
        </p:nvSpPr>
        <p:spPr>
          <a:xfrm>
            <a:off x="548640" y="6172200"/>
            <a:ext cx="11064240" cy="365760"/>
          </a:xfrm>
          <a:prstGeom prst="rect">
            <a:avLst/>
          </a:prstGeom>
          <a:noFill/>
          <a:ln/>
        </p:spPr>
        <p:txBody>
          <a:bodyPr wrap="square" lIns="0" tIns="0" rIns="0" bIns="0" rtlCol="0" anchor="ctr"/>
          <a:lstStyle/>
          <a:p>
            <a:pPr indent="0" marL="0">
              <a:buNone/>
            </a:pPr>
            <a:r>
              <a:rPr lang="en-US" sz="1300" b="1" i="1" dirty="0">
                <a:solidFill>
                  <a:srgbClr val="0E1E3C"/>
                </a:solidFill>
                <a:latin typeface="Calibri" pitchFamily="34" charset="0"/>
                <a:ea typeface="Calibri" pitchFamily="34" charset="-122"/>
                <a:cs typeface="Calibri" pitchFamily="34" charset="-120"/>
              </a:rPr>
              <a:t>Ringkasnya: KD adalah satu satunya jalur yang memindahkan seluruh biayanya ke waktu training.</a:t>
            </a:r>
            <a:endParaRPr lang="en-US" sz="1300" dirty="0"/>
          </a:p>
        </p:txBody>
      </p:sp>
      <p:sp>
        <p:nvSpPr>
          <p:cNvPr id="35" name="Text 3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MENJAWAB PERTANYAAN YANG WAJAR</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Apakah Knowledge Distillation sudah ketinggalan zaman?</a:t>
            </a:r>
            <a:endParaRPr lang="en-US" sz="2700" dirty="0"/>
          </a:p>
        </p:txBody>
      </p:sp>
      <p:sp>
        <p:nvSpPr>
          <p:cNvPr id="4" name="Shape 2"/>
          <p:cNvSpPr/>
          <p:nvPr/>
        </p:nvSpPr>
        <p:spPr>
          <a:xfrm>
            <a:off x="548640" y="1417320"/>
            <a:ext cx="3520440" cy="3794760"/>
          </a:xfrm>
          <a:prstGeom prst="roundRect">
            <a:avLst>
              <a:gd name="adj" fmla="val 2078"/>
            </a:avLst>
          </a:prstGeom>
          <a:solidFill>
            <a:srgbClr val="F2F4F8"/>
          </a:solidFill>
          <a:ln w="12700">
            <a:solidFill>
              <a:srgbClr val="F2F4F8"/>
            </a:solidFill>
            <a:prstDash val="solid"/>
          </a:ln>
        </p:spPr>
      </p:sp>
      <p:sp>
        <p:nvSpPr>
          <p:cNvPr id="5" name="Shape 3"/>
          <p:cNvSpPr/>
          <p:nvPr/>
        </p:nvSpPr>
        <p:spPr>
          <a:xfrm>
            <a:off x="822960" y="1627632"/>
            <a:ext cx="274320" cy="274320"/>
          </a:xfrm>
          <a:prstGeom prst="ellipse">
            <a:avLst/>
          </a:prstGeom>
          <a:solidFill>
            <a:srgbClr val="2A78D6"/>
          </a:solidFill>
          <a:ln w="12700">
            <a:solidFill>
              <a:srgbClr val="2A78D6"/>
            </a:solidFill>
            <a:prstDash val="solid"/>
          </a:ln>
        </p:spPr>
      </p:sp>
      <p:sp>
        <p:nvSpPr>
          <p:cNvPr id="6" name="Text 4"/>
          <p:cNvSpPr/>
          <p:nvPr/>
        </p:nvSpPr>
        <p:spPr>
          <a:xfrm>
            <a:off x="1207008" y="1572768"/>
            <a:ext cx="2743200" cy="384048"/>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KD secara umum</a:t>
            </a:r>
            <a:endParaRPr lang="en-US" sz="1400" dirty="0"/>
          </a:p>
        </p:txBody>
      </p:sp>
      <p:sp>
        <p:nvSpPr>
          <p:cNvPr id="7" name="Text 5"/>
          <p:cNvSpPr/>
          <p:nvPr/>
        </p:nvSpPr>
        <p:spPr>
          <a:xfrm>
            <a:off x="822960" y="2084832"/>
            <a:ext cx="3063240" cy="2971800"/>
          </a:xfrm>
          <a:prstGeom prst="rect">
            <a:avLst/>
          </a:prstGeom>
          <a:noFill/>
          <a:ln/>
        </p:spPr>
        <p:txBody>
          <a:bodyPr wrap="square" lIns="0" tIns="0" rIns="0" bIns="0" rtlCol="0" anchor="t"/>
          <a:lstStyle/>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A Comprehensive Survey on KD, Maret 2025</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KD in Object Detection: A Survey from CNN to Transformer, Sensors 2026</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Cheng et al., A Review of KD in Object Detection, IEEE Access 2025</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Model kecil yang dipakai industri hari ini umumnya hasil distilasi dari model besar</a:t>
            </a:r>
            <a:endParaRPr lang="en-US" sz="1080" dirty="0"/>
          </a:p>
        </p:txBody>
      </p:sp>
      <p:sp>
        <p:nvSpPr>
          <p:cNvPr id="8" name="Shape 6"/>
          <p:cNvSpPr/>
          <p:nvPr/>
        </p:nvSpPr>
        <p:spPr>
          <a:xfrm>
            <a:off x="4343400" y="1417320"/>
            <a:ext cx="3520440" cy="3794760"/>
          </a:xfrm>
          <a:prstGeom prst="roundRect">
            <a:avLst>
              <a:gd name="adj" fmla="val 2078"/>
            </a:avLst>
          </a:prstGeom>
          <a:solidFill>
            <a:srgbClr val="0E1E3C"/>
          </a:solidFill>
          <a:ln w="12700">
            <a:solidFill>
              <a:srgbClr val="0E1E3C"/>
            </a:solidFill>
            <a:prstDash val="solid"/>
          </a:ln>
        </p:spPr>
      </p:sp>
      <p:sp>
        <p:nvSpPr>
          <p:cNvPr id="9" name="Shape 7"/>
          <p:cNvSpPr/>
          <p:nvPr/>
        </p:nvSpPr>
        <p:spPr>
          <a:xfrm>
            <a:off x="4617720" y="1627632"/>
            <a:ext cx="274320" cy="274320"/>
          </a:xfrm>
          <a:prstGeom prst="ellipse">
            <a:avLst/>
          </a:prstGeom>
          <a:solidFill>
            <a:srgbClr val="EB6834"/>
          </a:solidFill>
          <a:ln w="12700">
            <a:solidFill>
              <a:srgbClr val="EB6834"/>
            </a:solidFill>
            <a:prstDash val="solid"/>
          </a:ln>
        </p:spPr>
      </p:sp>
      <p:sp>
        <p:nvSpPr>
          <p:cNvPr id="10" name="Text 8"/>
          <p:cNvSpPr/>
          <p:nvPr/>
        </p:nvSpPr>
        <p:spPr>
          <a:xfrm>
            <a:off x="5001768" y="1572768"/>
            <a:ext cx="2743200" cy="38404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KD untuk driving dan edge</a:t>
            </a:r>
            <a:endParaRPr lang="en-US" sz="1400" dirty="0"/>
          </a:p>
        </p:txBody>
      </p:sp>
      <p:sp>
        <p:nvSpPr>
          <p:cNvPr id="11" name="Text 9"/>
          <p:cNvSpPr/>
          <p:nvPr/>
        </p:nvSpPr>
        <p:spPr>
          <a:xfrm>
            <a:off x="4617720" y="2084832"/>
            <a:ext cx="3063240" cy="2971800"/>
          </a:xfrm>
          <a:prstGeom prst="rect">
            <a:avLst/>
          </a:prstGeom>
          <a:noFill/>
          <a:ln/>
        </p:spPr>
        <p:txBody>
          <a:bodyPr wrap="square" lIns="0" tIns="0" rIns="0" bIns="0" rtlCol="0" anchor="t"/>
          <a:lstStyle/>
          <a:p>
            <a:pPr marL="342900" indent="-342900">
              <a:spcAft>
                <a:spcPts val="1100"/>
              </a:spcAft>
              <a:buSzPct val="100000"/>
              <a:buChar char="•"/>
            </a:pPr>
            <a:r>
              <a:rPr lang="en-US" sz="1080" dirty="0">
                <a:solidFill>
                  <a:srgbClr val="FFFFFF"/>
                </a:solidFill>
                <a:latin typeface="Calibri" pitchFamily="34" charset="0"/>
                <a:ea typeface="Calibri" pitchFamily="34" charset="-122"/>
                <a:cs typeface="Calibri" pitchFamily="34" charset="-120"/>
              </a:rPr>
              <a:t>Wu et al., Compressing Multi-Task Model for Autonomous Driving, CVPR 2025</a:t>
            </a:r>
            <a:endParaRPr lang="en-US" sz="1080" dirty="0"/>
          </a:p>
          <a:p>
            <a:pPr marL="342900" indent="-342900">
              <a:spcAft>
                <a:spcPts val="1100"/>
              </a:spcAft>
              <a:buSzPct val="100000"/>
              <a:buChar char="•"/>
            </a:pPr>
            <a:r>
              <a:rPr lang="en-US" sz="1080" dirty="0">
                <a:solidFill>
                  <a:srgbClr val="FFFFFF"/>
                </a:solidFill>
                <a:latin typeface="Calibri" pitchFamily="34" charset="0"/>
                <a:ea typeface="Calibri" pitchFamily="34" charset="-122"/>
                <a:cs typeface="Calibri" pitchFamily="34" charset="-120"/>
              </a:rPr>
              <a:t>Liu et al., MonoTAKD, CVPR 2025</a:t>
            </a:r>
            <a:endParaRPr lang="en-US" sz="1080" dirty="0"/>
          </a:p>
          <a:p>
            <a:pPr marL="342900" indent="-342900">
              <a:spcAft>
                <a:spcPts val="1100"/>
              </a:spcAft>
              <a:buSzPct val="100000"/>
              <a:buChar char="•"/>
            </a:pPr>
            <a:r>
              <a:rPr lang="en-US" sz="1080" dirty="0">
                <a:solidFill>
                  <a:srgbClr val="FFFFFF"/>
                </a:solidFill>
                <a:latin typeface="Calibri" pitchFamily="34" charset="0"/>
                <a:ea typeface="Calibri" pitchFamily="34" charset="-122"/>
                <a:cs typeface="Calibri" pitchFamily="34" charset="-120"/>
              </a:rPr>
              <a:t>Rossi et al., Event-Aware Distilled DETR, IEEE IV 2025</a:t>
            </a:r>
            <a:endParaRPr lang="en-US" sz="1080" dirty="0"/>
          </a:p>
          <a:p>
            <a:pPr marL="342900" indent="-342900">
              <a:spcAft>
                <a:spcPts val="1100"/>
              </a:spcAft>
              <a:buSzPct val="100000"/>
              <a:buChar char="•"/>
            </a:pPr>
            <a:r>
              <a:rPr lang="en-US" sz="1080" dirty="0">
                <a:solidFill>
                  <a:srgbClr val="FFFFFF"/>
                </a:solidFill>
                <a:latin typeface="Calibri" pitchFamily="34" charset="0"/>
                <a:ea typeface="Calibri" pitchFamily="34" charset="-122"/>
                <a:cs typeface="Calibri" pitchFamily="34" charset="-120"/>
              </a:rPr>
              <a:t>Qian et al., Decoupled and Interactive Distillation, IEEE T-ITS 2025</a:t>
            </a:r>
            <a:endParaRPr lang="en-US" sz="1080" dirty="0"/>
          </a:p>
        </p:txBody>
      </p:sp>
      <p:sp>
        <p:nvSpPr>
          <p:cNvPr id="12" name="Shape 10"/>
          <p:cNvSpPr/>
          <p:nvPr/>
        </p:nvSpPr>
        <p:spPr>
          <a:xfrm>
            <a:off x="8138160" y="1417320"/>
            <a:ext cx="3520440" cy="3794760"/>
          </a:xfrm>
          <a:prstGeom prst="roundRect">
            <a:avLst>
              <a:gd name="adj" fmla="val 2078"/>
            </a:avLst>
          </a:prstGeom>
          <a:solidFill>
            <a:srgbClr val="F2F4F8"/>
          </a:solidFill>
          <a:ln w="12700">
            <a:solidFill>
              <a:srgbClr val="F2F4F8"/>
            </a:solidFill>
            <a:prstDash val="solid"/>
          </a:ln>
        </p:spPr>
      </p:sp>
      <p:sp>
        <p:nvSpPr>
          <p:cNvPr id="13" name="Shape 11"/>
          <p:cNvSpPr/>
          <p:nvPr/>
        </p:nvSpPr>
        <p:spPr>
          <a:xfrm>
            <a:off x="8412480" y="1627632"/>
            <a:ext cx="274320" cy="274320"/>
          </a:xfrm>
          <a:prstGeom prst="ellipse">
            <a:avLst/>
          </a:prstGeom>
          <a:solidFill>
            <a:srgbClr val="1BAF7A"/>
          </a:solidFill>
          <a:ln w="12700">
            <a:solidFill>
              <a:srgbClr val="1BAF7A"/>
            </a:solidFill>
            <a:prstDash val="solid"/>
          </a:ln>
        </p:spPr>
      </p:sp>
      <p:sp>
        <p:nvSpPr>
          <p:cNvPr id="14" name="Text 12"/>
          <p:cNvSpPr/>
          <p:nvPr/>
        </p:nvSpPr>
        <p:spPr>
          <a:xfrm>
            <a:off x="8796528" y="1572768"/>
            <a:ext cx="2743200" cy="384048"/>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KD untuk kondisi visual sulit</a:t>
            </a:r>
            <a:endParaRPr lang="en-US" sz="1400" dirty="0"/>
          </a:p>
        </p:txBody>
      </p:sp>
      <p:sp>
        <p:nvSpPr>
          <p:cNvPr id="15" name="Text 13"/>
          <p:cNvSpPr/>
          <p:nvPr/>
        </p:nvSpPr>
        <p:spPr>
          <a:xfrm>
            <a:off x="8412480" y="2084832"/>
            <a:ext cx="3063240" cy="2971800"/>
          </a:xfrm>
          <a:prstGeom prst="rect">
            <a:avLst/>
          </a:prstGeom>
          <a:noFill/>
          <a:ln/>
        </p:spPr>
        <p:txBody>
          <a:bodyPr wrap="square" lIns="0" tIns="0" rIns="0" bIns="0" rtlCol="0" anchor="t"/>
          <a:lstStyle/>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Sun et al., Lightweight design for low light scenes, 2025</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Xiancheng et al., LKD-YOLOv8 untuk inframerah, Sensors 2025</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Liu et al., KD diffusion untuk teks berkabut, IEEE SPL 2025</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Yao et al., Domain-Invariant Progressive KD, IEEE GRSL 2024</a:t>
            </a:r>
            <a:endParaRPr lang="en-US" sz="1080" dirty="0"/>
          </a:p>
        </p:txBody>
      </p:sp>
      <p:sp>
        <p:nvSpPr>
          <p:cNvPr id="16" name="Shape 14"/>
          <p:cNvSpPr/>
          <p:nvPr/>
        </p:nvSpPr>
        <p:spPr>
          <a:xfrm>
            <a:off x="548640" y="5394960"/>
            <a:ext cx="11064240" cy="960120"/>
          </a:xfrm>
          <a:prstGeom prst="roundRect">
            <a:avLst>
              <a:gd name="adj" fmla="val 7619"/>
            </a:avLst>
          </a:prstGeom>
          <a:solidFill>
            <a:srgbClr val="EEF3FB"/>
          </a:solidFill>
          <a:ln w="12700">
            <a:solidFill>
              <a:srgbClr val="EEF3FB"/>
            </a:solidFill>
            <a:prstDash val="solid"/>
          </a:ln>
        </p:spPr>
      </p:sp>
      <p:sp>
        <p:nvSpPr>
          <p:cNvPr id="17" name="Text 15"/>
          <p:cNvSpPr/>
          <p:nvPr/>
        </p:nvSpPr>
        <p:spPr>
          <a:xfrm>
            <a:off x="868680" y="5559552"/>
            <a:ext cx="10424160" cy="640080"/>
          </a:xfrm>
          <a:prstGeom prst="rect">
            <a:avLst/>
          </a:prstGeom>
          <a:noFill/>
          <a:ln/>
        </p:spPr>
        <p:txBody>
          <a:bodyPr wrap="square" lIns="0" tIns="0" rIns="0" bIns="0" rtlCol="0" anchor="ctr"/>
          <a:lstStyle/>
          <a:p>
            <a:pPr indent="0" marL="0">
              <a:buNone/>
            </a:pPr>
            <a:r>
              <a:rPr lang="en-US" sz="1150" dirty="0">
                <a:solidFill>
                  <a:srgbClr val="0E1E3C"/>
                </a:solidFill>
                <a:latin typeface="Calibri" pitchFamily="34" charset="0"/>
                <a:ea typeface="Calibri" pitchFamily="34" charset="-122"/>
                <a:cs typeface="Calibri" pitchFamily="34" charset="-120"/>
              </a:rPr>
              <a:t>Bahkan komponen spesifik yang kami pakai masih hidup. Channel-wise Distillation tetap menjadi rujukan standar untuk dense prediction dan masih dikutip pada karya 2024 dan 2025 seperti CanKD dan Foreground Separation KD. Yang usang bukan metodenya, melainkan pola risetnya, dan itu kami bahas di slide berikut.</a:t>
            </a:r>
            <a:endParaRPr lang="en-US" sz="1150" dirty="0"/>
          </a:p>
        </p:txBody>
      </p:sp>
      <p:sp>
        <p:nvSpPr>
          <p:cNvPr id="18" name="Text 16"/>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POSITIONING 1 DARI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Kritik yang kami terima, dan yang kami tolak</a:t>
            </a:r>
            <a:endParaRPr lang="en-US" sz="2700" dirty="0"/>
          </a:p>
        </p:txBody>
      </p:sp>
      <p:sp>
        <p:nvSpPr>
          <p:cNvPr id="4" name="Shape 2"/>
          <p:cNvSpPr/>
          <p:nvPr/>
        </p:nvSpPr>
        <p:spPr>
          <a:xfrm>
            <a:off x="548640" y="1371600"/>
            <a:ext cx="5394960" cy="4114800"/>
          </a:xfrm>
          <a:prstGeom prst="roundRect">
            <a:avLst>
              <a:gd name="adj" fmla="val 1778"/>
            </a:avLst>
          </a:prstGeom>
          <a:solidFill>
            <a:srgbClr val="F2F4F8"/>
          </a:solidFill>
          <a:ln w="12700">
            <a:solidFill>
              <a:srgbClr val="F2F4F8"/>
            </a:solidFill>
            <a:prstDash val="solid"/>
          </a:ln>
        </p:spPr>
      </p:sp>
      <p:sp>
        <p:nvSpPr>
          <p:cNvPr id="5" name="Text 3"/>
          <p:cNvSpPr/>
          <p:nvPr/>
        </p:nvSpPr>
        <p:spPr>
          <a:xfrm>
            <a:off x="868680" y="1554480"/>
            <a:ext cx="4754880" cy="640080"/>
          </a:xfrm>
          <a:prstGeom prst="rect">
            <a:avLst/>
          </a:prstGeom>
          <a:noFill/>
          <a:ln/>
        </p:spPr>
        <p:txBody>
          <a:bodyPr wrap="square" lIns="0" tIns="0" rIns="0" bIns="0" rtlCol="0" anchor="ctr"/>
          <a:lstStyle/>
          <a:p>
            <a:pPr indent="0" marL="0">
              <a:buNone/>
            </a:pPr>
            <a:r>
              <a:rPr lang="en-US" sz="1600" b="1" dirty="0">
                <a:solidFill>
                  <a:srgbClr val="898781"/>
                </a:solidFill>
                <a:latin typeface="Cambria" pitchFamily="34" charset="0"/>
                <a:ea typeface="Cambria" pitchFamily="34" charset="-122"/>
                <a:cs typeface="Cambria" pitchFamily="34" charset="-120"/>
              </a:rPr>
              <a:t>Kami setuju: pola ini memang sudah jenuh</a:t>
            </a:r>
            <a:endParaRPr lang="en-US" sz="1600" dirty="0"/>
          </a:p>
        </p:txBody>
      </p:sp>
      <p:sp>
        <p:nvSpPr>
          <p:cNvPr id="6" name="Text 4"/>
          <p:cNvSpPr/>
          <p:nvPr/>
        </p:nvSpPr>
        <p:spPr>
          <a:xfrm>
            <a:off x="868680" y="2286000"/>
            <a:ext cx="4754880" cy="301752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Distilasi generik model besar ke model kecil pada benchmark umum seperti COCO</a:t>
            </a:r>
            <a:endParaRPr lang="en-US" sz="1200" dirty="0"/>
          </a:p>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Menambah satu suku loss baru lalu melaporkan kenaikan mAP sepersekian persen</a:t>
            </a:r>
            <a:endParaRPr lang="en-US" sz="1200" dirty="0"/>
          </a:p>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Mengklaim kebaruan hanya karena mengganti dataset atau mengganti backbone</a:t>
            </a:r>
            <a:endParaRPr lang="en-US" sz="1200" dirty="0"/>
          </a:p>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Melaporkan satu angka mAP gabungan tanpa memisahkan kondisi lingkungan</a:t>
            </a:r>
            <a:endParaRPr lang="en-US" sz="1200" dirty="0"/>
          </a:p>
        </p:txBody>
      </p:sp>
      <p:sp>
        <p:nvSpPr>
          <p:cNvPr id="7" name="Shape 5"/>
          <p:cNvSpPr/>
          <p:nvPr/>
        </p:nvSpPr>
        <p:spPr>
          <a:xfrm>
            <a:off x="6217920" y="1371600"/>
            <a:ext cx="5394960" cy="4114800"/>
          </a:xfrm>
          <a:prstGeom prst="roundRect">
            <a:avLst>
              <a:gd name="adj" fmla="val 1778"/>
            </a:avLst>
          </a:prstGeom>
          <a:solidFill>
            <a:srgbClr val="0E1E3C"/>
          </a:solidFill>
          <a:ln w="12700">
            <a:solidFill>
              <a:srgbClr val="0E1E3C"/>
            </a:solidFill>
            <a:prstDash val="solid"/>
          </a:ln>
        </p:spPr>
      </p:sp>
      <p:sp>
        <p:nvSpPr>
          <p:cNvPr id="8" name="Text 6"/>
          <p:cNvSpPr/>
          <p:nvPr/>
        </p:nvSpPr>
        <p:spPr>
          <a:xfrm>
            <a:off x="6537960" y="1554480"/>
            <a:ext cx="4754880" cy="640080"/>
          </a:xfrm>
          <a:prstGeom prst="rect">
            <a:avLst/>
          </a:prstGeom>
          <a:noFill/>
          <a:ln/>
        </p:spPr>
        <p:txBody>
          <a:bodyPr wrap="square" lIns="0" tIns="0" rIns="0" bIns="0" rtlCol="0" anchor="ctr"/>
          <a:lstStyle/>
          <a:p>
            <a:pPr indent="0" marL="0">
              <a:buNone/>
            </a:pPr>
            <a:r>
              <a:rPr lang="en-US" sz="1600" b="1" dirty="0">
                <a:solidFill>
                  <a:srgbClr val="EB6834"/>
                </a:solidFill>
                <a:latin typeface="Cambria" pitchFamily="34" charset="0"/>
                <a:ea typeface="Cambria" pitchFamily="34" charset="-122"/>
                <a:cs typeface="Cambria" pitchFamily="34" charset="-120"/>
              </a:rPr>
              <a:t>Yang masih terbuka, dan di sinilah kami</a:t>
            </a:r>
            <a:endParaRPr lang="en-US" sz="1600" dirty="0"/>
          </a:p>
        </p:txBody>
      </p:sp>
      <p:sp>
        <p:nvSpPr>
          <p:cNvPr id="9" name="Text 7"/>
          <p:cNvSpPr/>
          <p:nvPr/>
        </p:nvSpPr>
        <p:spPr>
          <a:xfrm>
            <a:off x="6537960" y="2286000"/>
            <a:ext cx="4754880" cy="301752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Distilasi di bawah pergeseran domain, khususnya perubahan kondisi cahaya</a:t>
            </a:r>
            <a:endParaRPr lang="en-US" sz="1200" dirty="0"/>
          </a:p>
          <a:p>
            <a:pPr marL="342900" indent="-342900">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Apa yang sebenarnya bisa ditransfer ketika teacher sendiri ikut menurun kualitasnya</a:t>
            </a:r>
            <a:endParaRPr lang="en-US" sz="1200" dirty="0"/>
          </a:p>
          <a:p>
            <a:pPr marL="342900" indent="-342900">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Evaluasi distilasi yang dipisah per kondisi lingkungan, bukan satu angka rata rata</a:t>
            </a:r>
            <a:endParaRPr lang="en-US" sz="1200" dirty="0"/>
          </a:p>
          <a:p>
            <a:pPr marL="342900" indent="-342900">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Reproducibility, karena mayoritas paper perbaikan YOLO hanya melaporkan satu kali training</a:t>
            </a:r>
            <a:endParaRPr lang="en-US" sz="1200" dirty="0"/>
          </a:p>
        </p:txBody>
      </p:sp>
      <p:sp>
        <p:nvSpPr>
          <p:cNvPr id="10" name="Text 8"/>
          <p:cNvSpPr/>
          <p:nvPr/>
        </p:nvSpPr>
        <p:spPr>
          <a:xfrm>
            <a:off x="548640" y="5669280"/>
            <a:ext cx="11064240" cy="365760"/>
          </a:xfrm>
          <a:prstGeom prst="rect">
            <a:avLst/>
          </a:prstGeom>
          <a:noFill/>
          <a:ln/>
        </p:spPr>
        <p:txBody>
          <a:bodyPr wrap="square" lIns="0" tIns="0" rIns="0" bIns="0" rtlCol="0" anchor="ctr"/>
          <a:lstStyle/>
          <a:p>
            <a:pPr indent="0" marL="0">
              <a:buNone/>
            </a:pPr>
            <a:r>
              <a:rPr lang="en-US" sz="1350" b="1" i="1" dirty="0">
                <a:solidFill>
                  <a:srgbClr val="0E1E3C"/>
                </a:solidFill>
                <a:latin typeface="Calibri" pitchFamily="34" charset="0"/>
                <a:ea typeface="Calibri" pitchFamily="34" charset="-122"/>
                <a:cs typeface="Calibri" pitchFamily="34" charset="-120"/>
              </a:rPr>
              <a:t>Kami tidak berargumen bahwa KD masih baru. Kami berargumen bahwa pertanyaan yang kami ajukan belum dijawab.</a:t>
            </a:r>
            <a:endParaRPr lang="en-US" sz="1350" dirty="0"/>
          </a:p>
        </p:txBody>
      </p:sp>
      <p:sp>
        <p:nvSpPr>
          <p:cNvPr id="11" name="Text 9"/>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POSITIONING 2 DARI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Celah yang kami isi, dibandingkan karya terdekat</a:t>
            </a:r>
            <a:endParaRPr lang="en-US" sz="2700" dirty="0"/>
          </a:p>
        </p:txBody>
      </p:sp>
      <p:sp>
        <p:nvSpPr>
          <p:cNvPr id="4" name="Text 2"/>
          <p:cNvSpPr/>
          <p:nvPr/>
        </p:nvSpPr>
        <p:spPr>
          <a:xfrm>
            <a:off x="548640" y="1298448"/>
            <a:ext cx="11064240" cy="548640"/>
          </a:xfrm>
          <a:prstGeom prst="rect">
            <a:avLst/>
          </a:prstGeom>
          <a:noFill/>
          <a:ln/>
        </p:spPr>
        <p:txBody>
          <a:bodyPr wrap="square" lIns="0" tIns="0" rIns="0" bIns="0" rtlCol="0" anchor="ctr"/>
          <a:lstStyle/>
          <a:p>
            <a:pPr indent="0" marL="0">
              <a:buNone/>
            </a:pPr>
            <a:r>
              <a:rPr lang="en-US" sz="1200" i="1" dirty="0">
                <a:solidFill>
                  <a:srgbClr val="52514E"/>
                </a:solidFill>
                <a:latin typeface="Calibri" pitchFamily="34" charset="0"/>
                <a:ea typeface="Calibri" pitchFamily="34" charset="-122"/>
                <a:cs typeface="Calibri" pitchFamily="34" charset="-120"/>
              </a:rPr>
              <a:t>Celahnya bukan pada metode distilasinya, melainkan pada pertanyaan yang diajukan dan cara mengukurnya. Tidak satu pun karya di bawah ini menjadikan besar penurunan siang ke malam sebagai besaran yang dilaporkan dan dioptimasi untuk detektor ringan.</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3108960"/>
                <a:gridCol w="3200400"/>
                <a:gridCol w="2286000"/>
                <a:gridCol w="1280160"/>
                <a:gridCol w="1188720"/>
              </a:tblGrid>
              <a:tr h="69494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Karya terdekat</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Fokus</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Evaluasi siang vs malam dipisah</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Gap jadi metrik</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Multi run</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69494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Sun et al., 2025 (paper acuan kami)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Pruning + KD YOLOv8n untuk low light, mAP 0,672</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Hanya low light, tanpa pembanding siang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9494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Jaw et al., IEEE T-Cybernetics 2023</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Feature domain KD tanpa supervisi untuk citra low luminance</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Dua domain, tapi tanpa selisih</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9494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Du et al., CVPR 2024 (DAINet)</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Zero shot day night domain adaptation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Ya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9494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Xiancheng et al., Sensors 2025</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KD ringan untuk deteksi inframerah</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berlaku, domain inframerah</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94944">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Penelitian kami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KD YOLOv8l ke YOLOv8s, BDD100K siang malam seimbang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Ya, sejak perancangan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Ya, metrik utama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Ya, 3 run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r>
            </a:tbl>
          </a:graphicData>
        </a:graphic>
      </p:graphicFrame>
      <p:sp>
        <p:nvSpPr>
          <p:cNvPr id="6" name="Text 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POSISI KAMI</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Rumusan masalah dan tujuan penelitian</a:t>
            </a:r>
            <a:endParaRPr lang="en-US" sz="2700" dirty="0"/>
          </a:p>
        </p:txBody>
      </p:sp>
      <p:sp>
        <p:nvSpPr>
          <p:cNvPr id="4" name="Shape 2"/>
          <p:cNvSpPr/>
          <p:nvPr/>
        </p:nvSpPr>
        <p:spPr>
          <a:xfrm>
            <a:off x="548640" y="1417320"/>
            <a:ext cx="11064240" cy="914400"/>
          </a:xfrm>
          <a:prstGeom prst="roundRect">
            <a:avLst>
              <a:gd name="adj" fmla="val 8000"/>
            </a:avLst>
          </a:prstGeom>
          <a:solidFill>
            <a:srgbClr val="EEF3FB"/>
          </a:solidFill>
          <a:ln w="12700">
            <a:solidFill>
              <a:srgbClr val="EEF3FB"/>
            </a:solidFill>
            <a:prstDash val="solid"/>
          </a:ln>
        </p:spPr>
      </p:sp>
      <p:sp>
        <p:nvSpPr>
          <p:cNvPr id="5" name="Text 3"/>
          <p:cNvSpPr/>
          <p:nvPr/>
        </p:nvSpPr>
        <p:spPr>
          <a:xfrm>
            <a:off x="868680" y="1691640"/>
            <a:ext cx="914400" cy="36576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RQ 1</a:t>
            </a:r>
            <a:endParaRPr lang="en-US" sz="1500" dirty="0"/>
          </a:p>
        </p:txBody>
      </p:sp>
      <p:sp>
        <p:nvSpPr>
          <p:cNvPr id="6" name="Text 4"/>
          <p:cNvSpPr/>
          <p:nvPr/>
        </p:nvSpPr>
        <p:spPr>
          <a:xfrm>
            <a:off x="1874520" y="1563624"/>
            <a:ext cx="9509760" cy="64008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Apakah knowledge distillation dapat memperkecil penurunan performa siang ke malam pada detektor ringan, dan seberapa besar penurunannya bisa ditekan?</a:t>
            </a:r>
            <a:endParaRPr lang="en-US" sz="1300" dirty="0"/>
          </a:p>
        </p:txBody>
      </p:sp>
      <p:sp>
        <p:nvSpPr>
          <p:cNvPr id="7" name="Shape 5"/>
          <p:cNvSpPr/>
          <p:nvPr/>
        </p:nvSpPr>
        <p:spPr>
          <a:xfrm>
            <a:off x="548640" y="2441448"/>
            <a:ext cx="11064240" cy="914400"/>
          </a:xfrm>
          <a:prstGeom prst="roundRect">
            <a:avLst>
              <a:gd name="adj" fmla="val 8000"/>
            </a:avLst>
          </a:prstGeom>
          <a:solidFill>
            <a:srgbClr val="EEF3FB"/>
          </a:solidFill>
          <a:ln w="12700">
            <a:solidFill>
              <a:srgbClr val="EEF3FB"/>
            </a:solidFill>
            <a:prstDash val="solid"/>
          </a:ln>
        </p:spPr>
      </p:sp>
      <p:sp>
        <p:nvSpPr>
          <p:cNvPr id="8" name="Text 6"/>
          <p:cNvSpPr/>
          <p:nvPr/>
        </p:nvSpPr>
        <p:spPr>
          <a:xfrm>
            <a:off x="868680" y="2715768"/>
            <a:ext cx="914400" cy="36576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RQ 2</a:t>
            </a:r>
            <a:endParaRPr lang="en-US" sz="1500" dirty="0"/>
          </a:p>
        </p:txBody>
      </p:sp>
      <p:sp>
        <p:nvSpPr>
          <p:cNvPr id="9" name="Text 7"/>
          <p:cNvSpPr/>
          <p:nvPr/>
        </p:nvSpPr>
        <p:spPr>
          <a:xfrm>
            <a:off x="1874520" y="2587752"/>
            <a:ext cx="9509760" cy="64008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Komponen distilasi mana yang benar benar menyumbang ketahanan terhadap kondisi gelap, dan berapa besar kontribusi masing masing?</a:t>
            </a:r>
            <a:endParaRPr lang="en-US" sz="1300" dirty="0"/>
          </a:p>
        </p:txBody>
      </p:sp>
      <p:sp>
        <p:nvSpPr>
          <p:cNvPr id="10" name="Shape 8"/>
          <p:cNvSpPr/>
          <p:nvPr/>
        </p:nvSpPr>
        <p:spPr>
          <a:xfrm>
            <a:off x="548640" y="3465576"/>
            <a:ext cx="11064240" cy="914400"/>
          </a:xfrm>
          <a:prstGeom prst="roundRect">
            <a:avLst>
              <a:gd name="adj" fmla="val 8000"/>
            </a:avLst>
          </a:prstGeom>
          <a:solidFill>
            <a:srgbClr val="EEF3FB"/>
          </a:solidFill>
          <a:ln w="12700">
            <a:solidFill>
              <a:srgbClr val="EEF3FB"/>
            </a:solidFill>
            <a:prstDash val="solid"/>
          </a:ln>
        </p:spPr>
      </p:sp>
      <p:sp>
        <p:nvSpPr>
          <p:cNvPr id="11" name="Text 9"/>
          <p:cNvSpPr/>
          <p:nvPr/>
        </p:nvSpPr>
        <p:spPr>
          <a:xfrm>
            <a:off x="868680" y="3739896"/>
            <a:ext cx="914400" cy="36576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RQ 3</a:t>
            </a:r>
            <a:endParaRPr lang="en-US" sz="1500" dirty="0"/>
          </a:p>
        </p:txBody>
      </p:sp>
      <p:sp>
        <p:nvSpPr>
          <p:cNvPr id="12" name="Text 10"/>
          <p:cNvSpPr/>
          <p:nvPr/>
        </p:nvSpPr>
        <p:spPr>
          <a:xfrm>
            <a:off x="1874520" y="3611880"/>
            <a:ext cx="9509760" cy="64008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Apakah perbaikan tersebut konsisten antar training run, atau hanya kebetulan pada satu run?</a:t>
            </a:r>
            <a:endParaRPr lang="en-US" sz="1300" dirty="0"/>
          </a:p>
        </p:txBody>
      </p:sp>
      <p:sp>
        <p:nvSpPr>
          <p:cNvPr id="13" name="Shape 11"/>
          <p:cNvSpPr/>
          <p:nvPr/>
        </p:nvSpPr>
        <p:spPr>
          <a:xfrm>
            <a:off x="548640" y="4617720"/>
            <a:ext cx="11064240" cy="1691640"/>
          </a:xfrm>
          <a:prstGeom prst="roundRect">
            <a:avLst>
              <a:gd name="adj" fmla="val 4324"/>
            </a:avLst>
          </a:prstGeom>
          <a:solidFill>
            <a:srgbClr val="0E1E3C"/>
          </a:solidFill>
          <a:ln w="12700">
            <a:solidFill>
              <a:srgbClr val="0E1E3C"/>
            </a:solidFill>
            <a:prstDash val="solid"/>
          </a:ln>
        </p:spPr>
      </p:sp>
      <p:sp>
        <p:nvSpPr>
          <p:cNvPr id="14" name="Text 12"/>
          <p:cNvSpPr/>
          <p:nvPr/>
        </p:nvSpPr>
        <p:spPr>
          <a:xfrm>
            <a:off x="868680" y="4800600"/>
            <a:ext cx="3657600" cy="320040"/>
          </a:xfrm>
          <a:prstGeom prst="rect">
            <a:avLst/>
          </a:prstGeom>
          <a:noFill/>
          <a:ln/>
        </p:spPr>
        <p:txBody>
          <a:bodyPr wrap="square" lIns="0" tIns="0" rIns="0" bIns="0" rtlCol="0" anchor="ctr"/>
          <a:lstStyle/>
          <a:p>
            <a:pPr indent="0" marL="0">
              <a:buNone/>
            </a:pPr>
            <a:r>
              <a:rPr lang="en-US" sz="1200" b="1" spc="120" kern="0" dirty="0">
                <a:solidFill>
                  <a:srgbClr val="EB6834"/>
                </a:solidFill>
                <a:latin typeface="Calibri" pitchFamily="34" charset="0"/>
                <a:ea typeface="Calibri" pitchFamily="34" charset="-122"/>
                <a:cs typeface="Calibri" pitchFamily="34" charset="-120"/>
              </a:rPr>
              <a:t>Tujuan</a:t>
            </a:r>
            <a:endParaRPr lang="en-US" sz="1200" dirty="0"/>
          </a:p>
        </p:txBody>
      </p:sp>
      <p:sp>
        <p:nvSpPr>
          <p:cNvPr id="15" name="Text 13"/>
          <p:cNvSpPr/>
          <p:nvPr/>
        </p:nvSpPr>
        <p:spPr>
          <a:xfrm>
            <a:off x="868680" y="5166360"/>
            <a:ext cx="10424160" cy="960120"/>
          </a:xfrm>
          <a:prstGeom prst="rect">
            <a:avLst/>
          </a:prstGeom>
          <a:noFill/>
          <a:ln/>
        </p:spPr>
        <p:txBody>
          <a:bodyPr wrap="square" lIns="0" tIns="0" rIns="0" bIns="0" rtlCol="0" anchor="ctr"/>
          <a:lstStyle/>
          <a:p>
            <a:pPr indent="0" marL="0">
              <a:lnSpc>
                <a:spcPts val="2300"/>
              </a:lnSpc>
              <a:buNone/>
            </a:pPr>
            <a:r>
              <a:rPr lang="en-US" sz="1400" dirty="0">
                <a:solidFill>
                  <a:srgbClr val="FFFFFF"/>
                </a:solidFill>
                <a:latin typeface="Calibri" pitchFamily="34" charset="0"/>
                <a:ea typeface="Calibri" pitchFamily="34" charset="-122"/>
                <a:cs typeface="Calibri" pitchFamily="34" charset="-120"/>
              </a:rPr>
              <a:t>Membangun student ringan yang penurunan performanya saat kondisi berubah dari siang ke malam lebih kecil daripada student baseline, dengan jumlah parameter dan biaya inference yang sama persis, lalu membuktikan bahwa perbaikan tersebut berasal dari komponen distilasi tertentu dan konsisten antar training run.</a:t>
            </a:r>
            <a:endParaRPr lang="en-US" sz="1400" dirty="0"/>
          </a:p>
        </p:txBody>
      </p:sp>
      <p:sp>
        <p:nvSpPr>
          <p:cNvPr id="16" name="Text 1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1 DARI 5</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BDD100K, bukan dataset low light lain</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834640"/>
                <a:gridCol w="3017520"/>
                <a:gridCol w="2286000"/>
                <a:gridCol w="2926080"/>
              </a:tblGrid>
              <a:tr h="60350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Sifat</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Punya label waktu siang dan malam</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Kenapa tidak dipakai</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603504">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BDD100K [Yu et al., CVPR 2020]</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100.000 klip mengemudi nyata, 10 kelas deteksi, beragam cuaca dan lokasi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Ya, atribut timeofday bawaan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Dipakai. Satu satunya yang memungkinkan perbandingan siang dan malam terkontrol</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r>
              <a:tr h="60350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ExDark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Citra low light umum, bukan konteks mengemudi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semuanya gelap</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ada pembanding siang, jadi gap tidak bisa dihitung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0350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DarkFace</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Khusus wajah pada malam hari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Kelasnya tidak relevan dengan pengguna jalan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0350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nuScenes</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Data mengemudi multi sensor, fokus deteksi 3D</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Sebagian, porsi malam kecil</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seimbang dan fokusnya bukan deteksi 2D</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0350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Cityscapes</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Segmentasi jalan perkotaan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hampir seluruhnya siang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ada domain malam</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0350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SHIFT</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Data sintetis dengan variasi kondisi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Ya, tapi hasil rendering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Bukan citra nyata, hasilnya sulit digeneralisasi ke deployment</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669280"/>
            <a:ext cx="11064240" cy="749808"/>
          </a:xfrm>
          <a:prstGeom prst="roundRect">
            <a:avLst>
              <a:gd name="adj" fmla="val 9756"/>
            </a:avLst>
          </a:prstGeom>
          <a:solidFill>
            <a:srgbClr val="0E1E3C"/>
          </a:solidFill>
          <a:ln w="12700">
            <a:solidFill>
              <a:srgbClr val="0E1E3C"/>
            </a:solidFill>
            <a:prstDash val="solid"/>
          </a:ln>
        </p:spPr>
      </p:sp>
      <p:sp>
        <p:nvSpPr>
          <p:cNvPr id="6" name="Text 3"/>
          <p:cNvSpPr/>
          <p:nvPr/>
        </p:nvSpPr>
        <p:spPr>
          <a:xfrm>
            <a:off x="868680" y="5815584"/>
            <a:ext cx="10424160" cy="5029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Pemilihan dataset ini bukan kebetulan. Pertanyaan penelitian kami menuntut pembanding siang dan malam pada distribusi, kamera, dan taksonomi label yang sama. Tanpa itu, selisih yang terukur bisa berasal dari perbedaan dataset, bukan dari perbedaan cahaya.</a:t>
            </a:r>
            <a:endParaRPr lang="en-US" sz="1150" dirty="0"/>
          </a:p>
        </p:txBody>
      </p:sp>
      <p:sp>
        <p:nvSpPr>
          <p:cNvPr id="7" name="Text 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2 DARI 5</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Pembagian data dan penanganan ketidakseimbangan kelas</a:t>
            </a:r>
            <a:endParaRPr lang="en-US" sz="2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1920240"/>
                <a:gridCol w="1371600"/>
                <a:gridCol w="1371600"/>
                <a:gridCol w="1371600"/>
              </a:tblGrid>
              <a:tr h="420624">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Split</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Siang</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Malam</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420624">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Training</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8.000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8.000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16.000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4.000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Testing</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4.000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0E1E3C"/>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1200" dirty="0">
                          <a:solidFill>
                            <a:srgbClr val="0E1E3C"/>
                          </a:solidFill>
                          <a:latin typeface="Calibri" pitchFamily="34" charset="0"/>
                          <a:ea typeface="Calibri" pitchFamily="34" charset="-122"/>
                          <a:cs typeface="Calibri" pitchFamily="34" charset="-120"/>
                        </a:rPr>
                        <a:t>12.000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1200" dirty="0">
                          <a:solidFill>
                            <a:srgbClr val="0E1E3C"/>
                          </a:solidFill>
                          <a:latin typeface="Calibri" pitchFamily="34" charset="0"/>
                          <a:ea typeface="Calibri" pitchFamily="34" charset="-122"/>
                          <a:cs typeface="Calibri" pitchFamily="34" charset="-120"/>
                        </a:rPr>
                        <a:t>12.000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1200" dirty="0">
                          <a:solidFill>
                            <a:srgbClr val="0E1E3C"/>
                          </a:solidFill>
                          <a:latin typeface="Calibri" pitchFamily="34" charset="0"/>
                          <a:ea typeface="Calibri" pitchFamily="34" charset="-122"/>
                          <a:cs typeface="Calibri" pitchFamily="34" charset="-120"/>
                        </a:rPr>
                        <a:t>24.000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r>
            </a:tbl>
          </a:graphicData>
        </a:graphic>
      </p:graphicFrame>
      <p:sp>
        <p:nvSpPr>
          <p:cNvPr id="5" name="Shape 2"/>
          <p:cNvSpPr/>
          <p:nvPr/>
        </p:nvSpPr>
        <p:spPr>
          <a:xfrm>
            <a:off x="6858000" y="1417320"/>
            <a:ext cx="4754880" cy="2103120"/>
          </a:xfrm>
          <a:prstGeom prst="roundRect">
            <a:avLst>
              <a:gd name="adj" fmla="val 3478"/>
            </a:avLst>
          </a:prstGeom>
          <a:solidFill>
            <a:srgbClr val="F2F4F8"/>
          </a:solidFill>
          <a:ln w="12700">
            <a:solidFill>
              <a:srgbClr val="F2F4F8"/>
            </a:solidFill>
            <a:prstDash val="solid"/>
          </a:ln>
        </p:spPr>
      </p:sp>
      <p:sp>
        <p:nvSpPr>
          <p:cNvPr id="6" name="Text 3"/>
          <p:cNvSpPr/>
          <p:nvPr/>
        </p:nvSpPr>
        <p:spPr>
          <a:xfrm>
            <a:off x="7178040" y="1600200"/>
            <a:ext cx="4114800" cy="457200"/>
          </a:xfrm>
          <a:prstGeom prst="rect">
            <a:avLst/>
          </a:prstGeom>
          <a:noFill/>
          <a:ln/>
        </p:spPr>
        <p:txBody>
          <a:bodyPr wrap="square" lIns="0" tIns="0" rIns="0" bIns="0" rtlCol="0" anchor="ctr"/>
          <a:lstStyle/>
          <a:p>
            <a:pPr indent="0" marL="0">
              <a:buNone/>
            </a:pPr>
            <a:r>
              <a:rPr lang="en-US" sz="2400" b="1" dirty="0">
                <a:solidFill>
                  <a:srgbClr val="0E1E3C"/>
                </a:solidFill>
                <a:latin typeface="Cambria" pitchFamily="34" charset="0"/>
                <a:ea typeface="Cambria" pitchFamily="34" charset="-122"/>
                <a:cs typeface="Cambria" pitchFamily="34" charset="-120"/>
              </a:rPr>
              <a:t>9 kelas</a:t>
            </a:r>
            <a:endParaRPr lang="en-US" sz="2400" dirty="0"/>
          </a:p>
        </p:txBody>
      </p:sp>
      <p:sp>
        <p:nvSpPr>
          <p:cNvPr id="7" name="Text 4"/>
          <p:cNvSpPr/>
          <p:nvPr/>
        </p:nvSpPr>
        <p:spPr>
          <a:xfrm>
            <a:off x="7178040" y="2103120"/>
            <a:ext cx="4114800" cy="59436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bike, bus, car, motor, person, rider, traffic light, traffic sign, truck</a:t>
            </a:r>
            <a:endParaRPr lang="en-US" sz="1200" dirty="0"/>
          </a:p>
        </p:txBody>
      </p:sp>
      <p:sp>
        <p:nvSpPr>
          <p:cNvPr id="8" name="Text 5"/>
          <p:cNvSpPr/>
          <p:nvPr/>
        </p:nvSpPr>
        <p:spPr>
          <a:xfrm>
            <a:off x="7178040" y="2697480"/>
            <a:ext cx="4114800" cy="685800"/>
          </a:xfrm>
          <a:prstGeom prst="rect">
            <a:avLst/>
          </a:prstGeom>
          <a:noFill/>
          <a:ln/>
        </p:spPr>
        <p:txBody>
          <a:bodyPr wrap="square" lIns="0" tIns="0" rIns="0" bIns="0" rtlCol="0" anchor="ctr"/>
          <a:lstStyle/>
          <a:p>
            <a:pPr indent="0" marL="0">
              <a:buNone/>
            </a:pPr>
            <a:r>
              <a:rPr lang="en-US" sz="1100" i="1" dirty="0">
                <a:solidFill>
                  <a:srgbClr val="898781"/>
                </a:solidFill>
                <a:latin typeface="Calibri" pitchFamily="34" charset="0"/>
                <a:ea typeface="Calibri" pitchFamily="34" charset="-122"/>
                <a:cs typeface="Calibri" pitchFamily="34" charset="-120"/>
              </a:rPr>
              <a:t>Jumlah siang dan malam sengaja disamakan, supaya perbedaan performa yang terukur berasal dari kondisi cahaya, bukan dari jumlah data.</a:t>
            </a:r>
            <a:endParaRPr lang="en-US" sz="1100" dirty="0"/>
          </a:p>
        </p:txBody>
      </p:sp>
      <p:sp>
        <p:nvSpPr>
          <p:cNvPr id="9" name="Shape 6"/>
          <p:cNvSpPr/>
          <p:nvPr/>
        </p:nvSpPr>
        <p:spPr>
          <a:xfrm>
            <a:off x="548640" y="3703320"/>
            <a:ext cx="11064240" cy="1234440"/>
          </a:xfrm>
          <a:prstGeom prst="roundRect">
            <a:avLst>
              <a:gd name="adj" fmla="val 5926"/>
            </a:avLst>
          </a:prstGeom>
          <a:solidFill>
            <a:srgbClr val="0E1E3C"/>
          </a:solidFill>
          <a:ln w="12700">
            <a:solidFill>
              <a:srgbClr val="0E1E3C"/>
            </a:solidFill>
            <a:prstDash val="solid"/>
          </a:ln>
        </p:spPr>
      </p:sp>
      <p:sp>
        <p:nvSpPr>
          <p:cNvPr id="10" name="Text 7"/>
          <p:cNvSpPr/>
          <p:nvPr/>
        </p:nvSpPr>
        <p:spPr>
          <a:xfrm>
            <a:off x="868680" y="3858768"/>
            <a:ext cx="7315200" cy="320040"/>
          </a:xfrm>
          <a:prstGeom prst="rect">
            <a:avLst/>
          </a:prstGeom>
          <a:noFill/>
          <a:ln/>
        </p:spPr>
        <p:txBody>
          <a:bodyPr wrap="square" lIns="0" tIns="0" rIns="0" bIns="0" rtlCol="0" anchor="ctr"/>
          <a:lstStyle/>
          <a:p>
            <a:pPr indent="0" marL="0">
              <a:buNone/>
            </a:pPr>
            <a:r>
              <a:rPr lang="en-US" sz="1250" b="1" dirty="0">
                <a:solidFill>
                  <a:srgbClr val="EB6834"/>
                </a:solidFill>
                <a:latin typeface="Calibri" pitchFamily="34" charset="0"/>
                <a:ea typeface="Calibri" pitchFamily="34" charset="-122"/>
                <a:cs typeface="Calibri" pitchFamily="34" charset="-120"/>
              </a:rPr>
              <a:t>Kelas train dikeluarkan, dan alasannya kami tulis eksplisit</a:t>
            </a:r>
            <a:endParaRPr lang="en-US" sz="1250" dirty="0"/>
          </a:p>
        </p:txBody>
      </p:sp>
      <p:sp>
        <p:nvSpPr>
          <p:cNvPr id="11" name="Text 8"/>
          <p:cNvSpPr/>
          <p:nvPr/>
        </p:nvSpPr>
        <p:spPr>
          <a:xfrm>
            <a:off x="868680" y="4206240"/>
            <a:ext cx="10424160" cy="65836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Hanya 25 gambar training dan 3 instance pada test set, dengan rasio ketidakseimbangan 791 kali terhadap kelas car. Nilai AP yang dihitung dari 3 instance tidak bermakna secara statistik dan justru mendistorsi rata rata seluruh kelas. Seluruh pipeline dilatih ulang dari awal dengan 9 kelas, bukan sekadar difilter saat evaluasi.</a:t>
            </a:r>
            <a:endParaRPr lang="en-US" sz="1150" dirty="0"/>
          </a:p>
        </p:txBody>
      </p:sp>
      <p:sp>
        <p:nvSpPr>
          <p:cNvPr id="12" name="Shape 9"/>
          <p:cNvSpPr/>
          <p:nvPr/>
        </p:nvSpPr>
        <p:spPr>
          <a:xfrm>
            <a:off x="548640" y="5120640"/>
            <a:ext cx="11064240" cy="1143000"/>
          </a:xfrm>
          <a:prstGeom prst="roundRect">
            <a:avLst>
              <a:gd name="adj" fmla="val 6400"/>
            </a:avLst>
          </a:prstGeom>
          <a:solidFill>
            <a:srgbClr val="F2F4F8"/>
          </a:solidFill>
          <a:ln w="12700">
            <a:solidFill>
              <a:srgbClr val="F2F4F8"/>
            </a:solidFill>
            <a:prstDash val="solid"/>
          </a:ln>
        </p:spPr>
      </p:sp>
      <p:sp>
        <p:nvSpPr>
          <p:cNvPr id="13" name="Text 10"/>
          <p:cNvSpPr/>
          <p:nvPr/>
        </p:nvSpPr>
        <p:spPr>
          <a:xfrm>
            <a:off x="868680" y="5257800"/>
            <a:ext cx="7315200" cy="292608"/>
          </a:xfrm>
          <a:prstGeom prst="rect">
            <a:avLst/>
          </a:prstGeom>
          <a:noFill/>
          <a:ln/>
        </p:spPr>
        <p:txBody>
          <a:bodyPr wrap="square" lIns="0" tIns="0" rIns="0" bIns="0" rtlCol="0" anchor="ctr"/>
          <a:lstStyle/>
          <a:p>
            <a:pPr indent="0" marL="0">
              <a:buNone/>
            </a:pPr>
            <a:r>
              <a:rPr lang="en-US" sz="1200" b="1" dirty="0">
                <a:solidFill>
                  <a:srgbClr val="0E1E3C"/>
                </a:solidFill>
                <a:latin typeface="Calibri" pitchFamily="34" charset="0"/>
                <a:ea typeface="Calibri" pitchFamily="34" charset="-122"/>
                <a:cs typeface="Calibri" pitchFamily="34" charset="-120"/>
              </a:rPr>
              <a:t>Augmentasi yang dipakai</a:t>
            </a:r>
            <a:endParaRPr lang="en-US" sz="1200" dirty="0"/>
          </a:p>
        </p:txBody>
      </p:sp>
      <p:sp>
        <p:nvSpPr>
          <p:cNvPr id="14" name="Text 11"/>
          <p:cNvSpPr/>
          <p:nvPr/>
        </p:nvSpPr>
        <p:spPr>
          <a:xfrm>
            <a:off x="868680" y="5577840"/>
            <a:ext cx="10424160" cy="59436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Letterbox resize ke 640 x 640, horizontal flip, affine, Color Jitter, dan Blur. Dua yang terakhir dipilih untuk mensimulasikan luminansi rendah dan area buram, agar model belajar fitur semantik yang tidak bergantung pada tingkat cahaya.</a:t>
            </a:r>
            <a:endParaRPr lang="en-US" sz="1150" dirty="0"/>
          </a:p>
        </p:txBody>
      </p:sp>
      <p:sp>
        <p:nvSpPr>
          <p:cNvPr id="15" name="Text 12"/>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3 DARI 5</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Arsitektur lengkap kerangka distilasi</a:t>
            </a:r>
            <a:endParaRPr lang="en-US" sz="2700" dirty="0"/>
          </a:p>
        </p:txBody>
      </p:sp>
      <p:sp>
        <p:nvSpPr>
          <p:cNvPr id="4" name="Shape 2"/>
          <p:cNvSpPr/>
          <p:nvPr/>
        </p:nvSpPr>
        <p:spPr>
          <a:xfrm>
            <a:off x="548640" y="1371600"/>
            <a:ext cx="2606040" cy="1097280"/>
          </a:xfrm>
          <a:prstGeom prst="roundRect">
            <a:avLst>
              <a:gd name="adj" fmla="val 6667"/>
            </a:avLst>
          </a:prstGeom>
          <a:solidFill>
            <a:srgbClr val="F2F4F8"/>
          </a:solidFill>
          <a:ln w="12700">
            <a:solidFill>
              <a:srgbClr val="F2F4F8"/>
            </a:solidFill>
            <a:prstDash val="solid"/>
          </a:ln>
        </p:spPr>
      </p:sp>
      <p:sp>
        <p:nvSpPr>
          <p:cNvPr id="5" name="Text 3"/>
          <p:cNvSpPr/>
          <p:nvPr/>
        </p:nvSpPr>
        <p:spPr>
          <a:xfrm>
            <a:off x="731520" y="1481328"/>
            <a:ext cx="2240280" cy="310896"/>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Input 640 x 640</a:t>
            </a:r>
            <a:endParaRPr lang="en-US" sz="1250" dirty="0"/>
          </a:p>
        </p:txBody>
      </p:sp>
      <p:sp>
        <p:nvSpPr>
          <p:cNvPr id="6" name="Text 4"/>
          <p:cNvSpPr/>
          <p:nvPr/>
        </p:nvSpPr>
        <p:spPr>
          <a:xfrm>
            <a:off x="731520" y="1810512"/>
            <a:ext cx="2240280" cy="566928"/>
          </a:xfrm>
          <a:prstGeom prst="rect">
            <a:avLst/>
          </a:prstGeom>
          <a:noFill/>
          <a:ln/>
        </p:spPr>
        <p:txBody>
          <a:bodyPr wrap="square" lIns="0" tIns="0" rIns="0" bIns="0" rtlCol="0" anchor="ctr"/>
          <a:lstStyle/>
          <a:p>
            <a:pPr indent="0" marL="0">
              <a:buNone/>
            </a:pPr>
            <a:r>
              <a:rPr lang="en-US" sz="980" dirty="0">
                <a:solidFill>
                  <a:srgbClr val="52514E"/>
                </a:solidFill>
                <a:latin typeface="Calibri" pitchFamily="34" charset="0"/>
                <a:ea typeface="Calibri" pitchFamily="34" charset="-122"/>
                <a:cs typeface="Calibri" pitchFamily="34" charset="-120"/>
              </a:rPr>
              <a:t>batch citra siang dan malam tercampur</a:t>
            </a:r>
            <a:endParaRPr lang="en-US" sz="980" dirty="0"/>
          </a:p>
        </p:txBody>
      </p:sp>
      <p:sp>
        <p:nvSpPr>
          <p:cNvPr id="7" name="Shape 5"/>
          <p:cNvSpPr/>
          <p:nvPr/>
        </p:nvSpPr>
        <p:spPr>
          <a:xfrm>
            <a:off x="3172968" y="1920240"/>
            <a:ext cx="237744" cy="0"/>
          </a:xfrm>
          <a:prstGeom prst="line">
            <a:avLst/>
          </a:prstGeom>
          <a:noFill/>
          <a:ln w="19050">
            <a:solidFill>
              <a:srgbClr val="898781"/>
            </a:solidFill>
            <a:prstDash val="solid"/>
            <a:tailEnd type="triangle"/>
          </a:ln>
        </p:spPr>
      </p:sp>
      <p:sp>
        <p:nvSpPr>
          <p:cNvPr id="8" name="Shape 6"/>
          <p:cNvSpPr/>
          <p:nvPr/>
        </p:nvSpPr>
        <p:spPr>
          <a:xfrm>
            <a:off x="3429000" y="1371600"/>
            <a:ext cx="2606040" cy="1097280"/>
          </a:xfrm>
          <a:prstGeom prst="roundRect">
            <a:avLst>
              <a:gd name="adj" fmla="val 6667"/>
            </a:avLst>
          </a:prstGeom>
          <a:solidFill>
            <a:srgbClr val="F2F4F8"/>
          </a:solidFill>
          <a:ln w="12700">
            <a:solidFill>
              <a:srgbClr val="F2F4F8"/>
            </a:solidFill>
            <a:prstDash val="solid"/>
          </a:ln>
        </p:spPr>
      </p:sp>
      <p:sp>
        <p:nvSpPr>
          <p:cNvPr id="9" name="Text 7"/>
          <p:cNvSpPr/>
          <p:nvPr/>
        </p:nvSpPr>
        <p:spPr>
          <a:xfrm>
            <a:off x="3611880" y="1481328"/>
            <a:ext cx="2240280" cy="310896"/>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Teacher YOLOv8l</a:t>
            </a:r>
            <a:endParaRPr lang="en-US" sz="1250" dirty="0"/>
          </a:p>
        </p:txBody>
      </p:sp>
      <p:sp>
        <p:nvSpPr>
          <p:cNvPr id="10" name="Text 8"/>
          <p:cNvSpPr/>
          <p:nvPr/>
        </p:nvSpPr>
        <p:spPr>
          <a:xfrm>
            <a:off x="3611880" y="1810512"/>
            <a:ext cx="2240280" cy="566928"/>
          </a:xfrm>
          <a:prstGeom prst="rect">
            <a:avLst/>
          </a:prstGeom>
          <a:noFill/>
          <a:ln/>
        </p:spPr>
        <p:txBody>
          <a:bodyPr wrap="square" lIns="0" tIns="0" rIns="0" bIns="0" rtlCol="0" anchor="ctr"/>
          <a:lstStyle/>
          <a:p>
            <a:pPr indent="0" marL="0">
              <a:buNone/>
            </a:pPr>
            <a:r>
              <a:rPr lang="en-US" sz="980" dirty="0">
                <a:solidFill>
                  <a:srgbClr val="52514E"/>
                </a:solidFill>
                <a:latin typeface="Calibri" pitchFamily="34" charset="0"/>
                <a:ea typeface="Calibri" pitchFamily="34" charset="-122"/>
                <a:cs typeface="Calibri" pitchFamily="34" charset="-120"/>
              </a:rPr>
              <a:t>43,7 juta parameter, dibekukan, mode eval, tidak menerima gradien</a:t>
            </a:r>
            <a:endParaRPr lang="en-US" sz="980" dirty="0"/>
          </a:p>
        </p:txBody>
      </p:sp>
      <p:sp>
        <p:nvSpPr>
          <p:cNvPr id="11" name="Shape 9"/>
          <p:cNvSpPr/>
          <p:nvPr/>
        </p:nvSpPr>
        <p:spPr>
          <a:xfrm>
            <a:off x="6053328" y="1920240"/>
            <a:ext cx="237744" cy="0"/>
          </a:xfrm>
          <a:prstGeom prst="line">
            <a:avLst/>
          </a:prstGeom>
          <a:noFill/>
          <a:ln w="19050">
            <a:solidFill>
              <a:srgbClr val="898781"/>
            </a:solidFill>
            <a:prstDash val="solid"/>
            <a:tailEnd type="triangle"/>
          </a:ln>
        </p:spPr>
      </p:sp>
      <p:sp>
        <p:nvSpPr>
          <p:cNvPr id="12" name="Shape 10"/>
          <p:cNvSpPr/>
          <p:nvPr/>
        </p:nvSpPr>
        <p:spPr>
          <a:xfrm>
            <a:off x="6309360" y="1371600"/>
            <a:ext cx="2606040" cy="1097280"/>
          </a:xfrm>
          <a:prstGeom prst="roundRect">
            <a:avLst>
              <a:gd name="adj" fmla="val 6667"/>
            </a:avLst>
          </a:prstGeom>
          <a:solidFill>
            <a:srgbClr val="0E1E3C"/>
          </a:solidFill>
          <a:ln w="12700">
            <a:solidFill>
              <a:srgbClr val="0E1E3C"/>
            </a:solidFill>
            <a:prstDash val="solid"/>
          </a:ln>
        </p:spPr>
      </p:sp>
      <p:sp>
        <p:nvSpPr>
          <p:cNvPr id="13" name="Text 11"/>
          <p:cNvSpPr/>
          <p:nvPr/>
        </p:nvSpPr>
        <p:spPr>
          <a:xfrm>
            <a:off x="6492240" y="1481328"/>
            <a:ext cx="2240280" cy="310896"/>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Student YOLOv8s</a:t>
            </a:r>
            <a:endParaRPr lang="en-US" sz="1250" dirty="0"/>
          </a:p>
        </p:txBody>
      </p:sp>
      <p:sp>
        <p:nvSpPr>
          <p:cNvPr id="14" name="Text 12"/>
          <p:cNvSpPr/>
          <p:nvPr/>
        </p:nvSpPr>
        <p:spPr>
          <a:xfrm>
            <a:off x="6492240" y="1810512"/>
            <a:ext cx="2240280" cy="566928"/>
          </a:xfrm>
          <a:prstGeom prst="rect">
            <a:avLst/>
          </a:prstGeom>
          <a:noFill/>
          <a:ln/>
        </p:spPr>
        <p:txBody>
          <a:bodyPr wrap="square" lIns="0" tIns="0" rIns="0" bIns="0" rtlCol="0" anchor="ctr"/>
          <a:lstStyle/>
          <a:p>
            <a:pPr indent="0" marL="0">
              <a:buNone/>
            </a:pPr>
            <a:r>
              <a:rPr lang="en-US" sz="980" dirty="0">
                <a:solidFill>
                  <a:srgbClr val="CADCFC"/>
                </a:solidFill>
                <a:latin typeface="Calibri" pitchFamily="34" charset="0"/>
                <a:ea typeface="Calibri" pitchFamily="34" charset="-122"/>
                <a:cs typeface="Calibri" pitchFamily="34" charset="-120"/>
              </a:rPr>
              <a:t>11,2 juta parameter, seluruh layer dilatih, head disesuaikan ke 9 kelas</a:t>
            </a:r>
            <a:endParaRPr lang="en-US" sz="980" dirty="0"/>
          </a:p>
        </p:txBody>
      </p:sp>
      <p:sp>
        <p:nvSpPr>
          <p:cNvPr id="15" name="Shape 13"/>
          <p:cNvSpPr/>
          <p:nvPr/>
        </p:nvSpPr>
        <p:spPr>
          <a:xfrm>
            <a:off x="8933688" y="1920240"/>
            <a:ext cx="237744" cy="0"/>
          </a:xfrm>
          <a:prstGeom prst="line">
            <a:avLst/>
          </a:prstGeom>
          <a:noFill/>
          <a:ln w="19050">
            <a:solidFill>
              <a:srgbClr val="898781"/>
            </a:solidFill>
            <a:prstDash val="solid"/>
            <a:tailEnd type="triangle"/>
          </a:ln>
        </p:spPr>
      </p:sp>
      <p:sp>
        <p:nvSpPr>
          <p:cNvPr id="16" name="Shape 14"/>
          <p:cNvSpPr/>
          <p:nvPr/>
        </p:nvSpPr>
        <p:spPr>
          <a:xfrm>
            <a:off x="9189720" y="1371600"/>
            <a:ext cx="2606040" cy="1097280"/>
          </a:xfrm>
          <a:prstGeom prst="roundRect">
            <a:avLst>
              <a:gd name="adj" fmla="val 6667"/>
            </a:avLst>
          </a:prstGeom>
          <a:solidFill>
            <a:srgbClr val="0E1E3C"/>
          </a:solidFill>
          <a:ln w="12700">
            <a:solidFill>
              <a:srgbClr val="0E1E3C"/>
            </a:solidFill>
            <a:prstDash val="solid"/>
          </a:ln>
        </p:spPr>
      </p:sp>
      <p:sp>
        <p:nvSpPr>
          <p:cNvPr id="17" name="Text 15"/>
          <p:cNvSpPr/>
          <p:nvPr/>
        </p:nvSpPr>
        <p:spPr>
          <a:xfrm>
            <a:off x="9372600" y="1481328"/>
            <a:ext cx="2240280" cy="310896"/>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Model akhir</a:t>
            </a:r>
            <a:endParaRPr lang="en-US" sz="1250" dirty="0"/>
          </a:p>
        </p:txBody>
      </p:sp>
      <p:sp>
        <p:nvSpPr>
          <p:cNvPr id="18" name="Text 16"/>
          <p:cNvSpPr/>
          <p:nvPr/>
        </p:nvSpPr>
        <p:spPr>
          <a:xfrm>
            <a:off x="9372600" y="1810512"/>
            <a:ext cx="2240280" cy="566928"/>
          </a:xfrm>
          <a:prstGeom prst="rect">
            <a:avLst/>
          </a:prstGeom>
          <a:noFill/>
          <a:ln/>
        </p:spPr>
        <p:txBody>
          <a:bodyPr wrap="square" lIns="0" tIns="0" rIns="0" bIns="0" rtlCol="0" anchor="ctr"/>
          <a:lstStyle/>
          <a:p>
            <a:pPr indent="0" marL="0">
              <a:buNone/>
            </a:pPr>
            <a:r>
              <a:rPr lang="en-US" sz="980" dirty="0">
                <a:solidFill>
                  <a:srgbClr val="CADCFC"/>
                </a:solidFill>
                <a:latin typeface="Calibri" pitchFamily="34" charset="0"/>
                <a:ea typeface="Calibri" pitchFamily="34" charset="-122"/>
                <a:cs typeface="Calibri" pitchFamily="34" charset="-120"/>
              </a:rPr>
              <a:t>hanya student yang dikirim ke kendaraan</a:t>
            </a:r>
            <a:endParaRPr lang="en-US" sz="980" dirty="0"/>
          </a:p>
        </p:txBody>
      </p:sp>
      <p:sp>
        <p:nvSpPr>
          <p:cNvPr id="19" name="Shape 17"/>
          <p:cNvSpPr/>
          <p:nvPr/>
        </p:nvSpPr>
        <p:spPr>
          <a:xfrm>
            <a:off x="548640" y="2697480"/>
            <a:ext cx="11064240" cy="804672"/>
          </a:xfrm>
          <a:prstGeom prst="roundRect">
            <a:avLst>
              <a:gd name="adj" fmla="val 9091"/>
            </a:avLst>
          </a:prstGeom>
          <a:solidFill>
            <a:srgbClr val="EEF3FB"/>
          </a:solidFill>
          <a:ln w="12700">
            <a:solidFill>
              <a:srgbClr val="EEF3FB"/>
            </a:solidFill>
            <a:prstDash val="solid"/>
          </a:ln>
        </p:spPr>
      </p:sp>
      <p:sp>
        <p:nvSpPr>
          <p:cNvPr id="20" name="Shape 18"/>
          <p:cNvSpPr/>
          <p:nvPr/>
        </p:nvSpPr>
        <p:spPr>
          <a:xfrm>
            <a:off x="822960" y="2916936"/>
            <a:ext cx="365760" cy="365760"/>
          </a:xfrm>
          <a:prstGeom prst="ellipse">
            <a:avLst/>
          </a:prstGeom>
          <a:solidFill>
            <a:srgbClr val="2A78D6"/>
          </a:solidFill>
          <a:ln w="12700">
            <a:solidFill>
              <a:srgbClr val="2A78D6"/>
            </a:solidFill>
            <a:prstDash val="solid"/>
          </a:ln>
        </p:spPr>
      </p:sp>
      <p:sp>
        <p:nvSpPr>
          <p:cNvPr id="21" name="Text 19"/>
          <p:cNvSpPr/>
          <p:nvPr/>
        </p:nvSpPr>
        <p:spPr>
          <a:xfrm>
            <a:off x="822960" y="29169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2" name="Text 20"/>
          <p:cNvSpPr/>
          <p:nvPr/>
        </p:nvSpPr>
        <p:spPr>
          <a:xfrm>
            <a:off x="1371600" y="2752344"/>
            <a:ext cx="2468880" cy="685800"/>
          </a:xfrm>
          <a:prstGeom prst="rect">
            <a:avLst/>
          </a:prstGeom>
          <a:noFill/>
          <a:ln/>
        </p:spPr>
        <p:txBody>
          <a:bodyPr wrap="square" lIns="0" tIns="0" rIns="0" bIns="0" rtlCol="0" anchor="ctr"/>
          <a:lstStyle/>
          <a:p>
            <a:pPr indent="0" marL="0">
              <a:buNone/>
            </a:pPr>
            <a:r>
              <a:rPr lang="en-US" sz="1200" b="1" dirty="0">
                <a:solidFill>
                  <a:srgbClr val="0E1E3C"/>
                </a:solidFill>
                <a:latin typeface="Cambria" pitchFamily="34" charset="0"/>
                <a:ea typeface="Cambria" pitchFamily="34" charset="-122"/>
                <a:cs typeface="Cambria" pitchFamily="34" charset="-120"/>
              </a:rPr>
              <a:t>Feature distillation</a:t>
            </a:r>
            <a:endParaRPr lang="en-US" sz="1200" dirty="0"/>
          </a:p>
        </p:txBody>
      </p:sp>
      <p:sp>
        <p:nvSpPr>
          <p:cNvPr id="23" name="Text 21"/>
          <p:cNvSpPr/>
          <p:nvPr/>
        </p:nvSpPr>
        <p:spPr>
          <a:xfrm>
            <a:off x="3931920" y="2734056"/>
            <a:ext cx="5394960" cy="731520"/>
          </a:xfrm>
          <a:prstGeom prst="rect">
            <a:avLst/>
          </a:prstGeom>
          <a:noFill/>
          <a:ln/>
        </p:spPr>
        <p:txBody>
          <a:bodyPr wrap="square" lIns="0" tIns="0" rIns="0" bIns="0" rtlCol="0" anchor="ctr"/>
          <a:lstStyle/>
          <a:p>
            <a:pPr indent="0" marL="0">
              <a:buNone/>
            </a:pPr>
            <a:r>
              <a:rPr lang="en-US" sz="1030" dirty="0">
                <a:solidFill>
                  <a:srgbClr val="52514E"/>
                </a:solidFill>
                <a:latin typeface="Calibri" pitchFamily="34" charset="0"/>
                <a:ea typeface="Calibri" pitchFamily="34" charset="-122"/>
                <a:cs typeface="Calibri" pitchFamily="34" charset="-120"/>
              </a:rPr>
              <a:t>Hook pada layer 15, 18, 21 di neck, yaitu level P3, P4, dan P5. Adapter Conv 1x1 menyamakan jumlah channel student ke teacher, lalu Channel-wise Distillation membandingkan pola perhatian spasial</a:t>
            </a:r>
            <a:endParaRPr lang="en-US" sz="1030" dirty="0"/>
          </a:p>
        </p:txBody>
      </p:sp>
      <p:sp>
        <p:nvSpPr>
          <p:cNvPr id="24" name="Text 22"/>
          <p:cNvSpPr/>
          <p:nvPr/>
        </p:nvSpPr>
        <p:spPr>
          <a:xfrm>
            <a:off x="9464040" y="2734056"/>
            <a:ext cx="192024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Shu et al., ICCV 2021</a:t>
            </a:r>
            <a:endParaRPr lang="en-US" sz="900" dirty="0"/>
          </a:p>
        </p:txBody>
      </p:sp>
      <p:sp>
        <p:nvSpPr>
          <p:cNvPr id="25" name="Shape 23"/>
          <p:cNvSpPr/>
          <p:nvPr/>
        </p:nvSpPr>
        <p:spPr>
          <a:xfrm>
            <a:off x="548640" y="3593592"/>
            <a:ext cx="11064240" cy="804672"/>
          </a:xfrm>
          <a:prstGeom prst="roundRect">
            <a:avLst>
              <a:gd name="adj" fmla="val 9091"/>
            </a:avLst>
          </a:prstGeom>
          <a:solidFill>
            <a:srgbClr val="FFFFFF"/>
          </a:solidFill>
          <a:ln w="12700">
            <a:solidFill>
              <a:srgbClr val="FFFFFF"/>
            </a:solidFill>
            <a:prstDash val="solid"/>
          </a:ln>
        </p:spPr>
      </p:sp>
      <p:sp>
        <p:nvSpPr>
          <p:cNvPr id="26" name="Shape 24"/>
          <p:cNvSpPr/>
          <p:nvPr/>
        </p:nvSpPr>
        <p:spPr>
          <a:xfrm>
            <a:off x="822960" y="3813048"/>
            <a:ext cx="365760" cy="365760"/>
          </a:xfrm>
          <a:prstGeom prst="ellipse">
            <a:avLst/>
          </a:prstGeom>
          <a:solidFill>
            <a:srgbClr val="EB6834"/>
          </a:solidFill>
          <a:ln w="12700">
            <a:solidFill>
              <a:srgbClr val="EB6834"/>
            </a:solidFill>
            <a:prstDash val="solid"/>
          </a:ln>
        </p:spPr>
      </p:sp>
      <p:sp>
        <p:nvSpPr>
          <p:cNvPr id="27" name="Text 25"/>
          <p:cNvSpPr/>
          <p:nvPr/>
        </p:nvSpPr>
        <p:spPr>
          <a:xfrm>
            <a:off x="822960" y="3813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8" name="Text 26"/>
          <p:cNvSpPr/>
          <p:nvPr/>
        </p:nvSpPr>
        <p:spPr>
          <a:xfrm>
            <a:off x="1371600" y="3648456"/>
            <a:ext cx="2468880" cy="685800"/>
          </a:xfrm>
          <a:prstGeom prst="rect">
            <a:avLst/>
          </a:prstGeom>
          <a:noFill/>
          <a:ln/>
        </p:spPr>
        <p:txBody>
          <a:bodyPr wrap="square" lIns="0" tIns="0" rIns="0" bIns="0" rtlCol="0" anchor="ctr"/>
          <a:lstStyle/>
          <a:p>
            <a:pPr indent="0" marL="0">
              <a:buNone/>
            </a:pPr>
            <a:r>
              <a:rPr lang="en-US" sz="1200" b="1" dirty="0">
                <a:solidFill>
                  <a:srgbClr val="0E1E3C"/>
                </a:solidFill>
                <a:latin typeface="Cambria" pitchFamily="34" charset="0"/>
                <a:ea typeface="Cambria" pitchFamily="34" charset="-122"/>
                <a:cs typeface="Cambria" pitchFamily="34" charset="-120"/>
              </a:rPr>
              <a:t>Response distillation</a:t>
            </a:r>
            <a:endParaRPr lang="en-US" sz="1200" dirty="0"/>
          </a:p>
        </p:txBody>
      </p:sp>
      <p:sp>
        <p:nvSpPr>
          <p:cNvPr id="29" name="Text 27"/>
          <p:cNvSpPr/>
          <p:nvPr/>
        </p:nvSpPr>
        <p:spPr>
          <a:xfrm>
            <a:off x="3931920" y="3630168"/>
            <a:ext cx="5394960" cy="731520"/>
          </a:xfrm>
          <a:prstGeom prst="rect">
            <a:avLst/>
          </a:prstGeom>
          <a:noFill/>
          <a:ln/>
        </p:spPr>
        <p:txBody>
          <a:bodyPr wrap="square" lIns="0" tIns="0" rIns="0" bIns="0" rtlCol="0" anchor="ctr"/>
          <a:lstStyle/>
          <a:p>
            <a:pPr indent="0" marL="0">
              <a:buNone/>
            </a:pPr>
            <a:r>
              <a:rPr lang="en-US" sz="1030" dirty="0">
                <a:solidFill>
                  <a:srgbClr val="52514E"/>
                </a:solidFill>
                <a:latin typeface="Calibri" pitchFamily="34" charset="0"/>
                <a:ea typeface="Calibri" pitchFamily="34" charset="-122"/>
                <a:cs typeface="Calibri" pitchFamily="34" charset="-120"/>
              </a:rPr>
              <a:t>KL divergence antara class logits student dan teacher, dengan temperature 4,0 dan koreksi skala T kuadrat</a:t>
            </a:r>
            <a:endParaRPr lang="en-US" sz="1030" dirty="0"/>
          </a:p>
        </p:txBody>
      </p:sp>
      <p:sp>
        <p:nvSpPr>
          <p:cNvPr id="30" name="Text 28"/>
          <p:cNvSpPr/>
          <p:nvPr/>
        </p:nvSpPr>
        <p:spPr>
          <a:xfrm>
            <a:off x="9464040" y="3630168"/>
            <a:ext cx="192024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Hinton et al., 2015</a:t>
            </a:r>
            <a:endParaRPr lang="en-US" sz="900" dirty="0"/>
          </a:p>
        </p:txBody>
      </p:sp>
      <p:sp>
        <p:nvSpPr>
          <p:cNvPr id="31" name="Shape 29"/>
          <p:cNvSpPr/>
          <p:nvPr/>
        </p:nvSpPr>
        <p:spPr>
          <a:xfrm>
            <a:off x="548640" y="4489704"/>
            <a:ext cx="11064240" cy="804672"/>
          </a:xfrm>
          <a:prstGeom prst="roundRect">
            <a:avLst>
              <a:gd name="adj" fmla="val 9091"/>
            </a:avLst>
          </a:prstGeom>
          <a:solidFill>
            <a:srgbClr val="EEF3FB"/>
          </a:solidFill>
          <a:ln w="12700">
            <a:solidFill>
              <a:srgbClr val="EEF3FB"/>
            </a:solidFill>
            <a:prstDash val="solid"/>
          </a:ln>
        </p:spPr>
      </p:sp>
      <p:sp>
        <p:nvSpPr>
          <p:cNvPr id="32" name="Shape 30"/>
          <p:cNvSpPr/>
          <p:nvPr/>
        </p:nvSpPr>
        <p:spPr>
          <a:xfrm>
            <a:off x="822960" y="4709160"/>
            <a:ext cx="365760" cy="365760"/>
          </a:xfrm>
          <a:prstGeom prst="ellipse">
            <a:avLst/>
          </a:prstGeom>
          <a:solidFill>
            <a:srgbClr val="2A78D6"/>
          </a:solidFill>
          <a:ln w="12700">
            <a:solidFill>
              <a:srgbClr val="2A78D6"/>
            </a:solidFill>
            <a:prstDash val="solid"/>
          </a:ln>
        </p:spPr>
      </p:sp>
      <p:sp>
        <p:nvSpPr>
          <p:cNvPr id="33" name="Text 31"/>
          <p:cNvSpPr/>
          <p:nvPr/>
        </p:nvSpPr>
        <p:spPr>
          <a:xfrm>
            <a:off x="822960"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4" name="Text 32"/>
          <p:cNvSpPr/>
          <p:nvPr/>
        </p:nvSpPr>
        <p:spPr>
          <a:xfrm>
            <a:off x="1371600" y="4544568"/>
            <a:ext cx="2468880" cy="685800"/>
          </a:xfrm>
          <a:prstGeom prst="rect">
            <a:avLst/>
          </a:prstGeom>
          <a:noFill/>
          <a:ln/>
        </p:spPr>
        <p:txBody>
          <a:bodyPr wrap="square" lIns="0" tIns="0" rIns="0" bIns="0" rtlCol="0" anchor="ctr"/>
          <a:lstStyle/>
          <a:p>
            <a:pPr indent="0" marL="0">
              <a:buNone/>
            </a:pPr>
            <a:r>
              <a:rPr lang="en-US" sz="1200" b="1" dirty="0">
                <a:solidFill>
                  <a:srgbClr val="0E1E3C"/>
                </a:solidFill>
                <a:latin typeface="Cambria" pitchFamily="34" charset="0"/>
                <a:ea typeface="Cambria" pitchFamily="34" charset="-122"/>
                <a:cs typeface="Cambria" pitchFamily="34" charset="-120"/>
              </a:rPr>
              <a:t>Localization distillation</a:t>
            </a:r>
            <a:endParaRPr lang="en-US" sz="1200" dirty="0"/>
          </a:p>
        </p:txBody>
      </p:sp>
      <p:sp>
        <p:nvSpPr>
          <p:cNvPr id="35" name="Text 33"/>
          <p:cNvSpPr/>
          <p:nvPr/>
        </p:nvSpPr>
        <p:spPr>
          <a:xfrm>
            <a:off x="3931920" y="4526280"/>
            <a:ext cx="5394960" cy="731520"/>
          </a:xfrm>
          <a:prstGeom prst="rect">
            <a:avLst/>
          </a:prstGeom>
          <a:noFill/>
          <a:ln/>
        </p:spPr>
        <p:txBody>
          <a:bodyPr wrap="square" lIns="0" tIns="0" rIns="0" bIns="0" rtlCol="0" anchor="ctr"/>
          <a:lstStyle/>
          <a:p>
            <a:pPr indent="0" marL="0">
              <a:buNone/>
            </a:pPr>
            <a:r>
              <a:rPr lang="en-US" sz="1030" dirty="0">
                <a:solidFill>
                  <a:srgbClr val="52514E"/>
                </a:solidFill>
                <a:latin typeface="Calibri" pitchFamily="34" charset="0"/>
                <a:ea typeface="Calibri" pitchFamily="34" charset="-122"/>
                <a:cs typeface="Calibri" pitchFamily="34" charset="-120"/>
              </a:rPr>
              <a:t>KL divergence antara distribusi DFL bounding box, dengan temperature 2,0, dirata rata dari empat sisi kotak</a:t>
            </a:r>
            <a:endParaRPr lang="en-US" sz="1030" dirty="0"/>
          </a:p>
        </p:txBody>
      </p:sp>
      <p:sp>
        <p:nvSpPr>
          <p:cNvPr id="36" name="Text 34"/>
          <p:cNvSpPr/>
          <p:nvPr/>
        </p:nvSpPr>
        <p:spPr>
          <a:xfrm>
            <a:off x="9464040" y="4526280"/>
            <a:ext cx="192024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Zheng et al., CVPR 2022</a:t>
            </a:r>
            <a:endParaRPr lang="en-US" sz="900" dirty="0"/>
          </a:p>
        </p:txBody>
      </p:sp>
      <p:sp>
        <p:nvSpPr>
          <p:cNvPr id="37" name="Shape 35"/>
          <p:cNvSpPr/>
          <p:nvPr/>
        </p:nvSpPr>
        <p:spPr>
          <a:xfrm>
            <a:off x="548640" y="5385816"/>
            <a:ext cx="11064240" cy="804672"/>
          </a:xfrm>
          <a:prstGeom prst="roundRect">
            <a:avLst>
              <a:gd name="adj" fmla="val 9091"/>
            </a:avLst>
          </a:prstGeom>
          <a:solidFill>
            <a:srgbClr val="FFFFFF"/>
          </a:solidFill>
          <a:ln w="12700">
            <a:solidFill>
              <a:srgbClr val="FFFFFF"/>
            </a:solidFill>
            <a:prstDash val="solid"/>
          </a:ln>
        </p:spPr>
      </p:sp>
      <p:sp>
        <p:nvSpPr>
          <p:cNvPr id="38" name="Shape 36"/>
          <p:cNvSpPr/>
          <p:nvPr/>
        </p:nvSpPr>
        <p:spPr>
          <a:xfrm>
            <a:off x="822960" y="5605272"/>
            <a:ext cx="365760" cy="365760"/>
          </a:xfrm>
          <a:prstGeom prst="ellipse">
            <a:avLst/>
          </a:prstGeom>
          <a:solidFill>
            <a:srgbClr val="EB6834"/>
          </a:solidFill>
          <a:ln w="12700">
            <a:solidFill>
              <a:srgbClr val="EB6834"/>
            </a:solidFill>
            <a:prstDash val="solid"/>
          </a:ln>
        </p:spPr>
      </p:sp>
      <p:sp>
        <p:nvSpPr>
          <p:cNvPr id="39" name="Text 37"/>
          <p:cNvSpPr/>
          <p:nvPr/>
        </p:nvSpPr>
        <p:spPr>
          <a:xfrm>
            <a:off x="822960" y="560527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0" name="Text 38"/>
          <p:cNvSpPr/>
          <p:nvPr/>
        </p:nvSpPr>
        <p:spPr>
          <a:xfrm>
            <a:off x="1371600" y="5440680"/>
            <a:ext cx="2468880" cy="685800"/>
          </a:xfrm>
          <a:prstGeom prst="rect">
            <a:avLst/>
          </a:prstGeom>
          <a:noFill/>
          <a:ln/>
        </p:spPr>
        <p:txBody>
          <a:bodyPr wrap="square" lIns="0" tIns="0" rIns="0" bIns="0" rtlCol="0" anchor="ctr"/>
          <a:lstStyle/>
          <a:p>
            <a:pPr indent="0" marL="0">
              <a:buNone/>
            </a:pPr>
            <a:r>
              <a:rPr lang="en-US" sz="1200" b="1" dirty="0">
                <a:solidFill>
                  <a:srgbClr val="0E1E3C"/>
                </a:solidFill>
                <a:latin typeface="Cambria" pitchFamily="34" charset="0"/>
                <a:ea typeface="Cambria" pitchFamily="34" charset="-122"/>
                <a:cs typeface="Cambria" pitchFamily="34" charset="-120"/>
              </a:rPr>
              <a:t>Anchor weighting</a:t>
            </a:r>
            <a:endParaRPr lang="en-US" sz="1200" dirty="0"/>
          </a:p>
        </p:txBody>
      </p:sp>
      <p:sp>
        <p:nvSpPr>
          <p:cNvPr id="41" name="Text 39"/>
          <p:cNvSpPr/>
          <p:nvPr/>
        </p:nvSpPr>
        <p:spPr>
          <a:xfrm>
            <a:off x="3931920" y="5422392"/>
            <a:ext cx="5394960" cy="731520"/>
          </a:xfrm>
          <a:prstGeom prst="rect">
            <a:avLst/>
          </a:prstGeom>
          <a:noFill/>
          <a:ln/>
        </p:spPr>
        <p:txBody>
          <a:bodyPr wrap="square" lIns="0" tIns="0" rIns="0" bIns="0" rtlCol="0" anchor="ctr"/>
          <a:lstStyle/>
          <a:p>
            <a:pPr indent="0" marL="0">
              <a:buNone/>
            </a:pPr>
            <a:r>
              <a:rPr lang="en-US" sz="1030" dirty="0">
                <a:solidFill>
                  <a:srgbClr val="52514E"/>
                </a:solidFill>
                <a:latin typeface="Calibri" pitchFamily="34" charset="0"/>
                <a:ea typeface="Calibri" pitchFamily="34" charset="-122"/>
                <a:cs typeface="Calibri" pitchFamily="34" charset="-120"/>
              </a:rPr>
              <a:t>Bobot kontinu w sama dengan akar dari confidence teacher, diterapkan pada dua jalur di atas, lalu dinormalisasi menjadi weighted mean</a:t>
            </a:r>
            <a:endParaRPr lang="en-US" sz="1030" dirty="0"/>
          </a:p>
        </p:txBody>
      </p:sp>
      <p:sp>
        <p:nvSpPr>
          <p:cNvPr id="42" name="Text 40"/>
          <p:cNvSpPr/>
          <p:nvPr/>
        </p:nvSpPr>
        <p:spPr>
          <a:xfrm>
            <a:off x="9464040" y="5422392"/>
            <a:ext cx="192024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Lan dan Tian, ICPR 2022</a:t>
            </a:r>
            <a:endParaRPr lang="en-US" sz="900" dirty="0"/>
          </a:p>
        </p:txBody>
      </p:sp>
      <p:sp>
        <p:nvSpPr>
          <p:cNvPr id="43" name="Text 41"/>
          <p:cNvSpPr/>
          <p:nvPr/>
        </p:nvSpPr>
        <p:spPr>
          <a:xfrm>
            <a:off x="548640" y="6309360"/>
            <a:ext cx="11064240" cy="329184"/>
          </a:xfrm>
          <a:prstGeom prst="rect">
            <a:avLst/>
          </a:prstGeom>
          <a:noFill/>
          <a:ln/>
        </p:spPr>
        <p:txBody>
          <a:bodyPr wrap="square" lIns="0" tIns="0" rIns="0" bIns="0" rtlCol="0" anchor="ctr"/>
          <a:lstStyle/>
          <a:p>
            <a:pPr indent="0" marL="0">
              <a:buNone/>
            </a:pPr>
            <a:r>
              <a:rPr lang="en-US" sz="1200" b="1" i="1" dirty="0">
                <a:solidFill>
                  <a:srgbClr val="0E1E3C"/>
                </a:solidFill>
                <a:latin typeface="Calibri" pitchFamily="34" charset="0"/>
                <a:ea typeface="Calibri" pitchFamily="34" charset="-122"/>
                <a:cs typeface="Calibri" pitchFamily="34" charset="-120"/>
              </a:rPr>
              <a:t>Perhatikan bahwa seluruh jalur distilasi hanya aktif saat training. Saat inference, tidak ada satu pun operasi tambahan.</a:t>
            </a:r>
            <a:endParaRPr lang="en-US" sz="1200" dirty="0"/>
          </a:p>
        </p:txBody>
      </p:sp>
      <p:sp>
        <p:nvSpPr>
          <p:cNvPr id="44" name="Text 42"/>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4 DARI 5</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Fungsi objektif dan konfigurasi lengkap</a:t>
            </a:r>
            <a:endParaRPr lang="en-US" sz="2700" dirty="0"/>
          </a:p>
        </p:txBody>
      </p:sp>
      <p:sp>
        <p:nvSpPr>
          <p:cNvPr id="4" name="Shape 2"/>
          <p:cNvSpPr/>
          <p:nvPr/>
        </p:nvSpPr>
        <p:spPr>
          <a:xfrm>
            <a:off x="548640" y="1325880"/>
            <a:ext cx="11064240" cy="777240"/>
          </a:xfrm>
          <a:prstGeom prst="roundRect">
            <a:avLst>
              <a:gd name="adj" fmla="val 9412"/>
            </a:avLst>
          </a:prstGeom>
          <a:solidFill>
            <a:srgbClr val="0E1E3C"/>
          </a:solidFill>
          <a:ln w="12700">
            <a:solidFill>
              <a:srgbClr val="0E1E3C"/>
            </a:solidFill>
            <a:prstDash val="solid"/>
          </a:ln>
        </p:spPr>
      </p:sp>
      <p:sp>
        <p:nvSpPr>
          <p:cNvPr id="5" name="Text 3"/>
          <p:cNvSpPr/>
          <p:nvPr/>
        </p:nvSpPr>
        <p:spPr>
          <a:xfrm>
            <a:off x="548640" y="1481328"/>
            <a:ext cx="1106424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L_total  =  alpha x L_task  +  beta(t) x ( L_cls_KD + L_DFL_KD )  +  gamma x L_CWD</a:t>
            </a:r>
            <a:endParaRPr lang="en-US" sz="1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64240" cy="914400"/>
        </p:xfrm>
        <a:graphic>
          <a:graphicData uri="http://schemas.openxmlformats.org/drawingml/2006/table">
            <a:tbl>
              <a:tblPr/>
              <a:tblGrid>
                <a:gridCol w="1371600"/>
                <a:gridCol w="3931920"/>
                <a:gridCol w="1737360"/>
                <a:gridCol w="4023360"/>
              </a:tblGrid>
              <a:tr h="56692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Suku</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Isi</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Bobot</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Catatan</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566928">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L_task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v8DetectionLoss standar terhadap ground truth</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alpha = 0,7</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Jangkar kebenaran. Student tidak boleh ikut salah kalau teacher salah, dan ini yang menjaganya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L_cls_KD</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KL divergence pada class logits, T = 4,0, dikali T kuadrat</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bagian dari beta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Soft label membawa informasi kemiripan antar kelas</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L_DFL_KD</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KL divergence pada distribusi DFL kotak, T = 2,0</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bagian dari beta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Membawa ketidakpastian lokasi, penting saat tepi objek kabur</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L_CWD</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KL pada softmax spasial per channel, tau = 4,0, pada layer 15, 18, 21</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gamma = 0,03</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Mentransfer di mana teacher melihat, bukan besar aktivasinya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beta(t)</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konstan. Cosine decay dari 0,35 ke 0,10 sepanjang training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0,35 turun ke 0,10</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Awal training dipandu teacher, akhir training dipandu ground truth</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806440"/>
            <a:ext cx="11064240" cy="621792"/>
          </a:xfrm>
          <a:prstGeom prst="roundRect">
            <a:avLst>
              <a:gd name="adj" fmla="val 11765"/>
            </a:avLst>
          </a:prstGeom>
          <a:solidFill>
            <a:srgbClr val="F2F4F8"/>
          </a:solidFill>
          <a:ln w="12700">
            <a:solidFill>
              <a:srgbClr val="F2F4F8"/>
            </a:solidFill>
            <a:prstDash val="solid"/>
          </a:ln>
        </p:spPr>
      </p:sp>
      <p:sp>
        <p:nvSpPr>
          <p:cNvPr id="8" name="Text 5"/>
          <p:cNvSpPr/>
          <p:nvPr/>
        </p:nvSpPr>
        <p:spPr>
          <a:xfrm>
            <a:off x="868680" y="5925312"/>
            <a:ext cx="10424160" cy="384048"/>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Optimizer AdamW, learning rate 1e-4, weight decay 0,05, batch size 16, warmup 3 epoch lalu cosine annealing, early stopping berbasis validation loss gabungan siang dan malam.</a:t>
            </a:r>
            <a:endParaRPr lang="en-US" sz="1150" dirty="0"/>
          </a:p>
        </p:txBody>
      </p:sp>
      <p:sp>
        <p:nvSpPr>
          <p:cNvPr id="9" name="Text 6"/>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5 DARI 5</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Tiga perubahan mekanisme terhadap KD standar</a:t>
            </a:r>
            <a:endParaRPr lang="en-US" sz="2700" dirty="0"/>
          </a:p>
        </p:txBody>
      </p:sp>
      <p:sp>
        <p:nvSpPr>
          <p:cNvPr id="4" name="Text 2"/>
          <p:cNvSpPr/>
          <p:nvPr/>
        </p:nvSpPr>
        <p:spPr>
          <a:xfrm>
            <a:off x="548640" y="1298448"/>
            <a:ext cx="11064240" cy="548640"/>
          </a:xfrm>
          <a:prstGeom prst="rect">
            <a:avLst/>
          </a:prstGeom>
          <a:noFill/>
          <a:ln/>
        </p:spPr>
        <p:txBody>
          <a:bodyPr wrap="square" lIns="0" tIns="0" rIns="0" bIns="0" rtlCol="0" anchor="ctr"/>
          <a:lstStyle/>
          <a:p>
            <a:pPr indent="0" marL="0">
              <a:buNone/>
            </a:pPr>
            <a:r>
              <a:rPr lang="en-US" sz="1200" i="1" dirty="0">
                <a:solidFill>
                  <a:srgbClr val="52514E"/>
                </a:solidFill>
                <a:latin typeface="Calibri" pitchFamily="34" charset="0"/>
                <a:ea typeface="Calibri" pitchFamily="34" charset="-122"/>
                <a:cs typeface="Calibri" pitchFamily="34" charset="-120"/>
              </a:rPr>
              <a:t>Kami tidak mengklaim menciptakan ketiga teknik ini. Yang kami klaim adalah alasan pemilihannya, yaitu ketiganya dipilih untuk menyerang mode kegagalan spesifik kondisi gelap, dan kontribusinya kami buktikan lewat ablation.</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1417320"/>
                <a:gridCol w="2240280"/>
                <a:gridCol w="2468880"/>
                <a:gridCol w="3200400"/>
                <a:gridCol w="1737360"/>
              </a:tblGrid>
              <a:tr h="93268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Aspek</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Praktik umum</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Yang kami pakai</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Alasan spesifik kondisi malam</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Diadaptasi dari</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932688">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Pemilihan anchor</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Hard threshold, anchor di bawah ambang dibuang total</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Soft weighting, bobot kontinu w = akar dari confidence teacher</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Objek samar justru yang paling butuh bimbingan. Membuangnya sama dengan membuang kasus yang ingin diperbaiki</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Lan dan Tian, ICPR 2022</a:t>
                      </a:r>
                      <a:endParaRPr lang="en-US" sz="950" dirty="0">
                        <a:latin typeface="Calibri" charset="0"/>
                        <a:ea typeface="Calibri" charset="0"/>
                        <a:cs typeface="Calibri" charset="0"/>
                      </a:endParaRPr>
                    </a:p>
                    <a:p>
                      <a:pPr algn="l" indent="0" marL="0">
                        <a:buNone/>
                      </a:pPr>
                      <a:r>
                        <a:rPr lang="en-US" sz="950" dirty="0">
                          <a:solidFill>
                            <a:srgbClr val="52514E"/>
                          </a:solidFill>
                          <a:latin typeface="Calibri" pitchFamily="34" charset="0"/>
                          <a:ea typeface="Calibri" pitchFamily="34" charset="-122"/>
                          <a:cs typeface="Calibri" pitchFamily="34" charset="-120"/>
                        </a:rPr>
                        <a:t>dan WACV 2024</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932688">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Bobot distilasi</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beta konstan sepanjang training</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Cosine decay dari 0,35 ke 0,10</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Di awal student belum punya representasi sendiri sehingga butuh teacher. Di akhir dominasi teacher menekan recall</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Prinsip curriculum, sejalan</a:t>
                      </a:r>
                      <a:endParaRPr lang="en-US" sz="950" dirty="0">
                        <a:latin typeface="Calibri" charset="0"/>
                        <a:ea typeface="Calibri" charset="0"/>
                        <a:cs typeface="Calibri" charset="0"/>
                      </a:endParaRPr>
                    </a:p>
                    <a:p>
                      <a:pPr algn="l" indent="0" marL="0">
                        <a:buNone/>
                      </a:pPr>
                      <a:r>
                        <a:rPr lang="en-US" sz="950" dirty="0">
                          <a:solidFill>
                            <a:srgbClr val="52514E"/>
                          </a:solidFill>
                          <a:latin typeface="Calibri" pitchFamily="34" charset="0"/>
                          <a:ea typeface="Calibri" pitchFamily="34" charset="-122"/>
                          <a:cs typeface="Calibri" pitchFamily="34" charset="-120"/>
                        </a:rPr>
                        <a:t>dengan Yao et al., GRSL 2024</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932688">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Transfer fitur</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MSE pada activation map</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Channel-wise Distillation, KL pada softmax spasial per channel</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Cahaya mengubah magnitudo aktivasi. MSE memaksa student meniru magnitudo yang bergantung cahaya. Softmax spasial menormalkannya, jadi yang ditransfer murni pola perhatian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Shu et al., ICCV 2021</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6" name="Text 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ANTISIPASI PERTANYAAN</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memakai CWD yang terbit 2021, bukan metode yang lebih baru</a:t>
            </a:r>
            <a:endParaRPr lang="en-US" sz="2700" dirty="0"/>
          </a:p>
        </p:txBody>
      </p:sp>
      <p:sp>
        <p:nvSpPr>
          <p:cNvPr id="4" name="Shape 2"/>
          <p:cNvSpPr/>
          <p:nvPr/>
        </p:nvSpPr>
        <p:spPr>
          <a:xfrm>
            <a:off x="548640" y="1371600"/>
            <a:ext cx="6949440" cy="1188720"/>
          </a:xfrm>
          <a:prstGeom prst="roundRect">
            <a:avLst>
              <a:gd name="adj" fmla="val 6154"/>
            </a:avLst>
          </a:prstGeom>
          <a:solidFill>
            <a:srgbClr val="F2F4F8"/>
          </a:solidFill>
          <a:ln w="12700">
            <a:solidFill>
              <a:srgbClr val="F2F4F8"/>
            </a:solidFill>
            <a:prstDash val="solid"/>
          </a:ln>
        </p:spPr>
      </p:sp>
      <p:sp>
        <p:nvSpPr>
          <p:cNvPr id="5" name="Shape 3"/>
          <p:cNvSpPr/>
          <p:nvPr/>
        </p:nvSpPr>
        <p:spPr>
          <a:xfrm>
            <a:off x="822960" y="1783080"/>
            <a:ext cx="365760" cy="365760"/>
          </a:xfrm>
          <a:prstGeom prst="ellipse">
            <a:avLst/>
          </a:prstGeom>
          <a:solidFill>
            <a:srgbClr val="2A78D6"/>
          </a:solidFill>
          <a:ln w="12700">
            <a:solidFill>
              <a:srgbClr val="2A78D6"/>
            </a:solidFill>
            <a:prstDash val="solid"/>
          </a:ln>
        </p:spPr>
      </p:sp>
      <p:sp>
        <p:nvSpPr>
          <p:cNvPr id="6" name="Text 4"/>
          <p:cNvSpPr/>
          <p:nvPr/>
        </p:nvSpPr>
        <p:spPr>
          <a:xfrm>
            <a:off x="822960" y="17830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1517904"/>
            <a:ext cx="5852160" cy="3200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Alasannya cocok dengan masalah, bukan soal tahun</a:t>
            </a:r>
            <a:endParaRPr lang="en-US" sz="1300" dirty="0"/>
          </a:p>
        </p:txBody>
      </p:sp>
      <p:sp>
        <p:nvSpPr>
          <p:cNvPr id="8" name="Text 6"/>
          <p:cNvSpPr/>
          <p:nvPr/>
        </p:nvSpPr>
        <p:spPr>
          <a:xfrm>
            <a:off x="1371600" y="1856232"/>
            <a:ext cx="5852160" cy="6400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Softmax spasial per channel membuat transfer fitur tidak bergantung pada magnitudo aktivasi. Justru magnitudo itulah yang berubah ketika cahaya berkurang. Tidak ada metode yang lebih baru dengan sifat ini yang sudah terverifikasi untuk neck YOLO</a:t>
            </a:r>
            <a:endParaRPr lang="en-US" sz="1050" dirty="0"/>
          </a:p>
        </p:txBody>
      </p:sp>
      <p:sp>
        <p:nvSpPr>
          <p:cNvPr id="9" name="Shape 7"/>
          <p:cNvSpPr/>
          <p:nvPr/>
        </p:nvSpPr>
        <p:spPr>
          <a:xfrm>
            <a:off x="548640" y="2670048"/>
            <a:ext cx="6949440" cy="1188720"/>
          </a:xfrm>
          <a:prstGeom prst="roundRect">
            <a:avLst>
              <a:gd name="adj" fmla="val 6154"/>
            </a:avLst>
          </a:prstGeom>
          <a:solidFill>
            <a:srgbClr val="F2F4F8"/>
          </a:solidFill>
          <a:ln w="12700">
            <a:solidFill>
              <a:srgbClr val="F2F4F8"/>
            </a:solidFill>
            <a:prstDash val="solid"/>
          </a:ln>
        </p:spPr>
      </p:sp>
      <p:sp>
        <p:nvSpPr>
          <p:cNvPr id="10" name="Shape 8"/>
          <p:cNvSpPr/>
          <p:nvPr/>
        </p:nvSpPr>
        <p:spPr>
          <a:xfrm>
            <a:off x="822960" y="3081528"/>
            <a:ext cx="365760" cy="365760"/>
          </a:xfrm>
          <a:prstGeom prst="ellipse">
            <a:avLst/>
          </a:prstGeom>
          <a:solidFill>
            <a:srgbClr val="2A78D6"/>
          </a:solidFill>
          <a:ln w="12700">
            <a:solidFill>
              <a:srgbClr val="2A78D6"/>
            </a:solidFill>
            <a:prstDash val="solid"/>
          </a:ln>
        </p:spPr>
      </p:sp>
      <p:sp>
        <p:nvSpPr>
          <p:cNvPr id="11" name="Text 9"/>
          <p:cNvSpPr/>
          <p:nvPr/>
        </p:nvSpPr>
        <p:spPr>
          <a:xfrm>
            <a:off x="822960" y="30815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371600" y="2816352"/>
            <a:ext cx="5852160" cy="3200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Biaya tambahan paling kecil</a:t>
            </a:r>
            <a:endParaRPr lang="en-US" sz="1300" dirty="0"/>
          </a:p>
        </p:txBody>
      </p:sp>
      <p:sp>
        <p:nvSpPr>
          <p:cNvPr id="13" name="Text 11"/>
          <p:cNvSpPr/>
          <p:nvPr/>
        </p:nvSpPr>
        <p:spPr>
          <a:xfrm>
            <a:off x="1371600" y="3154680"/>
            <a:ext cx="5852160" cy="6400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Hanya satu Conv 1x1 per level sebagai adapter, tanpa BN, tanpa ReLU, tanpa generator. Metode seperti MGD memerlukan generator tambahan dan PKD serta FreeKD memerlukan modul frekuensi atau korelasi yang menambah biaya training</a:t>
            </a:r>
            <a:endParaRPr lang="en-US" sz="1050" dirty="0"/>
          </a:p>
        </p:txBody>
      </p:sp>
      <p:sp>
        <p:nvSpPr>
          <p:cNvPr id="14" name="Shape 12"/>
          <p:cNvSpPr/>
          <p:nvPr/>
        </p:nvSpPr>
        <p:spPr>
          <a:xfrm>
            <a:off x="548640" y="3968496"/>
            <a:ext cx="6949440" cy="1188720"/>
          </a:xfrm>
          <a:prstGeom prst="roundRect">
            <a:avLst>
              <a:gd name="adj" fmla="val 6154"/>
            </a:avLst>
          </a:prstGeom>
          <a:solidFill>
            <a:srgbClr val="0E1E3C"/>
          </a:solidFill>
          <a:ln w="12700">
            <a:solidFill>
              <a:srgbClr val="0E1E3C"/>
            </a:solidFill>
            <a:prstDash val="solid"/>
          </a:ln>
        </p:spPr>
      </p:sp>
      <p:sp>
        <p:nvSpPr>
          <p:cNvPr id="15" name="Shape 13"/>
          <p:cNvSpPr/>
          <p:nvPr/>
        </p:nvSpPr>
        <p:spPr>
          <a:xfrm>
            <a:off x="822960" y="4379976"/>
            <a:ext cx="365760" cy="365760"/>
          </a:xfrm>
          <a:prstGeom prst="ellipse">
            <a:avLst/>
          </a:prstGeom>
          <a:solidFill>
            <a:srgbClr val="EB6834"/>
          </a:solidFill>
          <a:ln w="12700">
            <a:solidFill>
              <a:srgbClr val="EB6834"/>
            </a:solidFill>
            <a:prstDash val="solid"/>
          </a:ln>
        </p:spPr>
      </p:sp>
      <p:sp>
        <p:nvSpPr>
          <p:cNvPr id="16" name="Text 14"/>
          <p:cNvSpPr/>
          <p:nvPr/>
        </p:nvSpPr>
        <p:spPr>
          <a:xfrm>
            <a:off x="822960" y="437997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71600" y="4114800"/>
            <a:ext cx="5852160" cy="32004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Kami punya bukti empirisnya</a:t>
            </a:r>
            <a:endParaRPr lang="en-US" sz="1300" dirty="0"/>
          </a:p>
        </p:txBody>
      </p:sp>
      <p:sp>
        <p:nvSpPr>
          <p:cNvPr id="18" name="Text 16"/>
          <p:cNvSpPr/>
          <p:nvPr/>
        </p:nvSpPr>
        <p:spPr>
          <a:xfrm>
            <a:off x="1371600" y="4453128"/>
            <a:ext cx="5852160" cy="64008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Ablation kami menunjukkan komponen ini menyumbang 46 persen dari total pengecilan gap, dan efeknya hampir seluruhnya pada kondisi malam. Ini bukti fungsional, bukan argumen tahun terbit</a:t>
            </a:r>
            <a:endParaRPr lang="en-US" sz="1050" dirty="0"/>
          </a:p>
        </p:txBody>
      </p:sp>
      <p:sp>
        <p:nvSpPr>
          <p:cNvPr id="19" name="Shape 17"/>
          <p:cNvSpPr/>
          <p:nvPr/>
        </p:nvSpPr>
        <p:spPr>
          <a:xfrm>
            <a:off x="7772400" y="1371600"/>
            <a:ext cx="3840480" cy="3858768"/>
          </a:xfrm>
          <a:prstGeom prst="roundRect">
            <a:avLst>
              <a:gd name="adj" fmla="val 1905"/>
            </a:avLst>
          </a:prstGeom>
          <a:solidFill>
            <a:srgbClr val="EEF3FB"/>
          </a:solidFill>
          <a:ln w="12700">
            <a:solidFill>
              <a:srgbClr val="EEF3FB"/>
            </a:solidFill>
            <a:prstDash val="solid"/>
          </a:ln>
        </p:spPr>
      </p:sp>
      <p:sp>
        <p:nvSpPr>
          <p:cNvPr id="20" name="Text 18"/>
          <p:cNvSpPr/>
          <p:nvPr/>
        </p:nvSpPr>
        <p:spPr>
          <a:xfrm>
            <a:off x="8046720" y="1536192"/>
            <a:ext cx="3291840" cy="548640"/>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CWD masih hidup di literatur terbaru</a:t>
            </a:r>
            <a:endParaRPr lang="en-US" sz="1350" dirty="0"/>
          </a:p>
        </p:txBody>
      </p:sp>
      <p:sp>
        <p:nvSpPr>
          <p:cNvPr id="21" name="Text 19"/>
          <p:cNvSpPr/>
          <p:nvPr/>
        </p:nvSpPr>
        <p:spPr>
          <a:xfrm>
            <a:off x="8046720" y="2121408"/>
            <a:ext cx="3291840" cy="2926080"/>
          </a:xfrm>
          <a:prstGeom prst="rect">
            <a:avLst/>
          </a:prstGeom>
          <a:noFill/>
          <a:ln/>
        </p:spPr>
        <p:txBody>
          <a:bodyPr wrap="square" lIns="0" tIns="0" rIns="0" bIns="0" rtlCol="0" anchor="t"/>
          <a:lstStyle/>
          <a:p>
            <a:pPr marL="342900" indent="-342900">
              <a:spcAft>
                <a:spcPts val="1000"/>
              </a:spcAft>
              <a:buSzPct val="100000"/>
              <a:buChar char="•"/>
            </a:pPr>
            <a:r>
              <a:rPr lang="en-US" sz="1030" dirty="0">
                <a:solidFill>
                  <a:srgbClr val="52514E"/>
                </a:solidFill>
                <a:latin typeface="Calibri" pitchFamily="34" charset="0"/>
                <a:ea typeface="Calibri" pitchFamily="34" charset="-122"/>
                <a:cs typeface="Calibri" pitchFamily="34" charset="-120"/>
              </a:rPr>
              <a:t>Shu et al., Channel-wise KD for Dense Prediction, ICCV 2021, karya aslinya</a:t>
            </a:r>
            <a:endParaRPr lang="en-US" sz="1030" dirty="0"/>
          </a:p>
          <a:p>
            <a:pPr marL="342900" indent="-342900">
              <a:spcAft>
                <a:spcPts val="1000"/>
              </a:spcAft>
              <a:buSzPct val="100000"/>
              <a:buChar char="•"/>
            </a:pPr>
            <a:r>
              <a:rPr lang="en-US" sz="1030" dirty="0">
                <a:solidFill>
                  <a:srgbClr val="52514E"/>
                </a:solidFill>
                <a:latin typeface="Calibri" pitchFamily="34" charset="0"/>
                <a:ea typeface="Calibri" pitchFamily="34" charset="-122"/>
                <a:cs typeface="Calibri" pitchFamily="34" charset="-120"/>
              </a:rPr>
              <a:t>Masih dijadikan rujukan pembanding pada Foreground Separation KD, PeerJ CS 2024</a:t>
            </a:r>
            <a:endParaRPr lang="en-US" sz="1030" dirty="0"/>
          </a:p>
          <a:p>
            <a:pPr marL="342900" indent="-342900">
              <a:spcAft>
                <a:spcPts val="1000"/>
              </a:spcAft>
              <a:buSzPct val="100000"/>
              <a:buChar char="•"/>
            </a:pPr>
            <a:r>
              <a:rPr lang="en-US" sz="1030" dirty="0">
                <a:solidFill>
                  <a:srgbClr val="52514E"/>
                </a:solidFill>
                <a:latin typeface="Calibri" pitchFamily="34" charset="0"/>
                <a:ea typeface="Calibri" pitchFamily="34" charset="-122"/>
                <a:cs typeface="Calibri" pitchFamily="34" charset="-120"/>
              </a:rPr>
              <a:t>Masih dibahas sebagai metode acuan pada CanKD, 2025</a:t>
            </a:r>
            <a:endParaRPr lang="en-US" sz="1030" dirty="0"/>
          </a:p>
          <a:p>
            <a:pPr marL="342900" indent="-342900">
              <a:spcAft>
                <a:spcPts val="1000"/>
              </a:spcAft>
              <a:buSzPct val="100000"/>
              <a:buChar char="•"/>
            </a:pPr>
            <a:r>
              <a:rPr lang="en-US" sz="1030" dirty="0">
                <a:solidFill>
                  <a:srgbClr val="52514E"/>
                </a:solidFill>
                <a:latin typeface="Calibri" pitchFamily="34" charset="0"/>
                <a:ea typeface="Calibri" pitchFamily="34" charset="-122"/>
                <a:cs typeface="Calibri" pitchFamily="34" charset="-120"/>
              </a:rPr>
              <a:t>Alternatif lebih baru yang kami catat sebagai pembanding lanjutan: MGD ECCV 2022, PKD NeurIPS 2022, FreeKD CVPR 2024</a:t>
            </a:r>
            <a:endParaRPr lang="en-US" sz="1030" dirty="0"/>
          </a:p>
        </p:txBody>
      </p:sp>
      <p:sp>
        <p:nvSpPr>
          <p:cNvPr id="22" name="Shape 20"/>
          <p:cNvSpPr/>
          <p:nvPr/>
        </p:nvSpPr>
        <p:spPr>
          <a:xfrm>
            <a:off x="548640" y="5394960"/>
            <a:ext cx="11064240" cy="914400"/>
          </a:xfrm>
          <a:prstGeom prst="roundRect">
            <a:avLst>
              <a:gd name="adj" fmla="val 8000"/>
            </a:avLst>
          </a:prstGeom>
          <a:solidFill>
            <a:srgbClr val="0E1E3C"/>
          </a:solidFill>
          <a:ln w="12700">
            <a:solidFill>
              <a:srgbClr val="0E1E3C"/>
            </a:solidFill>
            <a:prstDash val="solid"/>
          </a:ln>
        </p:spPr>
      </p:sp>
      <p:sp>
        <p:nvSpPr>
          <p:cNvPr id="23" name="Text 21"/>
          <p:cNvSpPr/>
          <p:nvPr/>
        </p:nvSpPr>
        <p:spPr>
          <a:xfrm>
            <a:off x="868680" y="5559552"/>
            <a:ext cx="104241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Jawaban singkat yang bisa dipakai saat ditanya: kami memilih berdasarkan kecocokan sifat metode dengan sifat masalah, dan kami sudah punya bukti ablation-nya. Membandingkan dengan MGD dan FreeKD kami masukkan sebagai pekerjaan lanjutan, bukan sebagai klaim yang belum diuji.</a:t>
            </a:r>
            <a:endParaRPr lang="en-US" sz="1200" dirty="0"/>
          </a:p>
        </p:txBody>
      </p:sp>
      <p:sp>
        <p:nvSpPr>
          <p:cNvPr id="24" name="Text 22"/>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1 DARI 6</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kami tidak cukup melapor satu kali training</a:t>
            </a:r>
            <a:endParaRPr lang="en-US" sz="2700" dirty="0"/>
          </a:p>
        </p:txBody>
      </p:sp>
      <p:pic>
        <p:nvPicPr>
          <p:cNvPr id="4" name="Image 0" descr="/home/claude/kd_consistency/figC_run1_vs_run3.png">    </p:cNvPr>
          <p:cNvPicPr>
            <a:picLocks noChangeAspect="1"/>
          </p:cNvPicPr>
          <p:nvPr/>
        </p:nvPicPr>
        <p:blipFill>
          <a:blip r:embed="rId1"/>
          <a:stretch>
            <a:fillRect/>
          </a:stretch>
        </p:blipFill>
        <p:spPr>
          <a:xfrm>
            <a:off x="548640" y="1353312"/>
            <a:ext cx="11064240" cy="3520440"/>
          </a:xfrm>
          <a:prstGeom prst="rect">
            <a:avLst/>
          </a:prstGeom>
        </p:spPr>
      </p:pic>
      <p:sp>
        <p:nvSpPr>
          <p:cNvPr id="5" name="Shape 2"/>
          <p:cNvSpPr/>
          <p:nvPr/>
        </p:nvSpPr>
        <p:spPr>
          <a:xfrm>
            <a:off x="548640" y="5029200"/>
            <a:ext cx="5394960" cy="1325880"/>
          </a:xfrm>
          <a:prstGeom prst="roundRect">
            <a:avLst>
              <a:gd name="adj" fmla="val 5517"/>
            </a:avLst>
          </a:prstGeom>
          <a:solidFill>
            <a:srgbClr val="F2F4F8"/>
          </a:solidFill>
          <a:ln w="12700">
            <a:solidFill>
              <a:srgbClr val="F2F4F8"/>
            </a:solidFill>
            <a:prstDash val="solid"/>
          </a:ln>
        </p:spPr>
      </p:sp>
      <p:sp>
        <p:nvSpPr>
          <p:cNvPr id="6" name="Text 3"/>
          <p:cNvSpPr/>
          <p:nvPr/>
        </p:nvSpPr>
        <p:spPr>
          <a:xfrm>
            <a:off x="868680" y="5166360"/>
            <a:ext cx="4754880" cy="2926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Kalau kami hanya melapor run 1</a:t>
            </a:r>
            <a:endParaRPr lang="en-US" sz="1300" dirty="0"/>
          </a:p>
        </p:txBody>
      </p:sp>
      <p:sp>
        <p:nvSpPr>
          <p:cNvPr id="7" name="Text 4"/>
          <p:cNvSpPr/>
          <p:nvPr/>
        </p:nvSpPr>
        <p:spPr>
          <a:xfrm>
            <a:off x="868680" y="5486400"/>
            <a:ext cx="4754880" cy="7772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Malam akan dilaporkan 0,4740 padahal rata rata sebenarnya 0,4780. Gap akan dilaporkan 0,0274 padahal rata ratanya 0,0233. Arah kesimpulannya sama, tapi besarannya meleset sampai 18 persen.</a:t>
            </a:r>
            <a:endParaRPr lang="en-US" sz="1100" dirty="0"/>
          </a:p>
        </p:txBody>
      </p:sp>
      <p:sp>
        <p:nvSpPr>
          <p:cNvPr id="8" name="Shape 5"/>
          <p:cNvSpPr/>
          <p:nvPr/>
        </p:nvSpPr>
        <p:spPr>
          <a:xfrm>
            <a:off x="6217920" y="5029200"/>
            <a:ext cx="5394960" cy="1325880"/>
          </a:xfrm>
          <a:prstGeom prst="roundRect">
            <a:avLst>
              <a:gd name="adj" fmla="val 5517"/>
            </a:avLst>
          </a:prstGeom>
          <a:solidFill>
            <a:srgbClr val="0E1E3C"/>
          </a:solidFill>
          <a:ln w="12700">
            <a:solidFill>
              <a:srgbClr val="0E1E3C"/>
            </a:solidFill>
            <a:prstDash val="solid"/>
          </a:ln>
        </p:spPr>
      </p:sp>
      <p:sp>
        <p:nvSpPr>
          <p:cNvPr id="9" name="Text 6"/>
          <p:cNvSpPr/>
          <p:nvPr/>
        </p:nvSpPr>
        <p:spPr>
          <a:xfrm>
            <a:off x="6537960" y="5166360"/>
            <a:ext cx="4754880" cy="292608"/>
          </a:xfrm>
          <a:prstGeom prst="rect">
            <a:avLst/>
          </a:prstGeom>
          <a:noFill/>
          <a:ln/>
        </p:spPr>
        <p:txBody>
          <a:bodyPr wrap="square" lIns="0" tIns="0" rIns="0" bIns="0" rtlCol="0" anchor="ctr"/>
          <a:lstStyle/>
          <a:p>
            <a:pPr indent="0" marL="0">
              <a:buNone/>
            </a:pPr>
            <a:r>
              <a:rPr lang="en-US" sz="1300" b="1" dirty="0">
                <a:solidFill>
                  <a:srgbClr val="EB6834"/>
                </a:solidFill>
                <a:latin typeface="Cambria" pitchFamily="34" charset="0"/>
                <a:ea typeface="Cambria" pitchFamily="34" charset="-122"/>
                <a:cs typeface="Cambria" pitchFamily="34" charset="-120"/>
              </a:rPr>
              <a:t>Kenapa ini penting untuk kredibilitas</a:t>
            </a:r>
            <a:endParaRPr lang="en-US" sz="1300" dirty="0"/>
          </a:p>
        </p:txBody>
      </p:sp>
      <p:sp>
        <p:nvSpPr>
          <p:cNvPr id="10" name="Text 7"/>
          <p:cNvSpPr/>
          <p:nvPr/>
        </p:nvSpPr>
        <p:spPr>
          <a:xfrm>
            <a:off x="6537960" y="5486400"/>
            <a:ext cx="4754880" cy="77724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Ketiga run selalu di atas baseline pada semua metrik, jadi kesimpulannya kokoh. Tanpa tiga run, penguji berhak bertanya apakah selisih 0,0120 itu nyata atau sekadar variasi acak. Dengan tiga run, pertanyaan itu terjawab dengan angka.</a:t>
            </a:r>
            <a:endParaRPr lang="en-US" sz="1100" dirty="0"/>
          </a:p>
        </p:txBody>
      </p:sp>
      <p:sp>
        <p:nvSpPr>
          <p:cNvPr id="11" name="Text 8"/>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2 DARI 6</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Konsistensi seluruh metrik antar tiga training</a:t>
            </a:r>
            <a:endParaRPr lang="en-US" sz="2700" dirty="0"/>
          </a:p>
        </p:txBody>
      </p:sp>
      <p:pic>
        <p:nvPicPr>
          <p:cNvPr id="4" name="Image 0" descr="/home/claude/kd_consistency/fig1_consistency.png">    </p:cNvPr>
          <p:cNvPicPr>
            <a:picLocks noChangeAspect="1"/>
          </p:cNvPicPr>
          <p:nvPr/>
        </p:nvPicPr>
        <p:blipFill>
          <a:blip r:embed="rId1"/>
          <a:stretch>
            <a:fillRect/>
          </a:stretch>
        </p:blipFill>
        <p:spPr>
          <a:xfrm>
            <a:off x="685800" y="1371600"/>
            <a:ext cx="10789920" cy="3383280"/>
          </a:xfrm>
          <a:prstGeom prst="rect">
            <a:avLst/>
          </a:prstGeom>
        </p:spPr>
      </p:pic>
      <p:sp>
        <p:nvSpPr>
          <p:cNvPr id="5" name="Shape 2"/>
          <p:cNvSpPr/>
          <p:nvPr/>
        </p:nvSpPr>
        <p:spPr>
          <a:xfrm>
            <a:off x="685800" y="4983480"/>
            <a:ext cx="3383280" cy="1097280"/>
          </a:xfrm>
          <a:prstGeom prst="roundRect">
            <a:avLst>
              <a:gd name="adj" fmla="val 6667"/>
            </a:avLst>
          </a:prstGeom>
          <a:solidFill>
            <a:srgbClr val="F2F4F8"/>
          </a:solidFill>
          <a:ln w="12700">
            <a:solidFill>
              <a:srgbClr val="F2F4F8"/>
            </a:solidFill>
            <a:prstDash val="solid"/>
          </a:ln>
        </p:spPr>
      </p:sp>
      <p:sp>
        <p:nvSpPr>
          <p:cNvPr id="6" name="Text 3"/>
          <p:cNvSpPr/>
          <p:nvPr/>
        </p:nvSpPr>
        <p:spPr>
          <a:xfrm>
            <a:off x="960120" y="5102352"/>
            <a:ext cx="2926080" cy="457200"/>
          </a:xfrm>
          <a:prstGeom prst="rect">
            <a:avLst/>
          </a:prstGeom>
          <a:noFill/>
          <a:ln/>
        </p:spPr>
        <p:txBody>
          <a:bodyPr wrap="square" lIns="0" tIns="0" rIns="0" bIns="0" rtlCol="0" anchor="ctr"/>
          <a:lstStyle/>
          <a:p>
            <a:pPr indent="0" marL="0">
              <a:buNone/>
            </a:pPr>
            <a:r>
              <a:rPr lang="en-US" sz="2400" b="1" dirty="0">
                <a:solidFill>
                  <a:srgbClr val="0E1E3C"/>
                </a:solidFill>
                <a:latin typeface="Cambria" pitchFamily="34" charset="0"/>
                <a:ea typeface="Cambria" pitchFamily="34" charset="-122"/>
                <a:cs typeface="Cambria" pitchFamily="34" charset="-120"/>
              </a:rPr>
              <a:t>0,5%</a:t>
            </a:r>
            <a:endParaRPr lang="en-US" sz="2400" dirty="0"/>
          </a:p>
        </p:txBody>
      </p:sp>
      <p:sp>
        <p:nvSpPr>
          <p:cNvPr id="7" name="Text 4"/>
          <p:cNvSpPr/>
          <p:nvPr/>
        </p:nvSpPr>
        <p:spPr>
          <a:xfrm>
            <a:off x="960120" y="5559552"/>
            <a:ext cx="2926080" cy="45720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variasi mAP siang</a:t>
            </a:r>
            <a:endParaRPr lang="en-US" sz="1150" dirty="0"/>
          </a:p>
        </p:txBody>
      </p:sp>
      <p:sp>
        <p:nvSpPr>
          <p:cNvPr id="8" name="Shape 5"/>
          <p:cNvSpPr/>
          <p:nvPr/>
        </p:nvSpPr>
        <p:spPr>
          <a:xfrm>
            <a:off x="4343400" y="4983480"/>
            <a:ext cx="3383280" cy="1097280"/>
          </a:xfrm>
          <a:prstGeom prst="roundRect">
            <a:avLst>
              <a:gd name="adj" fmla="val 6667"/>
            </a:avLst>
          </a:prstGeom>
          <a:solidFill>
            <a:srgbClr val="F2F4F8"/>
          </a:solidFill>
          <a:ln w="12700">
            <a:solidFill>
              <a:srgbClr val="F2F4F8"/>
            </a:solidFill>
            <a:prstDash val="solid"/>
          </a:ln>
        </p:spPr>
      </p:sp>
      <p:sp>
        <p:nvSpPr>
          <p:cNvPr id="9" name="Text 6"/>
          <p:cNvSpPr/>
          <p:nvPr/>
        </p:nvSpPr>
        <p:spPr>
          <a:xfrm>
            <a:off x="4617720" y="5102352"/>
            <a:ext cx="2926080" cy="457200"/>
          </a:xfrm>
          <a:prstGeom prst="rect">
            <a:avLst/>
          </a:prstGeom>
          <a:noFill/>
          <a:ln/>
        </p:spPr>
        <p:txBody>
          <a:bodyPr wrap="square" lIns="0" tIns="0" rIns="0" bIns="0" rtlCol="0" anchor="ctr"/>
          <a:lstStyle/>
          <a:p>
            <a:pPr indent="0" marL="0">
              <a:buNone/>
            </a:pPr>
            <a:r>
              <a:rPr lang="en-US" sz="2400" b="1" dirty="0">
                <a:solidFill>
                  <a:srgbClr val="0E1E3C"/>
                </a:solidFill>
                <a:latin typeface="Cambria" pitchFamily="34" charset="0"/>
                <a:ea typeface="Cambria" pitchFamily="34" charset="-122"/>
                <a:cs typeface="Cambria" pitchFamily="34" charset="-120"/>
              </a:rPr>
              <a:t>0,8%</a:t>
            </a:r>
            <a:endParaRPr lang="en-US" sz="2400" dirty="0"/>
          </a:p>
        </p:txBody>
      </p:sp>
      <p:sp>
        <p:nvSpPr>
          <p:cNvPr id="10" name="Text 7"/>
          <p:cNvSpPr/>
          <p:nvPr/>
        </p:nvSpPr>
        <p:spPr>
          <a:xfrm>
            <a:off x="4617720" y="5559552"/>
            <a:ext cx="2926080" cy="45720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variasi mAP malam</a:t>
            </a:r>
            <a:endParaRPr lang="en-US" sz="1150" dirty="0"/>
          </a:p>
        </p:txBody>
      </p:sp>
      <p:sp>
        <p:nvSpPr>
          <p:cNvPr id="11" name="Shape 8"/>
          <p:cNvSpPr/>
          <p:nvPr/>
        </p:nvSpPr>
        <p:spPr>
          <a:xfrm>
            <a:off x="8001000" y="4983480"/>
            <a:ext cx="3383280" cy="1097280"/>
          </a:xfrm>
          <a:prstGeom prst="roundRect">
            <a:avLst>
              <a:gd name="adj" fmla="val 6667"/>
            </a:avLst>
          </a:prstGeom>
          <a:solidFill>
            <a:srgbClr val="0E1E3C"/>
          </a:solidFill>
          <a:ln w="12700">
            <a:solidFill>
              <a:srgbClr val="0E1E3C"/>
            </a:solidFill>
            <a:prstDash val="solid"/>
          </a:ln>
        </p:spPr>
      </p:sp>
      <p:sp>
        <p:nvSpPr>
          <p:cNvPr id="12" name="Text 9"/>
          <p:cNvSpPr/>
          <p:nvPr/>
        </p:nvSpPr>
        <p:spPr>
          <a:xfrm>
            <a:off x="8275320" y="5102352"/>
            <a:ext cx="2926080" cy="457200"/>
          </a:xfrm>
          <a:prstGeom prst="rect">
            <a:avLst/>
          </a:prstGeom>
          <a:noFill/>
          <a:ln/>
        </p:spPr>
        <p:txBody>
          <a:bodyPr wrap="square" lIns="0" tIns="0" rIns="0" bIns="0" rtlCol="0" anchor="ctr"/>
          <a:lstStyle/>
          <a:p>
            <a:pPr indent="0" marL="0">
              <a:buNone/>
            </a:pPr>
            <a:r>
              <a:rPr lang="en-US" sz="2000" b="1" dirty="0">
                <a:solidFill>
                  <a:srgbClr val="EB6834"/>
                </a:solidFill>
                <a:latin typeface="Cambria" pitchFamily="34" charset="0"/>
                <a:ea typeface="Cambria" pitchFamily="34" charset="-122"/>
                <a:cs typeface="Cambria" pitchFamily="34" charset="-120"/>
              </a:rPr>
              <a:t>18 dari 18</a:t>
            </a:r>
            <a:endParaRPr lang="en-US" sz="2000" dirty="0"/>
          </a:p>
        </p:txBody>
      </p:sp>
      <p:sp>
        <p:nvSpPr>
          <p:cNvPr id="13" name="Text 10"/>
          <p:cNvSpPr/>
          <p:nvPr/>
        </p:nvSpPr>
        <p:spPr>
          <a:xfrm>
            <a:off x="8275320" y="5559552"/>
            <a:ext cx="2926080" cy="45720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kombinasi kelas dan kondisi menang di semua run</a:t>
            </a:r>
            <a:endParaRPr lang="en-US" sz="1150" dirty="0"/>
          </a:p>
        </p:txBody>
      </p:sp>
      <p:sp>
        <p:nvSpPr>
          <p:cNvPr id="14" name="Text 11"/>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3 DARI 6</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Perjalanan konfigurasi: v1, tuned, dan v3</a:t>
            </a:r>
            <a:endParaRPr lang="en-US" sz="2700" dirty="0"/>
          </a:p>
        </p:txBody>
      </p:sp>
      <p:pic>
        <p:nvPicPr>
          <p:cNvPr id="4" name="Image 0" descr="/home/claude/kd_consistency/figA_kd_versions.png">    </p:cNvPr>
          <p:cNvPicPr>
            <a:picLocks noChangeAspect="1"/>
          </p:cNvPicPr>
          <p:nvPr/>
        </p:nvPicPr>
        <p:blipFill>
          <a:blip r:embed="rId1"/>
          <a:stretch>
            <a:fillRect/>
          </a:stretch>
        </p:blipFill>
        <p:spPr>
          <a:xfrm>
            <a:off x="685800" y="1325880"/>
            <a:ext cx="10607040" cy="3977640"/>
          </a:xfrm>
          <a:prstGeom prst="rect">
            <a:avLst/>
          </a:prstGeom>
        </p:spPr>
      </p:pic>
      <p:sp>
        <p:nvSpPr>
          <p:cNvPr id="5" name="Shape 2"/>
          <p:cNvSpPr/>
          <p:nvPr/>
        </p:nvSpPr>
        <p:spPr>
          <a:xfrm>
            <a:off x="548640" y="5440680"/>
            <a:ext cx="11064240" cy="960120"/>
          </a:xfrm>
          <a:prstGeom prst="roundRect">
            <a:avLst>
              <a:gd name="adj" fmla="val 7619"/>
            </a:avLst>
          </a:prstGeom>
          <a:solidFill>
            <a:srgbClr val="0E1E3C"/>
          </a:solidFill>
          <a:ln w="12700">
            <a:solidFill>
              <a:srgbClr val="0E1E3C"/>
            </a:solidFill>
            <a:prstDash val="solid"/>
          </a:ln>
        </p:spPr>
      </p:sp>
      <p:sp>
        <p:nvSpPr>
          <p:cNvPr id="6" name="Text 3"/>
          <p:cNvSpPr/>
          <p:nvPr/>
        </p:nvSpPr>
        <p:spPr>
          <a:xfrm>
            <a:off x="868680" y="5596128"/>
            <a:ext cx="10424160" cy="6858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Gap KD v1 dan KD v3 sama sama 0,0233, tetapi KD v3 unggul di kedua kondisi sekaligus: </a:t>
            </a:r>
            <a:pPr indent="0" marL="0">
              <a:buNone/>
            </a:pPr>
            <a:r>
              <a:rPr lang="en-US" sz="1200" b="1" dirty="0">
                <a:solidFill>
                  <a:srgbClr val="EB6834"/>
                </a:solidFill>
                <a:latin typeface="Calibri" pitchFamily="34" charset="0"/>
                <a:ea typeface="Calibri" pitchFamily="34" charset="-122"/>
                <a:cs typeface="Calibri" pitchFamily="34" charset="-120"/>
              </a:rPr>
              <a:t>siang +0,0060 dan malam +0,0060 dibanding KD v1</a:t>
            </a:r>
            <a:pPr indent="0" marL="0">
              <a:buNone/>
            </a:pPr>
            <a:r>
              <a:rPr lang="en-US" sz="1200" dirty="0">
                <a:solidFill>
                  <a:srgbClr val="FFFFFF"/>
                </a:solidFill>
                <a:latin typeface="Calibri" pitchFamily="34" charset="0"/>
                <a:ea typeface="Calibri" pitchFamily="34" charset="-122"/>
                <a:cs typeface="Calibri" pitchFamily="34" charset="-120"/>
              </a:rPr>
              <a:t>. Jadi ketahanannya setara, akurasinya lebih tinggi. KD tuned justru memperlihatkan bahwa menaikkan akurasi siang saja bisa mengorbankan ketahanan, gapnya melebar kembali ke 0,0427.</a:t>
            </a:r>
            <a:endParaRPr lang="en-US" sz="1200" dirty="0"/>
          </a:p>
        </p:txBody>
      </p:sp>
      <p:sp>
        <p:nvSpPr>
          <p:cNvPr id="7" name="Text 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E3C"/>
        </a:solidFill>
      </p:bgPr>
    </p:bg>
    <p:spTree>
      <p:nvGrpSpPr>
        <p:cNvPr id="1" name=""/>
        <p:cNvGrpSpPr/>
        <p:nvPr/>
      </p:nvGrpSpPr>
      <p:grpSpPr>
        <a:xfrm>
          <a:off x="0" y="0"/>
          <a:ext cx="0" cy="0"/>
          <a:chOff x="0" y="0"/>
          <a:chExt cx="0" cy="0"/>
        </a:xfrm>
      </p:grpSpPr>
      <p:sp>
        <p:nvSpPr>
          <p:cNvPr id="2" name="Text 0"/>
          <p:cNvSpPr/>
          <p:nvPr/>
        </p:nvSpPr>
        <p:spPr>
          <a:xfrm>
            <a:off x="731520" y="548640"/>
            <a:ext cx="5486400" cy="292608"/>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TEMUAN UTAMA</a:t>
            </a:r>
            <a:endParaRPr lang="en-US" sz="1200" dirty="0"/>
          </a:p>
        </p:txBody>
      </p:sp>
      <p:sp>
        <p:nvSpPr>
          <p:cNvPr id="3" name="Text 1"/>
          <p:cNvSpPr/>
          <p:nvPr/>
        </p:nvSpPr>
        <p:spPr>
          <a:xfrm>
            <a:off x="731520" y="914400"/>
            <a:ext cx="10698480" cy="7772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Distilasi memangkas penurunan akibat gelap hampir setengahnya</a:t>
            </a:r>
            <a:endParaRPr lang="en-US" sz="2800" dirty="0"/>
          </a:p>
        </p:txBody>
      </p:sp>
      <p:sp>
        <p:nvSpPr>
          <p:cNvPr id="4" name="Shape 2"/>
          <p:cNvSpPr/>
          <p:nvPr/>
        </p:nvSpPr>
        <p:spPr>
          <a:xfrm>
            <a:off x="731520" y="1920240"/>
            <a:ext cx="3291840" cy="1828800"/>
          </a:xfrm>
          <a:prstGeom prst="roundRect">
            <a:avLst>
              <a:gd name="adj" fmla="val 4000"/>
            </a:avLst>
          </a:prstGeom>
          <a:solidFill>
            <a:srgbClr val="16264A"/>
          </a:solidFill>
          <a:ln w="12700">
            <a:solidFill>
              <a:srgbClr val="16264A"/>
            </a:solidFill>
            <a:prstDash val="solid"/>
          </a:ln>
        </p:spPr>
      </p:sp>
      <p:sp>
        <p:nvSpPr>
          <p:cNvPr id="5" name="Text 3"/>
          <p:cNvSpPr/>
          <p:nvPr/>
        </p:nvSpPr>
        <p:spPr>
          <a:xfrm>
            <a:off x="1005840" y="2084832"/>
            <a:ext cx="274320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Teacher YOLOv8l</a:t>
            </a:r>
            <a:endParaRPr lang="en-US" sz="1250" dirty="0"/>
          </a:p>
        </p:txBody>
      </p:sp>
      <p:sp>
        <p:nvSpPr>
          <p:cNvPr id="6" name="Text 4"/>
          <p:cNvSpPr/>
          <p:nvPr/>
        </p:nvSpPr>
        <p:spPr>
          <a:xfrm>
            <a:off x="1005840" y="2487168"/>
            <a:ext cx="2743200" cy="685800"/>
          </a:xfrm>
          <a:prstGeom prst="rect">
            <a:avLst/>
          </a:prstGeom>
          <a:noFill/>
          <a:ln/>
        </p:spPr>
        <p:txBody>
          <a:bodyPr wrap="square" lIns="0" tIns="0" rIns="0" bIns="0" rtlCol="0" anchor="ctr"/>
          <a:lstStyle/>
          <a:p>
            <a:pPr indent="0" marL="0">
              <a:buNone/>
            </a:pPr>
            <a:r>
              <a:rPr lang="en-US" sz="3800" b="1" dirty="0">
                <a:solidFill>
                  <a:srgbClr val="898781"/>
                </a:solidFill>
                <a:latin typeface="Cambria" pitchFamily="34" charset="0"/>
                <a:ea typeface="Cambria" pitchFamily="34" charset="-122"/>
                <a:cs typeface="Cambria" pitchFamily="34" charset="-120"/>
              </a:rPr>
              <a:t>7,88%</a:t>
            </a:r>
            <a:endParaRPr lang="en-US" sz="3800" dirty="0"/>
          </a:p>
        </p:txBody>
      </p:sp>
      <p:sp>
        <p:nvSpPr>
          <p:cNvPr id="7" name="Text 5"/>
          <p:cNvSpPr/>
          <p:nvPr/>
        </p:nvSpPr>
        <p:spPr>
          <a:xfrm>
            <a:off x="1005840" y="3246120"/>
            <a:ext cx="2743200" cy="41148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43,7 juta parameter</a:t>
            </a:r>
            <a:endParaRPr lang="en-US" sz="1000" dirty="0"/>
          </a:p>
        </p:txBody>
      </p:sp>
      <p:sp>
        <p:nvSpPr>
          <p:cNvPr id="8" name="Shape 6"/>
          <p:cNvSpPr/>
          <p:nvPr/>
        </p:nvSpPr>
        <p:spPr>
          <a:xfrm>
            <a:off x="4343400" y="1920240"/>
            <a:ext cx="3291840" cy="1828800"/>
          </a:xfrm>
          <a:prstGeom prst="roundRect">
            <a:avLst>
              <a:gd name="adj" fmla="val 4000"/>
            </a:avLst>
          </a:prstGeom>
          <a:solidFill>
            <a:srgbClr val="16264A"/>
          </a:solidFill>
          <a:ln w="12700">
            <a:solidFill>
              <a:srgbClr val="16264A"/>
            </a:solidFill>
            <a:prstDash val="solid"/>
          </a:ln>
        </p:spPr>
      </p:sp>
      <p:sp>
        <p:nvSpPr>
          <p:cNvPr id="9" name="Text 7"/>
          <p:cNvSpPr/>
          <p:nvPr/>
        </p:nvSpPr>
        <p:spPr>
          <a:xfrm>
            <a:off x="4617720" y="2084832"/>
            <a:ext cx="274320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Student baseline</a:t>
            </a:r>
            <a:endParaRPr lang="en-US" sz="1250" dirty="0"/>
          </a:p>
        </p:txBody>
      </p:sp>
      <p:sp>
        <p:nvSpPr>
          <p:cNvPr id="10" name="Text 8"/>
          <p:cNvSpPr/>
          <p:nvPr/>
        </p:nvSpPr>
        <p:spPr>
          <a:xfrm>
            <a:off x="4617720" y="2487168"/>
            <a:ext cx="2743200" cy="685800"/>
          </a:xfrm>
          <a:prstGeom prst="rect">
            <a:avLst/>
          </a:prstGeom>
          <a:noFill/>
          <a:ln/>
        </p:spPr>
        <p:txBody>
          <a:bodyPr wrap="square" lIns="0" tIns="0" rIns="0" bIns="0" rtlCol="0" anchor="ctr"/>
          <a:lstStyle/>
          <a:p>
            <a:pPr indent="0" marL="0">
              <a:buNone/>
            </a:pPr>
            <a:r>
              <a:rPr lang="en-US" sz="3800" b="1" dirty="0">
                <a:solidFill>
                  <a:srgbClr val="CADCFC"/>
                </a:solidFill>
                <a:latin typeface="Cambria" pitchFamily="34" charset="0"/>
                <a:ea typeface="Cambria" pitchFamily="34" charset="-122"/>
                <a:cs typeface="Cambria" pitchFamily="34" charset="-120"/>
              </a:rPr>
              <a:t>8,65%</a:t>
            </a:r>
            <a:endParaRPr lang="en-US" sz="3800" dirty="0"/>
          </a:p>
        </p:txBody>
      </p:sp>
      <p:sp>
        <p:nvSpPr>
          <p:cNvPr id="11" name="Text 9"/>
          <p:cNvSpPr/>
          <p:nvPr/>
        </p:nvSpPr>
        <p:spPr>
          <a:xfrm>
            <a:off x="4617720" y="3246120"/>
            <a:ext cx="2743200" cy="41148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11,2 juta parameter</a:t>
            </a:r>
            <a:endParaRPr lang="en-US" sz="1000" dirty="0"/>
          </a:p>
        </p:txBody>
      </p:sp>
      <p:sp>
        <p:nvSpPr>
          <p:cNvPr id="12" name="Shape 10"/>
          <p:cNvSpPr/>
          <p:nvPr/>
        </p:nvSpPr>
        <p:spPr>
          <a:xfrm>
            <a:off x="7955280" y="1920240"/>
            <a:ext cx="3291840" cy="1828800"/>
          </a:xfrm>
          <a:prstGeom prst="roundRect">
            <a:avLst>
              <a:gd name="adj" fmla="val 4000"/>
            </a:avLst>
          </a:prstGeom>
          <a:solidFill>
            <a:srgbClr val="1B3260"/>
          </a:solidFill>
          <a:ln w="25400">
            <a:solidFill>
              <a:srgbClr val="EB6834"/>
            </a:solidFill>
            <a:prstDash val="solid"/>
          </a:ln>
        </p:spPr>
      </p:sp>
      <p:sp>
        <p:nvSpPr>
          <p:cNvPr id="13" name="Text 11"/>
          <p:cNvSpPr/>
          <p:nvPr/>
        </p:nvSpPr>
        <p:spPr>
          <a:xfrm>
            <a:off x="8229600" y="2084832"/>
            <a:ext cx="274320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Student KD kami</a:t>
            </a:r>
            <a:endParaRPr lang="en-US" sz="1250" dirty="0"/>
          </a:p>
        </p:txBody>
      </p:sp>
      <p:sp>
        <p:nvSpPr>
          <p:cNvPr id="14" name="Text 12"/>
          <p:cNvSpPr/>
          <p:nvPr/>
        </p:nvSpPr>
        <p:spPr>
          <a:xfrm>
            <a:off x="8229600" y="2487168"/>
            <a:ext cx="2743200" cy="685800"/>
          </a:xfrm>
          <a:prstGeom prst="rect">
            <a:avLst/>
          </a:prstGeom>
          <a:noFill/>
          <a:ln/>
        </p:spPr>
        <p:txBody>
          <a:bodyPr wrap="square" lIns="0" tIns="0" rIns="0" bIns="0" rtlCol="0" anchor="ctr"/>
          <a:lstStyle/>
          <a:p>
            <a:pPr indent="0" marL="0">
              <a:buNone/>
            </a:pPr>
            <a:r>
              <a:rPr lang="en-US" sz="3800" b="1" dirty="0">
                <a:solidFill>
                  <a:srgbClr val="EB6834"/>
                </a:solidFill>
                <a:latin typeface="Cambria" pitchFamily="34" charset="0"/>
                <a:ea typeface="Cambria" pitchFamily="34" charset="-122"/>
                <a:cs typeface="Cambria" pitchFamily="34" charset="-120"/>
              </a:rPr>
              <a:t>4,65%</a:t>
            </a:r>
            <a:endParaRPr lang="en-US" sz="3800" dirty="0"/>
          </a:p>
        </p:txBody>
      </p:sp>
      <p:sp>
        <p:nvSpPr>
          <p:cNvPr id="15" name="Text 13"/>
          <p:cNvSpPr/>
          <p:nvPr/>
        </p:nvSpPr>
        <p:spPr>
          <a:xfrm>
            <a:off x="8229600" y="3246120"/>
            <a:ext cx="2743200" cy="41148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11,2 juta parameter, sama persis</a:t>
            </a:r>
            <a:endParaRPr lang="en-US" sz="1000" dirty="0"/>
          </a:p>
        </p:txBody>
      </p:sp>
      <p:sp>
        <p:nvSpPr>
          <p:cNvPr id="16" name="Text 14"/>
          <p:cNvSpPr/>
          <p:nvPr/>
        </p:nvSpPr>
        <p:spPr>
          <a:xfrm>
            <a:off x="731520" y="3822192"/>
            <a:ext cx="10698480" cy="292608"/>
          </a:xfrm>
          <a:prstGeom prst="rect">
            <a:avLst/>
          </a:prstGeom>
          <a:noFill/>
          <a:ln/>
        </p:spPr>
        <p:txBody>
          <a:bodyPr wrap="square" lIns="0" tIns="0" rIns="0" bIns="0" rtlCol="0" anchor="ctr"/>
          <a:lstStyle/>
          <a:p>
            <a:pPr indent="0" marL="0">
              <a:buNone/>
            </a:pPr>
            <a:r>
              <a:rPr lang="en-US" sz="1100" i="1" dirty="0">
                <a:solidFill>
                  <a:srgbClr val="898781"/>
                </a:solidFill>
                <a:latin typeface="Calibri" pitchFamily="34" charset="0"/>
                <a:ea typeface="Calibri" pitchFamily="34" charset="-122"/>
                <a:cs typeface="Calibri" pitchFamily="34" charset="-120"/>
              </a:rPr>
              <a:t>penurunan relatif mAP@0.5 dari siang ke malam</a:t>
            </a:r>
            <a:endParaRPr lang="en-US" sz="1100" dirty="0"/>
          </a:p>
        </p:txBody>
      </p:sp>
      <p:sp>
        <p:nvSpPr>
          <p:cNvPr id="17" name="Text 15"/>
          <p:cNvSpPr/>
          <p:nvPr/>
        </p:nvSpPr>
        <p:spPr>
          <a:xfrm>
            <a:off x="731520" y="4251960"/>
            <a:ext cx="10698480" cy="173736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Yang kami klaim: distilasi mengubah cara student merepresentasikan objek, sehingga representasinya lebih tahan terhadap perubahan kondisi cahaya. Efeknya konsisten pada ketiga run, yaitu 5,46 persen, 3,47 persen, dan 5,02 persen, semuanya jauh di bawah baseline</a:t>
            </a:r>
            <a:endParaRPr lang="en-US" sz="1300" dirty="0"/>
          </a:p>
          <a:p>
            <a:pPr marL="342900" indent="-3429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Yang tidak kami klaim: bahwa model kecil pada dasarnya lebih tahan gelap daripada model besar. Tanpa distilasi, teacher dan baseline setara secara statistik</a:t>
            </a:r>
            <a:endParaRPr lang="en-US" sz="1300" dirty="0"/>
          </a:p>
        </p:txBody>
      </p:sp>
      <p:sp>
        <p:nvSpPr>
          <p:cNvPr id="18" name="Text 16"/>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5 DARI 6</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Yang paling terbantu adalah pengguna jalan rentan</a:t>
            </a:r>
            <a:endParaRPr lang="en-US" sz="2700" dirty="0"/>
          </a:p>
        </p:txBody>
      </p:sp>
      <p:pic>
        <p:nvPicPr>
          <p:cNvPr id="4" name="Image 0" descr="/home/claude/kd_consistency/fig4_delta_vs_baseline.png">    </p:cNvPr>
          <p:cNvPicPr>
            <a:picLocks noChangeAspect="1"/>
          </p:cNvPicPr>
          <p:nvPr/>
        </p:nvPicPr>
        <p:blipFill>
          <a:blip r:embed="rId1"/>
          <a:stretch>
            <a:fillRect/>
          </a:stretch>
        </p:blipFill>
        <p:spPr>
          <a:xfrm>
            <a:off x="685800" y="1371600"/>
            <a:ext cx="7589520" cy="3611880"/>
          </a:xfrm>
          <a:prstGeom prst="rect">
            <a:avLst/>
          </a:prstGeom>
        </p:spPr>
      </p:pic>
      <p:sp>
        <p:nvSpPr>
          <p:cNvPr id="5" name="Shape 2"/>
          <p:cNvSpPr/>
          <p:nvPr/>
        </p:nvSpPr>
        <p:spPr>
          <a:xfrm>
            <a:off x="8549640" y="1463040"/>
            <a:ext cx="3063240" cy="1645920"/>
          </a:xfrm>
          <a:prstGeom prst="roundRect">
            <a:avLst>
              <a:gd name="adj" fmla="val 4444"/>
            </a:avLst>
          </a:prstGeom>
          <a:solidFill>
            <a:srgbClr val="0E1E3C"/>
          </a:solidFill>
          <a:ln w="12700">
            <a:solidFill>
              <a:srgbClr val="0E1E3C"/>
            </a:solidFill>
            <a:prstDash val="solid"/>
          </a:ln>
        </p:spPr>
      </p:sp>
      <p:sp>
        <p:nvSpPr>
          <p:cNvPr id="6" name="Text 3"/>
          <p:cNvSpPr/>
          <p:nvPr/>
        </p:nvSpPr>
        <p:spPr>
          <a:xfrm>
            <a:off x="8823960" y="1645920"/>
            <a:ext cx="2560320" cy="502920"/>
          </a:xfrm>
          <a:prstGeom prst="rect">
            <a:avLst/>
          </a:prstGeom>
          <a:noFill/>
          <a:ln/>
        </p:spPr>
        <p:txBody>
          <a:bodyPr wrap="square" lIns="0" tIns="0" rIns="0" bIns="0" rtlCol="0" anchor="ctr"/>
          <a:lstStyle/>
          <a:p>
            <a:pPr indent="0" marL="0">
              <a:buNone/>
            </a:pPr>
            <a:r>
              <a:rPr lang="en-US" sz="2600" b="1" dirty="0">
                <a:solidFill>
                  <a:srgbClr val="EB6834"/>
                </a:solidFill>
                <a:latin typeface="Cambria" pitchFamily="34" charset="0"/>
                <a:ea typeface="Cambria" pitchFamily="34" charset="-122"/>
                <a:cs typeface="Cambria" pitchFamily="34" charset="-120"/>
              </a:rPr>
              <a:t>+0,108</a:t>
            </a:r>
            <a:endParaRPr lang="en-US" sz="2600" dirty="0"/>
          </a:p>
        </p:txBody>
      </p:sp>
      <p:sp>
        <p:nvSpPr>
          <p:cNvPr id="7" name="Text 4"/>
          <p:cNvSpPr/>
          <p:nvPr/>
        </p:nvSpPr>
        <p:spPr>
          <a:xfrm>
            <a:off x="8823960" y="2194560"/>
            <a:ext cx="2560320" cy="7772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AP kelas bike pada malam hari, naik 43 persen relatif</a:t>
            </a:r>
            <a:endParaRPr lang="en-US" sz="1100" dirty="0"/>
          </a:p>
        </p:txBody>
      </p:sp>
      <p:sp>
        <p:nvSpPr>
          <p:cNvPr id="8" name="Shape 5"/>
          <p:cNvSpPr/>
          <p:nvPr/>
        </p:nvSpPr>
        <p:spPr>
          <a:xfrm>
            <a:off x="8549640" y="3310128"/>
            <a:ext cx="3063240" cy="1645920"/>
          </a:xfrm>
          <a:prstGeom prst="roundRect">
            <a:avLst>
              <a:gd name="adj" fmla="val 4444"/>
            </a:avLst>
          </a:prstGeom>
          <a:solidFill>
            <a:srgbClr val="0E1E3C"/>
          </a:solidFill>
          <a:ln w="12700">
            <a:solidFill>
              <a:srgbClr val="0E1E3C"/>
            </a:solidFill>
            <a:prstDash val="solid"/>
          </a:ln>
        </p:spPr>
      </p:sp>
      <p:sp>
        <p:nvSpPr>
          <p:cNvPr id="9" name="Text 6"/>
          <p:cNvSpPr/>
          <p:nvPr/>
        </p:nvSpPr>
        <p:spPr>
          <a:xfrm>
            <a:off x="8823960" y="3493008"/>
            <a:ext cx="2560320" cy="502920"/>
          </a:xfrm>
          <a:prstGeom prst="rect">
            <a:avLst/>
          </a:prstGeom>
          <a:noFill/>
          <a:ln/>
        </p:spPr>
        <p:txBody>
          <a:bodyPr wrap="square" lIns="0" tIns="0" rIns="0" bIns="0" rtlCol="0" anchor="ctr"/>
          <a:lstStyle/>
          <a:p>
            <a:pPr indent="0" marL="0">
              <a:buNone/>
            </a:pPr>
            <a:r>
              <a:rPr lang="en-US" sz="2600" b="1" dirty="0">
                <a:solidFill>
                  <a:srgbClr val="EB6834"/>
                </a:solidFill>
                <a:latin typeface="Cambria" pitchFamily="34" charset="0"/>
                <a:ea typeface="Cambria" pitchFamily="34" charset="-122"/>
                <a:cs typeface="Cambria" pitchFamily="34" charset="-120"/>
              </a:rPr>
              <a:t>+0,106</a:t>
            </a:r>
            <a:endParaRPr lang="en-US" sz="2600" dirty="0"/>
          </a:p>
        </p:txBody>
      </p:sp>
      <p:sp>
        <p:nvSpPr>
          <p:cNvPr id="10" name="Text 7"/>
          <p:cNvSpPr/>
          <p:nvPr/>
        </p:nvSpPr>
        <p:spPr>
          <a:xfrm>
            <a:off x="8823960" y="4041648"/>
            <a:ext cx="2560320" cy="7772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AP kelas rider pada malam hari, naik 34 persen relatif</a:t>
            </a:r>
            <a:endParaRPr lang="en-US" sz="1100" dirty="0"/>
          </a:p>
        </p:txBody>
      </p:sp>
      <p:sp>
        <p:nvSpPr>
          <p:cNvPr id="11" name="Shape 8"/>
          <p:cNvSpPr/>
          <p:nvPr/>
        </p:nvSpPr>
        <p:spPr>
          <a:xfrm>
            <a:off x="548640" y="5166360"/>
            <a:ext cx="11064240" cy="1143000"/>
          </a:xfrm>
          <a:prstGeom prst="roundRect">
            <a:avLst>
              <a:gd name="adj" fmla="val 6400"/>
            </a:avLst>
          </a:prstGeom>
          <a:solidFill>
            <a:srgbClr val="F2F4F8"/>
          </a:solidFill>
          <a:ln w="12700">
            <a:solidFill>
              <a:srgbClr val="F2F4F8"/>
            </a:solidFill>
            <a:prstDash val="solid"/>
          </a:ln>
        </p:spPr>
      </p:sp>
      <p:sp>
        <p:nvSpPr>
          <p:cNvPr id="12" name="Text 9"/>
          <p:cNvSpPr/>
          <p:nvPr/>
        </p:nvSpPr>
        <p:spPr>
          <a:xfrm>
            <a:off x="868680" y="5321808"/>
            <a:ext cx="10424160" cy="868680"/>
          </a:xfrm>
          <a:prstGeom prst="rect">
            <a:avLst/>
          </a:prstGeom>
          <a:noFill/>
          <a:ln/>
        </p:spPr>
        <p:txBody>
          <a:bodyPr wrap="square" lIns="0" tIns="0" rIns="0" bIns="0" rtlCol="0" anchor="ctr"/>
          <a:lstStyle/>
          <a:p>
            <a:pPr indent="0" marL="0">
              <a:buNone/>
            </a:pPr>
            <a:r>
              <a:rPr lang="en-US" sz="1250" dirty="0">
                <a:solidFill>
                  <a:srgbClr val="0E1E3C"/>
                </a:solidFill>
                <a:latin typeface="Calibri" pitchFamily="34" charset="0"/>
                <a:ea typeface="Calibri" pitchFamily="34" charset="-122"/>
                <a:cs typeface="Calibri" pitchFamily="34" charset="-120"/>
              </a:rPr>
              <a:t>Menang di 18 dari 18 kombinasi kelas dan kondisi, tanpa satu pun regresi. Kenaikan terbesar terjadi pada sepeda dan pengendara di malam hari, dan itu justru kelas yang paling menentukan keselamatan sekaligus paling sulit dideteksi saat gelap. Temuan ini sejalan dengan arah riset Edge AI untuk keselamatan vulnerable road user [Karjol dan Hanna, CVPR 2024].</a:t>
            </a:r>
            <a:endParaRPr lang="en-US" sz="1250" dirty="0"/>
          </a:p>
        </p:txBody>
      </p:sp>
      <p:sp>
        <p:nvSpPr>
          <p:cNvPr id="13" name="Text 10"/>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6 DARI 6, BAGIAN 1</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Ablation study: apa yang diuji dan kenapa hanya tiga komponen ini</a:t>
            </a:r>
            <a:endParaRPr lang="en-US" sz="2700" dirty="0"/>
          </a:p>
        </p:txBody>
      </p:sp>
      <p:sp>
        <p:nvSpPr>
          <p:cNvPr id="4" name="Shape 2"/>
          <p:cNvSpPr/>
          <p:nvPr/>
        </p:nvSpPr>
        <p:spPr>
          <a:xfrm>
            <a:off x="548640" y="1325880"/>
            <a:ext cx="11064240" cy="1005840"/>
          </a:xfrm>
          <a:prstGeom prst="roundRect">
            <a:avLst>
              <a:gd name="adj" fmla="val 7273"/>
            </a:avLst>
          </a:prstGeom>
          <a:solidFill>
            <a:srgbClr val="0E1E3C"/>
          </a:solidFill>
          <a:ln w="12700">
            <a:solidFill>
              <a:srgbClr val="0E1E3C"/>
            </a:solidFill>
            <a:prstDash val="solid"/>
          </a:ln>
        </p:spPr>
      </p:sp>
      <p:sp>
        <p:nvSpPr>
          <p:cNvPr id="5" name="Text 3"/>
          <p:cNvSpPr/>
          <p:nvPr/>
        </p:nvSpPr>
        <p:spPr>
          <a:xfrm>
            <a:off x="868680" y="1463040"/>
            <a:ext cx="2743200" cy="274320"/>
          </a:xfrm>
          <a:prstGeom prst="rect">
            <a:avLst/>
          </a:prstGeom>
          <a:noFill/>
          <a:ln/>
        </p:spPr>
        <p:txBody>
          <a:bodyPr wrap="square" lIns="0" tIns="0" rIns="0" bIns="0" rtlCol="0" anchor="ctr"/>
          <a:lstStyle/>
          <a:p>
            <a:pPr indent="0" marL="0">
              <a:buNone/>
            </a:pPr>
            <a:r>
              <a:rPr lang="en-US" sz="1150" b="1" spc="120" kern="0" dirty="0">
                <a:solidFill>
                  <a:srgbClr val="EB6834"/>
                </a:solidFill>
                <a:latin typeface="Calibri" pitchFamily="34" charset="0"/>
                <a:ea typeface="Calibri" pitchFamily="34" charset="-122"/>
                <a:cs typeface="Calibri" pitchFamily="34" charset="-120"/>
              </a:rPr>
              <a:t>Definisi</a:t>
            </a:r>
            <a:endParaRPr lang="en-US" sz="1150" dirty="0"/>
          </a:p>
        </p:txBody>
      </p:sp>
      <p:sp>
        <p:nvSpPr>
          <p:cNvPr id="6" name="Text 4"/>
          <p:cNvSpPr/>
          <p:nvPr/>
        </p:nvSpPr>
        <p:spPr>
          <a:xfrm>
            <a:off x="868680" y="1755648"/>
            <a:ext cx="1042416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Ablation study adalah menghapus satu komponen sambil menahan seluruh komponen lain, hyperparameter, dan data tetap sama, lalu mengukur seberapa besar performa berubah. Selisih itulah kontribusi marginal komponen tersebut.</a:t>
            </a:r>
            <a:endParaRPr lang="en-US" sz="1250" dirty="0"/>
          </a:p>
        </p:txBody>
      </p:sp>
      <p:sp>
        <p:nvSpPr>
          <p:cNvPr id="7" name="Text 5"/>
          <p:cNvSpPr/>
          <p:nvPr/>
        </p:nvSpPr>
        <p:spPr>
          <a:xfrm>
            <a:off x="548640" y="2487168"/>
            <a:ext cx="11064240" cy="320040"/>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Kenapa tepat tiga komponen ini yang diablasi</a:t>
            </a:r>
            <a:endParaRPr lang="en-US" sz="1600" dirty="0"/>
          </a:p>
        </p:txBody>
      </p:sp>
      <p:sp>
        <p:nvSpPr>
          <p:cNvPr id="8" name="Shape 6"/>
          <p:cNvSpPr/>
          <p:nvPr/>
        </p:nvSpPr>
        <p:spPr>
          <a:xfrm>
            <a:off x="548640" y="2926080"/>
            <a:ext cx="3520440" cy="2331720"/>
          </a:xfrm>
          <a:prstGeom prst="roundRect">
            <a:avLst>
              <a:gd name="adj" fmla="val 3137"/>
            </a:avLst>
          </a:prstGeom>
          <a:solidFill>
            <a:srgbClr val="F2F4F8"/>
          </a:solidFill>
          <a:ln w="12700">
            <a:solidFill>
              <a:srgbClr val="F2F4F8"/>
            </a:solidFill>
            <a:prstDash val="solid"/>
          </a:ln>
        </p:spPr>
      </p:sp>
      <p:sp>
        <p:nvSpPr>
          <p:cNvPr id="9" name="Shape 7"/>
          <p:cNvSpPr/>
          <p:nvPr/>
        </p:nvSpPr>
        <p:spPr>
          <a:xfrm>
            <a:off x="822960" y="3127248"/>
            <a:ext cx="274320" cy="274320"/>
          </a:xfrm>
          <a:prstGeom prst="ellipse">
            <a:avLst/>
          </a:prstGeom>
          <a:solidFill>
            <a:srgbClr val="2A78D6"/>
          </a:solidFill>
          <a:ln w="12700">
            <a:solidFill>
              <a:srgbClr val="2A78D6"/>
            </a:solidFill>
            <a:prstDash val="solid"/>
          </a:ln>
        </p:spPr>
      </p:sp>
      <p:sp>
        <p:nvSpPr>
          <p:cNvPr id="10" name="Text 8"/>
          <p:cNvSpPr/>
          <p:nvPr/>
        </p:nvSpPr>
        <p:spPr>
          <a:xfrm>
            <a:off x="822960" y="3520440"/>
            <a:ext cx="3017520" cy="68580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Karena tepat tiga inilah yang kami ubah</a:t>
            </a:r>
            <a:endParaRPr lang="en-US" sz="1300" dirty="0"/>
          </a:p>
        </p:txBody>
      </p:sp>
      <p:sp>
        <p:nvSpPr>
          <p:cNvPr id="11" name="Text 9"/>
          <p:cNvSpPr/>
          <p:nvPr/>
        </p:nvSpPr>
        <p:spPr>
          <a:xfrm>
            <a:off x="822960" y="4206240"/>
            <a:ext cx="3017520" cy="9601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Komponen lain, yaitu task loss, KL pada class logits, dan localization distillation, adalah praktik standar yang sudah mapan di literatur. Kami tidak mengklaimnya sebagai kontribusi, jadi tidak perlu diablasi</a:t>
            </a:r>
            <a:endParaRPr lang="en-US" sz="1080" dirty="0"/>
          </a:p>
        </p:txBody>
      </p:sp>
      <p:sp>
        <p:nvSpPr>
          <p:cNvPr id="12" name="Shape 10"/>
          <p:cNvSpPr/>
          <p:nvPr/>
        </p:nvSpPr>
        <p:spPr>
          <a:xfrm>
            <a:off x="4343400" y="2926080"/>
            <a:ext cx="3520440" cy="2331720"/>
          </a:xfrm>
          <a:prstGeom prst="roundRect">
            <a:avLst>
              <a:gd name="adj" fmla="val 3137"/>
            </a:avLst>
          </a:prstGeom>
          <a:solidFill>
            <a:srgbClr val="F2F4F8"/>
          </a:solidFill>
          <a:ln w="12700">
            <a:solidFill>
              <a:srgbClr val="F2F4F8"/>
            </a:solidFill>
            <a:prstDash val="solid"/>
          </a:ln>
        </p:spPr>
      </p:sp>
      <p:sp>
        <p:nvSpPr>
          <p:cNvPr id="13" name="Shape 11"/>
          <p:cNvSpPr/>
          <p:nvPr/>
        </p:nvSpPr>
        <p:spPr>
          <a:xfrm>
            <a:off x="4617720" y="3127248"/>
            <a:ext cx="274320" cy="274320"/>
          </a:xfrm>
          <a:prstGeom prst="ellipse">
            <a:avLst/>
          </a:prstGeom>
          <a:solidFill>
            <a:srgbClr val="EB6834"/>
          </a:solidFill>
          <a:ln w="12700">
            <a:solidFill>
              <a:srgbClr val="EB6834"/>
            </a:solidFill>
            <a:prstDash val="solid"/>
          </a:ln>
        </p:spPr>
      </p:sp>
      <p:sp>
        <p:nvSpPr>
          <p:cNvPr id="14" name="Text 12"/>
          <p:cNvSpPr/>
          <p:nvPr/>
        </p:nvSpPr>
        <p:spPr>
          <a:xfrm>
            <a:off x="4617720" y="3520440"/>
            <a:ext cx="3017520" cy="68580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Supaya klaim kontribusi bisa diuji satu per satu</a:t>
            </a:r>
            <a:endParaRPr lang="en-US" sz="1300" dirty="0"/>
          </a:p>
        </p:txBody>
      </p:sp>
      <p:sp>
        <p:nvSpPr>
          <p:cNvPr id="15" name="Text 13"/>
          <p:cNvSpPr/>
          <p:nvPr/>
        </p:nvSpPr>
        <p:spPr>
          <a:xfrm>
            <a:off x="4617720" y="4206240"/>
            <a:ext cx="3017520" cy="9601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Tanpa ablation, kami hanya bisa bilang gabungan ketiganya bekerja. Dengan ablation, kami bisa menunjuk komponen mana yang menyumbang berapa, dan pada kondisi mana efeknya muncul</a:t>
            </a:r>
            <a:endParaRPr lang="en-US" sz="1080" dirty="0"/>
          </a:p>
        </p:txBody>
      </p:sp>
      <p:sp>
        <p:nvSpPr>
          <p:cNvPr id="16" name="Shape 14"/>
          <p:cNvSpPr/>
          <p:nvPr/>
        </p:nvSpPr>
        <p:spPr>
          <a:xfrm>
            <a:off x="8138160" y="2926080"/>
            <a:ext cx="3520440" cy="2331720"/>
          </a:xfrm>
          <a:prstGeom prst="roundRect">
            <a:avLst>
              <a:gd name="adj" fmla="val 3137"/>
            </a:avLst>
          </a:prstGeom>
          <a:solidFill>
            <a:srgbClr val="F2F4F8"/>
          </a:solidFill>
          <a:ln w="12700">
            <a:solidFill>
              <a:srgbClr val="F2F4F8"/>
            </a:solidFill>
            <a:prstDash val="solid"/>
          </a:ln>
        </p:spPr>
      </p:sp>
      <p:sp>
        <p:nvSpPr>
          <p:cNvPr id="17" name="Shape 15"/>
          <p:cNvSpPr/>
          <p:nvPr/>
        </p:nvSpPr>
        <p:spPr>
          <a:xfrm>
            <a:off x="8412480" y="3127248"/>
            <a:ext cx="274320" cy="274320"/>
          </a:xfrm>
          <a:prstGeom prst="ellipse">
            <a:avLst/>
          </a:prstGeom>
          <a:solidFill>
            <a:srgbClr val="1BAF7A"/>
          </a:solidFill>
          <a:ln w="12700">
            <a:solidFill>
              <a:srgbClr val="1BAF7A"/>
            </a:solidFill>
            <a:prstDash val="solid"/>
          </a:ln>
        </p:spPr>
      </p:sp>
      <p:sp>
        <p:nvSpPr>
          <p:cNvPr id="18" name="Text 16"/>
          <p:cNvSpPr/>
          <p:nvPr/>
        </p:nvSpPr>
        <p:spPr>
          <a:xfrm>
            <a:off x="8412480" y="3520440"/>
            <a:ext cx="3017520" cy="68580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Supaya perbandingannya apple to apple</a:t>
            </a:r>
            <a:endParaRPr lang="en-US" sz="1300" dirty="0"/>
          </a:p>
        </p:txBody>
      </p:sp>
      <p:sp>
        <p:nvSpPr>
          <p:cNvPr id="19" name="Text 17"/>
          <p:cNvSpPr/>
          <p:nvPr/>
        </p:nvSpPr>
        <p:spPr>
          <a:xfrm>
            <a:off x="8412480" y="4206240"/>
            <a:ext cx="3017520" cy="9601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Teacher, student baseline, data, augmentasi, seed, dan seluruh hyperparameter lain dibuat identik. Hanya satu variabel yang berubah tiap eksperimen</a:t>
            </a:r>
            <a:endParaRPr lang="en-US" sz="1080" dirty="0"/>
          </a:p>
        </p:txBody>
      </p:sp>
      <p:sp>
        <p:nvSpPr>
          <p:cNvPr id="20" name="Shape 18"/>
          <p:cNvSpPr/>
          <p:nvPr/>
        </p:nvSpPr>
        <p:spPr>
          <a:xfrm>
            <a:off x="548640" y="5440680"/>
            <a:ext cx="11064240" cy="914400"/>
          </a:xfrm>
          <a:prstGeom prst="roundRect">
            <a:avLst>
              <a:gd name="adj" fmla="val 8000"/>
            </a:avLst>
          </a:prstGeom>
          <a:solidFill>
            <a:srgbClr val="EEF3FB"/>
          </a:solidFill>
          <a:ln w="12700">
            <a:solidFill>
              <a:srgbClr val="EEF3FB"/>
            </a:solidFill>
            <a:prstDash val="solid"/>
          </a:ln>
        </p:spPr>
      </p:sp>
      <p:sp>
        <p:nvSpPr>
          <p:cNvPr id="21" name="Text 19"/>
          <p:cNvSpPr/>
          <p:nvPr/>
        </p:nvSpPr>
        <p:spPr>
          <a:xfrm>
            <a:off x="868680" y="5596128"/>
            <a:ext cx="10424160" cy="640080"/>
          </a:xfrm>
          <a:prstGeom prst="rect">
            <a:avLst/>
          </a:prstGeom>
          <a:noFill/>
          <a:ln/>
        </p:spPr>
        <p:txBody>
          <a:bodyPr wrap="square" lIns="0" tIns="0" rIns="0" bIns="0" rtlCol="0" anchor="ctr"/>
          <a:lstStyle/>
          <a:p>
            <a:pPr indent="0" marL="0">
              <a:buNone/>
            </a:pPr>
            <a:r>
              <a:rPr lang="en-US" sz="1200" dirty="0">
                <a:solidFill>
                  <a:srgbClr val="0E1E3C"/>
                </a:solidFill>
                <a:latin typeface="Calibri" pitchFamily="34" charset="0"/>
                <a:ea typeface="Calibri" pitchFamily="34" charset="-122"/>
                <a:cs typeface="Calibri" pitchFamily="34" charset="-120"/>
              </a:rPr>
              <a:t>Catatan kejujuran yang akan kami sampaikan: ketiga komponen ini awalnya dipilih dari kajian literatur dan diskusi, bukan dari hasil eksperimen. Ablation inilah yang mengubahnya dari dugaan menjadi bukti, dan itulah alasan kami menjalankannya sebelum menulis klaim kontribusi.</a:t>
            </a:r>
            <a:endParaRPr lang="en-US" sz="1200" dirty="0"/>
          </a:p>
        </p:txBody>
      </p:sp>
      <p:sp>
        <p:nvSpPr>
          <p:cNvPr id="22" name="Text 20"/>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6 DARI 6, BAGIAN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Hasil ablation dan pembacaannya</a:t>
            </a:r>
            <a:endParaRPr lang="en-US" sz="27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926080"/>
                <a:gridCol w="1371600"/>
                <a:gridCol w="1371600"/>
                <a:gridCol w="1554480"/>
                <a:gridCol w="3840480"/>
              </a:tblGrid>
              <a:tr h="640080">
                <a:tc>
                  <a:txBody>
                    <a:bodyPr/>
                    <a:lstStyle/>
                    <a:p>
                      <a:pPr algn="l" indent="0" marL="0">
                        <a:buNone/>
                      </a:pPr>
                      <a:r>
                        <a:rPr lang="en-US" sz="1080" b="1" dirty="0">
                          <a:solidFill>
                            <a:srgbClr val="FFFFFF"/>
                          </a:solidFill>
                          <a:latin typeface="Calibri" pitchFamily="34" charset="0"/>
                          <a:ea typeface="Calibri" pitchFamily="34" charset="-122"/>
                          <a:cs typeface="Calibri" pitchFamily="34" charset="-120"/>
                        </a:rPr>
                        <a:t>Konfigurasi</a:t>
                      </a:r>
                      <a:endParaRPr lang="en-US" sz="10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080" b="1" dirty="0">
                          <a:solidFill>
                            <a:srgbClr val="FFFFFF"/>
                          </a:solidFill>
                          <a:latin typeface="Calibri" pitchFamily="34" charset="0"/>
                          <a:ea typeface="Calibri" pitchFamily="34" charset="-122"/>
                          <a:cs typeface="Calibri" pitchFamily="34" charset="-120"/>
                        </a:rPr>
                        <a:t>mAP@0.5 siang</a:t>
                      </a:r>
                      <a:endParaRPr lang="en-US" sz="10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080" b="1" dirty="0">
                          <a:solidFill>
                            <a:srgbClr val="FFFFFF"/>
                          </a:solidFill>
                          <a:latin typeface="Calibri" pitchFamily="34" charset="0"/>
                          <a:ea typeface="Calibri" pitchFamily="34" charset="-122"/>
                          <a:cs typeface="Calibri" pitchFamily="34" charset="-120"/>
                        </a:rPr>
                        <a:t>mAP@0.5 malam</a:t>
                      </a:r>
                      <a:endParaRPr lang="en-US" sz="10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080" b="1" dirty="0">
                          <a:solidFill>
                            <a:srgbClr val="FFFFFF"/>
                          </a:solidFill>
                          <a:latin typeface="Calibri" pitchFamily="34" charset="0"/>
                          <a:ea typeface="Calibri" pitchFamily="34" charset="-122"/>
                          <a:cs typeface="Calibri" pitchFamily="34" charset="-120"/>
                        </a:rPr>
                        <a:t>Gap siang ke malam</a:t>
                      </a:r>
                      <a:endParaRPr lang="en-US" sz="10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080" b="1" dirty="0">
                          <a:solidFill>
                            <a:srgbClr val="FFFFFF"/>
                          </a:solidFill>
                          <a:latin typeface="Calibri" pitchFamily="34" charset="0"/>
                          <a:ea typeface="Calibri" pitchFamily="34" charset="-122"/>
                          <a:cs typeface="Calibri" pitchFamily="34" charset="-120"/>
                        </a:rPr>
                        <a:t>Pembacaan</a:t>
                      </a:r>
                      <a:endParaRPr lang="en-US" sz="108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640080">
                <a:tc>
                  <a:txBody>
                    <a:bodyPr/>
                    <a:lstStyle/>
                    <a:p>
                      <a:pPr algn="l" indent="0" marL="0">
                        <a:buNone/>
                      </a:pPr>
                      <a:r>
                        <a:rPr lang="en-US" sz="1030" dirty="0">
                          <a:solidFill>
                            <a:srgbClr val="0E1E3C"/>
                          </a:solidFill>
                          <a:latin typeface="Calibri" pitchFamily="34" charset="0"/>
                          <a:ea typeface="Calibri" pitchFamily="34" charset="-122"/>
                          <a:cs typeface="Calibri" pitchFamily="34" charset="-120"/>
                        </a:rPr>
                        <a:t>KD penuh (rata rata 3 run)</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1030" dirty="0">
                          <a:solidFill>
                            <a:srgbClr val="0E1E3C"/>
                          </a:solidFill>
                          <a:latin typeface="Calibri" pitchFamily="34" charset="0"/>
                          <a:ea typeface="Calibri" pitchFamily="34" charset="-122"/>
                          <a:cs typeface="Calibri" pitchFamily="34" charset="-120"/>
                        </a:rPr>
                        <a:t>0,5013</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1030" dirty="0">
                          <a:solidFill>
                            <a:srgbClr val="0E1E3C"/>
                          </a:solidFill>
                          <a:latin typeface="Calibri" pitchFamily="34" charset="0"/>
                          <a:ea typeface="Calibri" pitchFamily="34" charset="-122"/>
                          <a:cs typeface="Calibri" pitchFamily="34" charset="-120"/>
                        </a:rPr>
                        <a:t>0,4780</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1030" dirty="0">
                          <a:solidFill>
                            <a:srgbClr val="0E1E3C"/>
                          </a:solidFill>
                          <a:latin typeface="Calibri" pitchFamily="34" charset="0"/>
                          <a:ea typeface="Calibri" pitchFamily="34" charset="-122"/>
                          <a:cs typeface="Calibri" pitchFamily="34" charset="-120"/>
                        </a:rPr>
                        <a:t>0,0233</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1030" dirty="0">
                          <a:solidFill>
                            <a:srgbClr val="0E1E3C"/>
                          </a:solidFill>
                          <a:latin typeface="Calibri" pitchFamily="34" charset="0"/>
                          <a:ea typeface="Calibri" pitchFamily="34" charset="-122"/>
                          <a:cs typeface="Calibri" pitchFamily="34" charset="-120"/>
                        </a:rPr>
                        <a:t>Acuan pembanding</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r>
              <a:tr h="640080">
                <a:tc>
                  <a:txBody>
                    <a:bodyPr/>
                    <a:lstStyle/>
                    <a:p>
                      <a:pPr algn="l" indent="0" marL="0">
                        <a:buNone/>
                      </a:pPr>
                      <a:r>
                        <a:rPr lang="en-US" sz="1030" dirty="0">
                          <a:solidFill>
                            <a:srgbClr val="52514E"/>
                          </a:solidFill>
                          <a:latin typeface="Calibri" pitchFamily="34" charset="0"/>
                          <a:ea typeface="Calibri" pitchFamily="34" charset="-122"/>
                          <a:cs typeface="Calibri" pitchFamily="34" charset="-120"/>
                        </a:rPr>
                        <a:t>Tanpa Channel-wise Distillation</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0,5003</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0,4682</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0,0321</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Siang praktis tidak berubah, malam turun 0,0098. Menyumbang 46 persen pengecilan gap, efeknya khusus malam</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40080">
                <a:tc>
                  <a:txBody>
                    <a:bodyPr/>
                    <a:lstStyle/>
                    <a:p>
                      <a:pPr algn="l" indent="0" marL="0">
                        <a:buNone/>
                      </a:pPr>
                      <a:r>
                        <a:rPr lang="en-US" sz="1030" dirty="0">
                          <a:solidFill>
                            <a:srgbClr val="52514E"/>
                          </a:solidFill>
                          <a:latin typeface="Calibri" pitchFamily="34" charset="0"/>
                          <a:ea typeface="Calibri" pitchFamily="34" charset="-122"/>
                          <a:cs typeface="Calibri" pitchFamily="34" charset="-120"/>
                        </a:rPr>
                        <a:t>Tanpa soft confidence weighting</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menunggu angka</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menunggu angka</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menunggu angka</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Training sudah selesai, angka menyusul</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40080">
                <a:tc>
                  <a:txBody>
                    <a:bodyPr/>
                    <a:lstStyle/>
                    <a:p>
                      <a:pPr algn="l" indent="0" marL="0">
                        <a:buNone/>
                      </a:pPr>
                      <a:r>
                        <a:rPr lang="en-US" sz="1030" dirty="0">
                          <a:solidFill>
                            <a:srgbClr val="52514E"/>
                          </a:solidFill>
                          <a:latin typeface="Calibri" pitchFamily="34" charset="0"/>
                          <a:ea typeface="Calibri" pitchFamily="34" charset="-122"/>
                          <a:cs typeface="Calibri" pitchFamily="34" charset="-120"/>
                        </a:rPr>
                        <a:t>Tanpa cosine beta schedule</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menunggu angka</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menunggu angka</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menunggu angka</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Training sudah selesai, angka menyusul</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40080">
                <a:tc>
                  <a:txBody>
                    <a:bodyPr/>
                    <a:lstStyle/>
                    <a:p>
                      <a:pPr algn="l" indent="0" marL="0">
                        <a:buNone/>
                      </a:pPr>
                      <a:r>
                        <a:rPr lang="en-US" sz="1030" dirty="0">
                          <a:solidFill>
                            <a:srgbClr val="52514E"/>
                          </a:solidFill>
                          <a:latin typeface="Calibri" pitchFamily="34" charset="0"/>
                          <a:ea typeface="Calibri" pitchFamily="34" charset="-122"/>
                          <a:cs typeface="Calibri" pitchFamily="34" charset="-120"/>
                        </a:rPr>
                        <a:t>Student baseline, tanpa KD sama sekali</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0,4893</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0,4470</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0,0423</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52514E"/>
                          </a:solidFill>
                          <a:latin typeface="Calibri" pitchFamily="34" charset="0"/>
                          <a:ea typeface="Calibri" pitchFamily="34" charset="-122"/>
                          <a:cs typeface="Calibri" pitchFamily="34" charset="-120"/>
                        </a:rPr>
                        <a:t>Batas bawah pembanding</a:t>
                      </a:r>
                      <a:endParaRPr lang="en-US" sz="103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532120"/>
            <a:ext cx="11064240" cy="868680"/>
          </a:xfrm>
          <a:prstGeom prst="roundRect">
            <a:avLst>
              <a:gd name="adj" fmla="val 8421"/>
            </a:avLst>
          </a:prstGeom>
          <a:solidFill>
            <a:srgbClr val="0E1E3C"/>
          </a:solidFill>
          <a:ln w="12700">
            <a:solidFill>
              <a:srgbClr val="0E1E3C"/>
            </a:solidFill>
            <a:prstDash val="solid"/>
          </a:ln>
        </p:spPr>
      </p:sp>
      <p:sp>
        <p:nvSpPr>
          <p:cNvPr id="6" name="Text 3"/>
          <p:cNvSpPr/>
          <p:nvPr/>
        </p:nvSpPr>
        <p:spPr>
          <a:xfrm>
            <a:off x="868680" y="5687568"/>
            <a:ext cx="10424160" cy="5943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Pola yang paling berarti bukan besarnya penurunan mAP, melainkan bahwa penurunannya hampir seluruhnya terjadi pada kondisi malam sementara kondisi siang nyaris tidak terpengaruh. Itu bukti bahwa komponen tersebut memang bekerja lewat jalur yang kami hipotesiskan, yaitu ketahanan terhadap perubahan cahaya.</a:t>
            </a:r>
            <a:endParaRPr lang="en-US" sz="1150" dirty="0"/>
          </a:p>
        </p:txBody>
      </p:sp>
      <p:sp>
        <p:nvSpPr>
          <p:cNvPr id="7" name="Text 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NOVELTY</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Klaim kontribusi, dinyatakan secara eksplisit</a:t>
            </a:r>
            <a:endParaRPr lang="en-US" sz="2700" dirty="0"/>
          </a:p>
        </p:txBody>
      </p:sp>
      <p:sp>
        <p:nvSpPr>
          <p:cNvPr id="4" name="Shape 2"/>
          <p:cNvSpPr/>
          <p:nvPr/>
        </p:nvSpPr>
        <p:spPr>
          <a:xfrm>
            <a:off x="548640" y="1371600"/>
            <a:ext cx="11064240" cy="932688"/>
          </a:xfrm>
          <a:prstGeom prst="roundRect">
            <a:avLst>
              <a:gd name="adj" fmla="val 7843"/>
            </a:avLst>
          </a:prstGeom>
          <a:solidFill>
            <a:srgbClr val="EEF3FB"/>
          </a:solidFill>
          <a:ln w="12700">
            <a:solidFill>
              <a:srgbClr val="EEF3FB"/>
            </a:solidFill>
            <a:prstDash val="solid"/>
          </a:ln>
        </p:spPr>
      </p:sp>
      <p:sp>
        <p:nvSpPr>
          <p:cNvPr id="5" name="Shape 3"/>
          <p:cNvSpPr/>
          <p:nvPr/>
        </p:nvSpPr>
        <p:spPr>
          <a:xfrm>
            <a:off x="841248" y="1655064"/>
            <a:ext cx="365760" cy="365760"/>
          </a:xfrm>
          <a:prstGeom prst="ellipse">
            <a:avLst/>
          </a:prstGeom>
          <a:solidFill>
            <a:srgbClr val="EB6834"/>
          </a:solidFill>
          <a:ln w="12700">
            <a:solidFill>
              <a:srgbClr val="EB6834"/>
            </a:solidFill>
            <a:prstDash val="solid"/>
          </a:ln>
        </p:spPr>
      </p:sp>
      <p:sp>
        <p:nvSpPr>
          <p:cNvPr id="6" name="Text 4"/>
          <p:cNvSpPr/>
          <p:nvPr/>
        </p:nvSpPr>
        <p:spPr>
          <a:xfrm>
            <a:off x="841248" y="1655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89888" y="1463040"/>
            <a:ext cx="2926080" cy="7498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Reformulasi masalah</a:t>
            </a:r>
            <a:endParaRPr lang="en-US" sz="1300" dirty="0"/>
          </a:p>
        </p:txBody>
      </p:sp>
      <p:sp>
        <p:nvSpPr>
          <p:cNvPr id="8" name="Text 6"/>
          <p:cNvSpPr/>
          <p:nvPr/>
        </p:nvSpPr>
        <p:spPr>
          <a:xfrm>
            <a:off x="4434840" y="1444752"/>
            <a:ext cx="6949440" cy="786384"/>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Menjadikan besar penurunan siang ke malam sebagai besaran yang dilaporkan dan dioptimasi untuk detektor ringan, bukan mAP gabungan. Tidak ada karya pada tabel perbandingan kami yang melakukannya</a:t>
            </a:r>
            <a:endParaRPr lang="en-US" sz="1100" dirty="0"/>
          </a:p>
        </p:txBody>
      </p:sp>
      <p:sp>
        <p:nvSpPr>
          <p:cNvPr id="9" name="Shape 7"/>
          <p:cNvSpPr/>
          <p:nvPr/>
        </p:nvSpPr>
        <p:spPr>
          <a:xfrm>
            <a:off x="548640" y="2404872"/>
            <a:ext cx="11064240" cy="932688"/>
          </a:xfrm>
          <a:prstGeom prst="roundRect">
            <a:avLst>
              <a:gd name="adj" fmla="val 7843"/>
            </a:avLst>
          </a:prstGeom>
          <a:solidFill>
            <a:srgbClr val="EEF3FB"/>
          </a:solidFill>
          <a:ln w="12700">
            <a:solidFill>
              <a:srgbClr val="EEF3FB"/>
            </a:solidFill>
            <a:prstDash val="solid"/>
          </a:ln>
        </p:spPr>
      </p:sp>
      <p:sp>
        <p:nvSpPr>
          <p:cNvPr id="10" name="Shape 8"/>
          <p:cNvSpPr/>
          <p:nvPr/>
        </p:nvSpPr>
        <p:spPr>
          <a:xfrm>
            <a:off x="841248" y="2688336"/>
            <a:ext cx="365760" cy="365760"/>
          </a:xfrm>
          <a:prstGeom prst="ellipse">
            <a:avLst/>
          </a:prstGeom>
          <a:solidFill>
            <a:srgbClr val="EB6834"/>
          </a:solidFill>
          <a:ln w="12700">
            <a:solidFill>
              <a:srgbClr val="EB6834"/>
            </a:solidFill>
            <a:prstDash val="solid"/>
          </a:ln>
        </p:spPr>
      </p:sp>
      <p:sp>
        <p:nvSpPr>
          <p:cNvPr id="11" name="Text 9"/>
          <p:cNvSpPr/>
          <p:nvPr/>
        </p:nvSpPr>
        <p:spPr>
          <a:xfrm>
            <a:off x="841248" y="2688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389888" y="2496312"/>
            <a:ext cx="2926080" cy="7498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Bukti mekanisme, bukan hanya hasil</a:t>
            </a:r>
            <a:endParaRPr lang="en-US" sz="1300" dirty="0"/>
          </a:p>
        </p:txBody>
      </p:sp>
      <p:sp>
        <p:nvSpPr>
          <p:cNvPr id="13" name="Text 11"/>
          <p:cNvSpPr/>
          <p:nvPr/>
        </p:nvSpPr>
        <p:spPr>
          <a:xfrm>
            <a:off x="4434840" y="2478024"/>
            <a:ext cx="6949440" cy="786384"/>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Ablation per komponen menunjukkan komponen mana yang bekerja dan pada kondisi mana. Channel-wise Distillation menyumbang 46 persen pengecilan gap dan efeknya khusus malam</a:t>
            </a:r>
            <a:endParaRPr lang="en-US" sz="1100" dirty="0"/>
          </a:p>
        </p:txBody>
      </p:sp>
      <p:sp>
        <p:nvSpPr>
          <p:cNvPr id="14" name="Shape 12"/>
          <p:cNvSpPr/>
          <p:nvPr/>
        </p:nvSpPr>
        <p:spPr>
          <a:xfrm>
            <a:off x="548640" y="3438144"/>
            <a:ext cx="11064240" cy="932688"/>
          </a:xfrm>
          <a:prstGeom prst="roundRect">
            <a:avLst>
              <a:gd name="adj" fmla="val 7843"/>
            </a:avLst>
          </a:prstGeom>
          <a:solidFill>
            <a:srgbClr val="F2F4F8"/>
          </a:solidFill>
          <a:ln w="12700">
            <a:solidFill>
              <a:srgbClr val="F2F4F8"/>
            </a:solidFill>
            <a:prstDash val="solid"/>
          </a:ln>
        </p:spPr>
      </p:sp>
      <p:sp>
        <p:nvSpPr>
          <p:cNvPr id="15" name="Shape 13"/>
          <p:cNvSpPr/>
          <p:nvPr/>
        </p:nvSpPr>
        <p:spPr>
          <a:xfrm>
            <a:off x="841248" y="3721608"/>
            <a:ext cx="365760" cy="365760"/>
          </a:xfrm>
          <a:prstGeom prst="ellipse">
            <a:avLst/>
          </a:prstGeom>
          <a:solidFill>
            <a:srgbClr val="2A78D6"/>
          </a:solidFill>
          <a:ln w="12700">
            <a:solidFill>
              <a:srgbClr val="2A78D6"/>
            </a:solidFill>
            <a:prstDash val="solid"/>
          </a:ln>
        </p:spPr>
      </p:sp>
      <p:sp>
        <p:nvSpPr>
          <p:cNvPr id="16" name="Text 14"/>
          <p:cNvSpPr/>
          <p:nvPr/>
        </p:nvSpPr>
        <p:spPr>
          <a:xfrm>
            <a:off x="841248" y="37216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89888" y="3529584"/>
            <a:ext cx="2926080" cy="7498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Desain distilasi yang beralasan untuk low light</a:t>
            </a:r>
            <a:endParaRPr lang="en-US" sz="1300" dirty="0"/>
          </a:p>
        </p:txBody>
      </p:sp>
      <p:sp>
        <p:nvSpPr>
          <p:cNvPr id="18" name="Text 16"/>
          <p:cNvSpPr/>
          <p:nvPr/>
        </p:nvSpPr>
        <p:spPr>
          <a:xfrm>
            <a:off x="4434840" y="3511296"/>
            <a:ext cx="6949440" cy="786384"/>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Tiap komponen dipilih karena sifatnya cocok dengan mode kegagalan malam hari, misalnya softmax spasial yang menetralkan perubahan magnitudo aktivasi akibat cahaya</a:t>
            </a:r>
            <a:endParaRPr lang="en-US" sz="1100" dirty="0"/>
          </a:p>
        </p:txBody>
      </p:sp>
      <p:sp>
        <p:nvSpPr>
          <p:cNvPr id="19" name="Shape 17"/>
          <p:cNvSpPr/>
          <p:nvPr/>
        </p:nvSpPr>
        <p:spPr>
          <a:xfrm>
            <a:off x="548640" y="4471416"/>
            <a:ext cx="11064240" cy="932688"/>
          </a:xfrm>
          <a:prstGeom prst="roundRect">
            <a:avLst>
              <a:gd name="adj" fmla="val 7843"/>
            </a:avLst>
          </a:prstGeom>
          <a:solidFill>
            <a:srgbClr val="F2F4F8"/>
          </a:solidFill>
          <a:ln w="12700">
            <a:solidFill>
              <a:srgbClr val="F2F4F8"/>
            </a:solidFill>
            <a:prstDash val="solid"/>
          </a:ln>
        </p:spPr>
      </p:sp>
      <p:sp>
        <p:nvSpPr>
          <p:cNvPr id="20" name="Shape 18"/>
          <p:cNvSpPr/>
          <p:nvPr/>
        </p:nvSpPr>
        <p:spPr>
          <a:xfrm>
            <a:off x="841248" y="4754880"/>
            <a:ext cx="365760" cy="365760"/>
          </a:xfrm>
          <a:prstGeom prst="ellipse">
            <a:avLst/>
          </a:prstGeom>
          <a:solidFill>
            <a:srgbClr val="2A78D6"/>
          </a:solidFill>
          <a:ln w="12700">
            <a:solidFill>
              <a:srgbClr val="2A78D6"/>
            </a:solidFill>
            <a:prstDash val="solid"/>
          </a:ln>
        </p:spPr>
      </p:sp>
      <p:sp>
        <p:nvSpPr>
          <p:cNvPr id="21" name="Text 19"/>
          <p:cNvSpPr/>
          <p:nvPr/>
        </p:nvSpPr>
        <p:spPr>
          <a:xfrm>
            <a:off x="841248" y="47548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389888" y="4562856"/>
            <a:ext cx="2926080" cy="7498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Standar pelaporan yang lebih ketat</a:t>
            </a:r>
            <a:endParaRPr lang="en-US" sz="1300" dirty="0"/>
          </a:p>
        </p:txBody>
      </p:sp>
      <p:sp>
        <p:nvSpPr>
          <p:cNvPr id="23" name="Text 21"/>
          <p:cNvSpPr/>
          <p:nvPr/>
        </p:nvSpPr>
        <p:spPr>
          <a:xfrm>
            <a:off x="4434840" y="4544568"/>
            <a:ext cx="6949440" cy="786384"/>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Tiga kali training penuh dengan rata rata dan simpangan baku, evaluasi terpisah per kondisi, dan pelaporan per kelas. Mayoritas paper perbaikan YOLO sejenis hanya melaporkan satu run</a:t>
            </a:r>
            <a:endParaRPr lang="en-US" sz="1100" dirty="0"/>
          </a:p>
        </p:txBody>
      </p:sp>
      <p:sp>
        <p:nvSpPr>
          <p:cNvPr id="24" name="Shape 22"/>
          <p:cNvSpPr/>
          <p:nvPr/>
        </p:nvSpPr>
        <p:spPr>
          <a:xfrm>
            <a:off x="548640" y="5577840"/>
            <a:ext cx="11064240" cy="868680"/>
          </a:xfrm>
          <a:prstGeom prst="roundRect">
            <a:avLst>
              <a:gd name="adj" fmla="val 8421"/>
            </a:avLst>
          </a:prstGeom>
          <a:solidFill>
            <a:srgbClr val="0E1E3C"/>
          </a:solidFill>
          <a:ln w="12700">
            <a:solidFill>
              <a:srgbClr val="0E1E3C"/>
            </a:solidFill>
            <a:prstDash val="solid"/>
          </a:ln>
        </p:spPr>
      </p:sp>
      <p:sp>
        <p:nvSpPr>
          <p:cNvPr id="25" name="Text 23"/>
          <p:cNvSpPr/>
          <p:nvPr/>
        </p:nvSpPr>
        <p:spPr>
          <a:xfrm>
            <a:off x="868680" y="5742432"/>
            <a:ext cx="10424160" cy="5943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Yang tidak kami klaim: mekanisme distilasi yang baru dari nol, atau bahwa model kecil pada dasarnya lebih tahan gelap. Kami memakai teknik yang sudah ada, dengan pertanyaan penelitian, metrik, dan standar bukti yang berbeda. Kami memilih klaim yang bisa kami pertahankan sepenuhnya.</a:t>
            </a:r>
            <a:endParaRPr lang="en-US" sz="1150" dirty="0"/>
          </a:p>
        </p:txBody>
      </p:sp>
      <p:sp>
        <p:nvSpPr>
          <p:cNvPr id="26" name="Text 2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RENCANA KERJA</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Status pekerjaan dan rencana sampai thesis</a:t>
            </a:r>
            <a:endParaRPr lang="en-US" sz="2700" dirty="0"/>
          </a:p>
        </p:txBody>
      </p:sp>
      <p:sp>
        <p:nvSpPr>
          <p:cNvPr id="4" name="Shape 2"/>
          <p:cNvSpPr/>
          <p:nvPr/>
        </p:nvSpPr>
        <p:spPr>
          <a:xfrm>
            <a:off x="548640" y="1371600"/>
            <a:ext cx="3520440" cy="3566160"/>
          </a:xfrm>
          <a:prstGeom prst="roundRect">
            <a:avLst>
              <a:gd name="adj" fmla="val 2078"/>
            </a:avLst>
          </a:prstGeom>
          <a:solidFill>
            <a:srgbClr val="F2F4F8"/>
          </a:solidFill>
          <a:ln w="12700">
            <a:solidFill>
              <a:srgbClr val="F2F4F8"/>
            </a:solidFill>
            <a:prstDash val="solid"/>
          </a:ln>
        </p:spPr>
      </p:sp>
      <p:sp>
        <p:nvSpPr>
          <p:cNvPr id="5" name="Shape 3"/>
          <p:cNvSpPr/>
          <p:nvPr/>
        </p:nvSpPr>
        <p:spPr>
          <a:xfrm>
            <a:off x="822960" y="1572768"/>
            <a:ext cx="274320" cy="274320"/>
          </a:xfrm>
          <a:prstGeom prst="ellipse">
            <a:avLst/>
          </a:prstGeom>
          <a:solidFill>
            <a:srgbClr val="2A78D6"/>
          </a:solidFill>
          <a:ln w="12700">
            <a:solidFill>
              <a:srgbClr val="2A78D6"/>
            </a:solidFill>
            <a:prstDash val="solid"/>
          </a:ln>
        </p:spPr>
      </p:sp>
      <p:sp>
        <p:nvSpPr>
          <p:cNvPr id="6" name="Text 4"/>
          <p:cNvSpPr/>
          <p:nvPr/>
        </p:nvSpPr>
        <p:spPr>
          <a:xfrm>
            <a:off x="1207008" y="1517904"/>
            <a:ext cx="2743200" cy="384048"/>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Sudah selesai</a:t>
            </a:r>
            <a:endParaRPr lang="en-US" sz="1450" dirty="0"/>
          </a:p>
        </p:txBody>
      </p:sp>
      <p:sp>
        <p:nvSpPr>
          <p:cNvPr id="7" name="Text 5"/>
          <p:cNvSpPr/>
          <p:nvPr/>
        </p:nvSpPr>
        <p:spPr>
          <a:xfrm>
            <a:off x="822960" y="2011680"/>
            <a:ext cx="3017520" cy="2788920"/>
          </a:xfrm>
          <a:prstGeom prst="rect">
            <a:avLst/>
          </a:prstGeom>
          <a:noFill/>
          <a:ln/>
        </p:spPr>
        <p:txBody>
          <a:bodyPr wrap="square" lIns="0" tIns="0" rIns="0" bIns="0" rtlCol="0" anchor="t"/>
          <a:lstStyle/>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Pipeline penuh 9 kelas untuk teacher, student baseline, dan student KD</a:t>
            </a:r>
            <a:endParaRPr lang="en-US" sz="1100" dirty="0"/>
          </a:p>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Tiga kali training KD untuk verifikasi konsistensi</a:t>
            </a:r>
            <a:endParaRPr lang="en-US" sz="1100" dirty="0"/>
          </a:p>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Ablation ketiga komponen: tanpa CWD, tanpa soft weighting, tanpa beta decay</a:t>
            </a:r>
            <a:endParaRPr lang="en-US" sz="1100" dirty="0"/>
          </a:p>
        </p:txBody>
      </p:sp>
      <p:sp>
        <p:nvSpPr>
          <p:cNvPr id="8" name="Shape 6"/>
          <p:cNvSpPr/>
          <p:nvPr/>
        </p:nvSpPr>
        <p:spPr>
          <a:xfrm>
            <a:off x="4343400" y="1371600"/>
            <a:ext cx="3520440" cy="3566160"/>
          </a:xfrm>
          <a:prstGeom prst="roundRect">
            <a:avLst>
              <a:gd name="adj" fmla="val 2078"/>
            </a:avLst>
          </a:prstGeom>
          <a:solidFill>
            <a:srgbClr val="F2F4F8"/>
          </a:solidFill>
          <a:ln w="12700">
            <a:solidFill>
              <a:srgbClr val="F2F4F8"/>
            </a:solidFill>
            <a:prstDash val="solid"/>
          </a:ln>
        </p:spPr>
      </p:sp>
      <p:sp>
        <p:nvSpPr>
          <p:cNvPr id="9" name="Shape 7"/>
          <p:cNvSpPr/>
          <p:nvPr/>
        </p:nvSpPr>
        <p:spPr>
          <a:xfrm>
            <a:off x="4617720" y="1572768"/>
            <a:ext cx="274320" cy="274320"/>
          </a:xfrm>
          <a:prstGeom prst="ellipse">
            <a:avLst/>
          </a:prstGeom>
          <a:solidFill>
            <a:srgbClr val="EB6834"/>
          </a:solidFill>
          <a:ln w="12700">
            <a:solidFill>
              <a:srgbClr val="EB6834"/>
            </a:solidFill>
            <a:prstDash val="solid"/>
          </a:ln>
        </p:spPr>
      </p:sp>
      <p:sp>
        <p:nvSpPr>
          <p:cNvPr id="10" name="Text 8"/>
          <p:cNvSpPr/>
          <p:nvPr/>
        </p:nvSpPr>
        <p:spPr>
          <a:xfrm>
            <a:off x="5001768" y="1517904"/>
            <a:ext cx="2743200" cy="384048"/>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Prioritas berikutnya</a:t>
            </a:r>
            <a:endParaRPr lang="en-US" sz="1450" dirty="0"/>
          </a:p>
        </p:txBody>
      </p:sp>
      <p:sp>
        <p:nvSpPr>
          <p:cNvPr id="11" name="Text 9"/>
          <p:cNvSpPr/>
          <p:nvPr/>
        </p:nvSpPr>
        <p:spPr>
          <a:xfrm>
            <a:off x="4617720" y="2011680"/>
            <a:ext cx="3017520" cy="2788920"/>
          </a:xfrm>
          <a:prstGeom prst="rect">
            <a:avLst/>
          </a:prstGeom>
          <a:noFill/>
          <a:ln/>
        </p:spPr>
        <p:txBody>
          <a:bodyPr wrap="square" lIns="0" tIns="0" rIns="0" bIns="0" rtlCol="0" anchor="t"/>
          <a:lstStyle/>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Student baseline diulang tiga kali agar uji signifikansi lengkap di kedua sisi</a:t>
            </a:r>
            <a:endParaRPr lang="en-US" sz="1100" dirty="0"/>
          </a:p>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Pengukuran latency dan FPS pada perangkat edge untuk mendukung klaim deployable</a:t>
            </a:r>
            <a:endParaRPr lang="en-US" sz="1100" dirty="0"/>
          </a:p>
        </p:txBody>
      </p:sp>
      <p:sp>
        <p:nvSpPr>
          <p:cNvPr id="12" name="Shape 10"/>
          <p:cNvSpPr/>
          <p:nvPr/>
        </p:nvSpPr>
        <p:spPr>
          <a:xfrm>
            <a:off x="8138160" y="1371600"/>
            <a:ext cx="3520440" cy="3566160"/>
          </a:xfrm>
          <a:prstGeom prst="roundRect">
            <a:avLst>
              <a:gd name="adj" fmla="val 2078"/>
            </a:avLst>
          </a:prstGeom>
          <a:solidFill>
            <a:srgbClr val="0E1E3C"/>
          </a:solidFill>
          <a:ln w="12700">
            <a:solidFill>
              <a:srgbClr val="0E1E3C"/>
            </a:solidFill>
            <a:prstDash val="solid"/>
          </a:ln>
        </p:spPr>
      </p:sp>
      <p:sp>
        <p:nvSpPr>
          <p:cNvPr id="13" name="Shape 11"/>
          <p:cNvSpPr/>
          <p:nvPr/>
        </p:nvSpPr>
        <p:spPr>
          <a:xfrm>
            <a:off x="8412480" y="1572768"/>
            <a:ext cx="274320" cy="274320"/>
          </a:xfrm>
          <a:prstGeom prst="ellipse">
            <a:avLst/>
          </a:prstGeom>
          <a:solidFill>
            <a:srgbClr val="EB6834"/>
          </a:solidFill>
          <a:ln w="12700">
            <a:solidFill>
              <a:srgbClr val="EB6834"/>
            </a:solidFill>
            <a:prstDash val="solid"/>
          </a:ln>
        </p:spPr>
      </p:sp>
      <p:sp>
        <p:nvSpPr>
          <p:cNvPr id="14" name="Text 12"/>
          <p:cNvSpPr/>
          <p:nvPr/>
        </p:nvSpPr>
        <p:spPr>
          <a:xfrm>
            <a:off x="8796528" y="1517904"/>
            <a:ext cx="2743200" cy="384048"/>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Bila waktu memungkinkan</a:t>
            </a:r>
            <a:endParaRPr lang="en-US" sz="1450" dirty="0"/>
          </a:p>
        </p:txBody>
      </p:sp>
      <p:sp>
        <p:nvSpPr>
          <p:cNvPr id="15" name="Text 13"/>
          <p:cNvSpPr/>
          <p:nvPr/>
        </p:nvSpPr>
        <p:spPr>
          <a:xfrm>
            <a:off x="8412480" y="2011680"/>
            <a:ext cx="3017520" cy="2788920"/>
          </a:xfrm>
          <a:prstGeom prst="rect">
            <a:avLst/>
          </a:prstGeom>
          <a:noFill/>
          <a:ln/>
        </p:spPr>
        <p:txBody>
          <a:bodyPr wrap="square" lIns="0" tIns="0" rIns="0" bIns="0" rtlCol="0" anchor="t"/>
          <a:lstStyle/>
          <a:p>
            <a:pPr marL="342900" indent="-342900">
              <a:spcAft>
                <a:spcPts val="1100"/>
              </a:spcAft>
              <a:buSzPct val="100000"/>
              <a:buChar char="•"/>
            </a:pPr>
            <a:r>
              <a:rPr lang="en-US" sz="1100" dirty="0">
                <a:solidFill>
                  <a:srgbClr val="FFFFFF"/>
                </a:solidFill>
                <a:latin typeface="Calibri" pitchFamily="34" charset="0"/>
                <a:ea typeface="Calibri" pitchFamily="34" charset="-122"/>
                <a:cs typeface="Calibri" pitchFamily="34" charset="-120"/>
              </a:rPr>
              <a:t>Pembanding student dengan image enhancement di depan detektor</a:t>
            </a:r>
            <a:endParaRPr lang="en-US" sz="1100" dirty="0"/>
          </a:p>
          <a:p>
            <a:pPr marL="342900" indent="-342900">
              <a:spcAft>
                <a:spcPts val="1100"/>
              </a:spcAft>
              <a:buSzPct val="100000"/>
              <a:buChar char="•"/>
            </a:pPr>
            <a:r>
              <a:rPr lang="en-US" sz="1100" dirty="0">
                <a:solidFill>
                  <a:srgbClr val="FFFFFF"/>
                </a:solidFill>
                <a:latin typeface="Calibri" pitchFamily="34" charset="0"/>
                <a:ea typeface="Calibri" pitchFamily="34" charset="-122"/>
                <a:cs typeface="Calibri" pitchFamily="34" charset="-120"/>
              </a:rPr>
              <a:t>Pembanding feature distillation alternatif, yaitu MGD atau FreeKD</a:t>
            </a:r>
            <a:endParaRPr lang="en-US" sz="1100" dirty="0"/>
          </a:p>
          <a:p>
            <a:pPr marL="342900" indent="-342900">
              <a:spcAft>
                <a:spcPts val="1100"/>
              </a:spcAft>
              <a:buSzPct val="100000"/>
              <a:buChar char="•"/>
            </a:pPr>
            <a:r>
              <a:rPr lang="en-US" sz="1100" dirty="0">
                <a:solidFill>
                  <a:srgbClr val="FFFFFF"/>
                </a:solidFill>
                <a:latin typeface="Calibri" pitchFamily="34" charset="0"/>
                <a:ea typeface="Calibri" pitchFamily="34" charset="-122"/>
                <a:cs typeface="Calibri" pitchFamily="34" charset="-120"/>
              </a:rPr>
              <a:t>Uji lanjutan pada kondisi hujan dan senja yang juga tersedia di BDD100K</a:t>
            </a:r>
            <a:endParaRPr lang="en-US" sz="1100" dirty="0"/>
          </a:p>
        </p:txBody>
      </p:sp>
      <p:sp>
        <p:nvSpPr>
          <p:cNvPr id="16" name="Shape 14"/>
          <p:cNvSpPr/>
          <p:nvPr/>
        </p:nvSpPr>
        <p:spPr>
          <a:xfrm>
            <a:off x="548640" y="5120640"/>
            <a:ext cx="11064240" cy="1234440"/>
          </a:xfrm>
          <a:prstGeom prst="roundRect">
            <a:avLst>
              <a:gd name="adj" fmla="val 5926"/>
            </a:avLst>
          </a:prstGeom>
          <a:solidFill>
            <a:srgbClr val="EEF3FB"/>
          </a:solidFill>
          <a:ln w="12700">
            <a:solidFill>
              <a:srgbClr val="EEF3FB"/>
            </a:solidFill>
            <a:prstDash val="solid"/>
          </a:ln>
        </p:spPr>
      </p:sp>
      <p:sp>
        <p:nvSpPr>
          <p:cNvPr id="17" name="Text 15"/>
          <p:cNvSpPr/>
          <p:nvPr/>
        </p:nvSpPr>
        <p:spPr>
          <a:xfrm>
            <a:off x="868680" y="5285232"/>
            <a:ext cx="10424160" cy="2926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Dua prioritas berikutnya dipilih justru karena keduanya menutup celah yang paling mungkin dipertanyakan penguji</a:t>
            </a:r>
            <a:endParaRPr lang="en-US" sz="1300" dirty="0"/>
          </a:p>
        </p:txBody>
      </p:sp>
      <p:sp>
        <p:nvSpPr>
          <p:cNvPr id="18" name="Text 16"/>
          <p:cNvSpPr/>
          <p:nvPr/>
        </p:nvSpPr>
        <p:spPr>
          <a:xfrm>
            <a:off x="868680" y="5623560"/>
            <a:ext cx="10424160" cy="59436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Mengulang baseline tiga kali membuat perbandingan statistiknya lengkap di kedua sisi, bukan hanya sisi KD. Mengukur latency membuat kata deployable pada judul kami punya bukti angka, bukan sekadar hitungan jumlah parameter.</a:t>
            </a:r>
            <a:endParaRPr lang="en-US" sz="1150" dirty="0"/>
          </a:p>
        </p:txBody>
      </p:sp>
      <p:sp>
        <p:nvSpPr>
          <p:cNvPr id="19" name="Text 17"/>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E3C"/>
        </a:solidFill>
      </p:bgPr>
    </p:bg>
    <p:spTree>
      <p:nvGrpSpPr>
        <p:cNvPr id="1" name=""/>
        <p:cNvGrpSpPr/>
        <p:nvPr/>
      </p:nvGrpSpPr>
      <p:grpSpPr>
        <a:xfrm>
          <a:off x="0" y="0"/>
          <a:ext cx="0" cy="0"/>
          <a:chOff x="0" y="0"/>
          <a:chExt cx="0" cy="0"/>
        </a:xfrm>
      </p:grpSpPr>
      <p:sp>
        <p:nvSpPr>
          <p:cNvPr id="2" name="Shape 0"/>
          <p:cNvSpPr/>
          <p:nvPr/>
        </p:nvSpPr>
        <p:spPr>
          <a:xfrm>
            <a:off x="-2651760" y="5212080"/>
            <a:ext cx="5486400" cy="5486400"/>
          </a:xfrm>
          <a:prstGeom prst="ellipse">
            <a:avLst/>
          </a:prstGeom>
          <a:solidFill>
            <a:srgbClr val="1B3260"/>
          </a:solidFill>
          <a:ln w="12700">
            <a:solidFill>
              <a:srgbClr val="1B3260"/>
            </a:solidFill>
            <a:prstDash val="solid"/>
          </a:ln>
        </p:spPr>
      </p:sp>
      <p:sp>
        <p:nvSpPr>
          <p:cNvPr id="3" name="Text 1"/>
          <p:cNvSpPr/>
          <p:nvPr/>
        </p:nvSpPr>
        <p:spPr>
          <a:xfrm>
            <a:off x="822960" y="173736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Terima kasih</a:t>
            </a:r>
            <a:endParaRPr lang="en-US" sz="4000" dirty="0"/>
          </a:p>
        </p:txBody>
      </p:sp>
      <p:sp>
        <p:nvSpPr>
          <p:cNvPr id="4" name="Text 2"/>
          <p:cNvSpPr/>
          <p:nvPr/>
        </p:nvSpPr>
        <p:spPr>
          <a:xfrm>
            <a:off x="822960" y="2651760"/>
            <a:ext cx="8961120" cy="8229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Kami terbuka untuk masukan, terutama pada kekuatan klaim kontribusi dan pada rencana pengujian statistik.</a:t>
            </a:r>
            <a:endParaRPr lang="en-US" sz="1600" dirty="0"/>
          </a:p>
        </p:txBody>
      </p:sp>
      <p:sp>
        <p:nvSpPr>
          <p:cNvPr id="5" name="Text 3"/>
          <p:cNvSpPr/>
          <p:nvPr/>
        </p:nvSpPr>
        <p:spPr>
          <a:xfrm>
            <a:off x="822960" y="3749040"/>
            <a:ext cx="10424160" cy="182880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Penurunan relatif akibat gelap turun dari 8,65 persen menjadi 4,65 persen, tanpa menambah satu pun operasi saat inference</a:t>
            </a:r>
            <a:endParaRPr lang="en-US" sz="1400" dirty="0"/>
          </a:p>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Menang di 18 dari 18 kombinasi kelas dan kondisi, dengan variasi antar run di bawah 1 persen</a:t>
            </a:r>
            <a:endParaRPr lang="en-US" sz="1400" dirty="0"/>
          </a:p>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Ablation menunjukkan komponen mana yang bekerja, dan efeknya memang khusus pada kondisi malam</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Antisipasi pertanyaan penguji, bagian 1</a:t>
            </a:r>
            <a:endParaRPr lang="en-US" sz="2700" dirty="0"/>
          </a:p>
        </p:txBody>
      </p:sp>
      <p:sp>
        <p:nvSpPr>
          <p:cNvPr id="4" name="Shape 2"/>
          <p:cNvSpPr/>
          <p:nvPr/>
        </p:nvSpPr>
        <p:spPr>
          <a:xfrm>
            <a:off x="548640" y="1371600"/>
            <a:ext cx="11064240" cy="1097280"/>
          </a:xfrm>
          <a:prstGeom prst="roundRect">
            <a:avLst>
              <a:gd name="adj" fmla="val 6667"/>
            </a:avLst>
          </a:prstGeom>
          <a:solidFill>
            <a:srgbClr val="F2F4F8"/>
          </a:solidFill>
          <a:ln w="12700">
            <a:solidFill>
              <a:srgbClr val="F2F4F8"/>
            </a:solidFill>
            <a:prstDash val="solid"/>
          </a:ln>
        </p:spPr>
      </p:sp>
      <p:sp>
        <p:nvSpPr>
          <p:cNvPr id="5" name="Text 3"/>
          <p:cNvSpPr/>
          <p:nvPr/>
        </p:nvSpPr>
        <p:spPr>
          <a:xfrm>
            <a:off x="868680" y="1481328"/>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Ini kan cuma ganti dataset dari paper acuan?</a:t>
            </a:r>
            <a:endParaRPr lang="en-US" sz="1350" dirty="0"/>
          </a:p>
        </p:txBody>
      </p:sp>
      <p:sp>
        <p:nvSpPr>
          <p:cNvPr id="6" name="Text 4"/>
          <p:cNvSpPr/>
          <p:nvPr/>
        </p:nvSpPr>
        <p:spPr>
          <a:xfrm>
            <a:off x="868680" y="1810512"/>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Paper acuan mengevaluasi hanya pada kondisi low light dan melaporkan satu angka mAP, sehingga secara struktur tidak bisa melaporkan besar penurunan siang ke malam. Pertanyaan penelitian kami berbeda, metrik utamanya berbeda, dan kami menambahkan ablation per komponen serta pengulangan training yang tidak ada di sana</a:t>
            </a:r>
            <a:endParaRPr lang="en-US" sz="1100" dirty="0"/>
          </a:p>
        </p:txBody>
      </p:sp>
      <p:sp>
        <p:nvSpPr>
          <p:cNvPr id="7" name="Shape 5"/>
          <p:cNvSpPr/>
          <p:nvPr/>
        </p:nvSpPr>
        <p:spPr>
          <a:xfrm>
            <a:off x="548640" y="2578608"/>
            <a:ext cx="11064240" cy="1097280"/>
          </a:xfrm>
          <a:prstGeom prst="roundRect">
            <a:avLst>
              <a:gd name="adj" fmla="val 6667"/>
            </a:avLst>
          </a:prstGeom>
          <a:solidFill>
            <a:srgbClr val="FFFFFF"/>
          </a:solidFill>
          <a:ln w="12700">
            <a:solidFill>
              <a:srgbClr val="FFFFFF"/>
            </a:solidFill>
            <a:prstDash val="solid"/>
          </a:ln>
        </p:spPr>
      </p:sp>
      <p:sp>
        <p:nvSpPr>
          <p:cNvPr id="8" name="Text 6"/>
          <p:cNvSpPr/>
          <p:nvPr/>
        </p:nvSpPr>
        <p:spPr>
          <a:xfrm>
            <a:off x="868680" y="2688336"/>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Kenaikan 0,0120 mAP itu kecil, kenapa penting?</a:t>
            </a:r>
            <a:endParaRPr lang="en-US" sz="1350" dirty="0"/>
          </a:p>
        </p:txBody>
      </p:sp>
      <p:sp>
        <p:nvSpPr>
          <p:cNvPr id="9" name="Text 7"/>
          <p:cNvSpPr/>
          <p:nvPr/>
        </p:nvSpPr>
        <p:spPr>
          <a:xfrm>
            <a:off x="868680" y="3017520"/>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Kontribusi kami memang bukan angka mAP itu. Yang kami ajukan adalah pengecilan penurunan relatif dari 8,65 persen ke 4,65 persen, kemenangan pada 18 dari 18 kombinasi kelas dan kondisi, dan variasi antar run di bawah 1 persen sehingga selisihnya berada jauh di luar rentang noise</a:t>
            </a:r>
            <a:endParaRPr lang="en-US" sz="1100" dirty="0"/>
          </a:p>
        </p:txBody>
      </p:sp>
      <p:sp>
        <p:nvSpPr>
          <p:cNvPr id="10" name="Shape 8"/>
          <p:cNvSpPr/>
          <p:nvPr/>
        </p:nvSpPr>
        <p:spPr>
          <a:xfrm>
            <a:off x="548640" y="3785616"/>
            <a:ext cx="11064240" cy="1097280"/>
          </a:xfrm>
          <a:prstGeom prst="roundRect">
            <a:avLst>
              <a:gd name="adj" fmla="val 6667"/>
            </a:avLst>
          </a:prstGeom>
          <a:solidFill>
            <a:srgbClr val="F2F4F8"/>
          </a:solidFill>
          <a:ln w="12700">
            <a:solidFill>
              <a:srgbClr val="F2F4F8"/>
            </a:solidFill>
            <a:prstDash val="solid"/>
          </a:ln>
        </p:spPr>
      </p:sp>
      <p:sp>
        <p:nvSpPr>
          <p:cNvPr id="11" name="Text 9"/>
          <p:cNvSpPr/>
          <p:nvPr/>
        </p:nvSpPr>
        <p:spPr>
          <a:xfrm>
            <a:off x="868680" y="3895344"/>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memakai CWD yang terbit 2021?</a:t>
            </a:r>
            <a:endParaRPr lang="en-US" sz="1350" dirty="0"/>
          </a:p>
        </p:txBody>
      </p:sp>
      <p:sp>
        <p:nvSpPr>
          <p:cNvPr id="12" name="Text 10"/>
          <p:cNvSpPr/>
          <p:nvPr/>
        </p:nvSpPr>
        <p:spPr>
          <a:xfrm>
            <a:off x="868680" y="4224528"/>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Karena sifatnya cocok dengan masalahnya. Softmax spasial per channel membuat transfer fitur tidak bergantung pada magnitudo aktivasi, dan magnitudo itulah yang berubah saat cahaya berkurang. Biaya tambahannya juga paling kecil. Ablation kami membuktikan komponen ini menyumbang 46 persen pengecilan gap</a:t>
            </a:r>
            <a:endParaRPr lang="en-US" sz="1100" dirty="0"/>
          </a:p>
        </p:txBody>
      </p:sp>
      <p:sp>
        <p:nvSpPr>
          <p:cNvPr id="13" name="Shape 11"/>
          <p:cNvSpPr/>
          <p:nvPr/>
        </p:nvSpPr>
        <p:spPr>
          <a:xfrm>
            <a:off x="548640" y="4992624"/>
            <a:ext cx="11064240" cy="1097280"/>
          </a:xfrm>
          <a:prstGeom prst="roundRect">
            <a:avLst>
              <a:gd name="adj" fmla="val 6667"/>
            </a:avLst>
          </a:prstGeom>
          <a:solidFill>
            <a:srgbClr val="FFFFFF"/>
          </a:solidFill>
          <a:ln w="12700">
            <a:solidFill>
              <a:srgbClr val="FFFFFF"/>
            </a:solidFill>
            <a:prstDash val="solid"/>
          </a:ln>
        </p:spPr>
      </p:sp>
      <p:sp>
        <p:nvSpPr>
          <p:cNvPr id="14" name="Text 12"/>
          <p:cNvSpPr/>
          <p:nvPr/>
        </p:nvSpPr>
        <p:spPr>
          <a:xfrm>
            <a:off x="868680" y="5102352"/>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memilih BDD100K?</a:t>
            </a:r>
            <a:endParaRPr lang="en-US" sz="1350" dirty="0"/>
          </a:p>
        </p:txBody>
      </p:sp>
      <p:sp>
        <p:nvSpPr>
          <p:cNvPr id="15" name="Text 13"/>
          <p:cNvSpPr/>
          <p:nvPr/>
        </p:nvSpPr>
        <p:spPr>
          <a:xfrm>
            <a:off x="868680" y="5431536"/>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Karena metrik utama kami adalah selisih siang dan malam, sehingga kami membutuhkan dua kondisi dari distribusi, kamera, dan taksonomi label yang sama. BDD100K satu satunya dataset mengemudi berskala besar dengan atribut waktu bawaan dan citra nyata</a:t>
            </a:r>
            <a:endParaRPr lang="en-US" sz="1100" dirty="0"/>
          </a:p>
        </p:txBody>
      </p:sp>
      <p:sp>
        <p:nvSpPr>
          <p:cNvPr id="16" name="Text 1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Antisipasi pertanyaan penguji, bagian 2</a:t>
            </a:r>
            <a:endParaRPr lang="en-US" sz="2700" dirty="0"/>
          </a:p>
        </p:txBody>
      </p:sp>
      <p:sp>
        <p:nvSpPr>
          <p:cNvPr id="4" name="Shape 2"/>
          <p:cNvSpPr/>
          <p:nvPr/>
        </p:nvSpPr>
        <p:spPr>
          <a:xfrm>
            <a:off x="548640" y="1371600"/>
            <a:ext cx="11064240" cy="1097280"/>
          </a:xfrm>
          <a:prstGeom prst="roundRect">
            <a:avLst>
              <a:gd name="adj" fmla="val 6667"/>
            </a:avLst>
          </a:prstGeom>
          <a:solidFill>
            <a:srgbClr val="F2F4F8"/>
          </a:solidFill>
          <a:ln w="12700">
            <a:solidFill>
              <a:srgbClr val="F2F4F8"/>
            </a:solidFill>
            <a:prstDash val="solid"/>
          </a:ln>
        </p:spPr>
      </p:sp>
      <p:sp>
        <p:nvSpPr>
          <p:cNvPr id="5" name="Text 3"/>
          <p:cNvSpPr/>
          <p:nvPr/>
        </p:nvSpPr>
        <p:spPr>
          <a:xfrm>
            <a:off x="868680" y="1481328"/>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YOLOv8, bukan detektor yang lebih baru?</a:t>
            </a:r>
            <a:endParaRPr lang="en-US" sz="1350" dirty="0"/>
          </a:p>
        </p:txBody>
      </p:sp>
      <p:sp>
        <p:nvSpPr>
          <p:cNvPr id="6" name="Text 4"/>
          <p:cNvSpPr/>
          <p:nvPr/>
        </p:nvSpPr>
        <p:spPr>
          <a:xfrm>
            <a:off x="868680" y="1810512"/>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Karena variabel yang kami teliti adalah mekanisme transfer, bukan arsitektur detektor. Backbone sengaja dibuat konstan agar perbandingannya terkontrol. YOLOv8 juga stabil, terdokumentasi, dan realistis untuk perangkat edge</a:t>
            </a:r>
            <a:endParaRPr lang="en-US" sz="1100" dirty="0"/>
          </a:p>
        </p:txBody>
      </p:sp>
      <p:sp>
        <p:nvSpPr>
          <p:cNvPr id="7" name="Shape 5"/>
          <p:cNvSpPr/>
          <p:nvPr/>
        </p:nvSpPr>
        <p:spPr>
          <a:xfrm>
            <a:off x="548640" y="2578608"/>
            <a:ext cx="11064240" cy="1097280"/>
          </a:xfrm>
          <a:prstGeom prst="roundRect">
            <a:avLst>
              <a:gd name="adj" fmla="val 6667"/>
            </a:avLst>
          </a:prstGeom>
          <a:solidFill>
            <a:srgbClr val="FFFFFF"/>
          </a:solidFill>
          <a:ln w="12700">
            <a:solidFill>
              <a:srgbClr val="FFFFFF"/>
            </a:solidFill>
            <a:prstDash val="solid"/>
          </a:ln>
        </p:spPr>
      </p:sp>
      <p:sp>
        <p:nvSpPr>
          <p:cNvPr id="8" name="Text 6"/>
          <p:cNvSpPr/>
          <p:nvPr/>
        </p:nvSpPr>
        <p:spPr>
          <a:xfrm>
            <a:off x="868680" y="2688336"/>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kelas train dihapus? Bukankah itu mengurangi kesulitan?</a:t>
            </a:r>
            <a:endParaRPr lang="en-US" sz="1350" dirty="0"/>
          </a:p>
        </p:txBody>
      </p:sp>
      <p:sp>
        <p:nvSpPr>
          <p:cNvPr id="9" name="Text 7"/>
          <p:cNvSpPr/>
          <p:nvPr/>
        </p:nvSpPr>
        <p:spPr>
          <a:xfrm>
            <a:off x="868680" y="3017520"/>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Hanya ada 25 gambar training dan 3 instance pada test set. Nilai AP dari 3 instance tidak bermakna secara statistik dan justru mendistorsi rata rata seluruh kelas. Kami melatih ulang seluruh pipeline dengan 9 kelas, bukan hanya memfilter saat evaluasi, agar perbandingannya tetap adil</a:t>
            </a:r>
            <a:endParaRPr lang="en-US" sz="1100" dirty="0"/>
          </a:p>
        </p:txBody>
      </p:sp>
      <p:sp>
        <p:nvSpPr>
          <p:cNvPr id="10" name="Shape 8"/>
          <p:cNvSpPr/>
          <p:nvPr/>
        </p:nvSpPr>
        <p:spPr>
          <a:xfrm>
            <a:off x="548640" y="3785616"/>
            <a:ext cx="11064240" cy="1097280"/>
          </a:xfrm>
          <a:prstGeom prst="roundRect">
            <a:avLst>
              <a:gd name="adj" fmla="val 6667"/>
            </a:avLst>
          </a:prstGeom>
          <a:solidFill>
            <a:srgbClr val="F2F4F8"/>
          </a:solidFill>
          <a:ln w="12700">
            <a:solidFill>
              <a:srgbClr val="F2F4F8"/>
            </a:solidFill>
            <a:prstDash val="solid"/>
          </a:ln>
        </p:spPr>
      </p:sp>
      <p:sp>
        <p:nvSpPr>
          <p:cNvPr id="11" name="Text 9"/>
          <p:cNvSpPr/>
          <p:nvPr/>
        </p:nvSpPr>
        <p:spPr>
          <a:xfrm>
            <a:off x="868680" y="3895344"/>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Bagaimana memastikan perbaikan bukan sekadar efek regularisasi?</a:t>
            </a:r>
            <a:endParaRPr lang="en-US" sz="1350" dirty="0"/>
          </a:p>
        </p:txBody>
      </p:sp>
      <p:sp>
        <p:nvSpPr>
          <p:cNvPr id="12" name="Text 10"/>
          <p:cNvSpPr/>
          <p:nvPr/>
        </p:nvSpPr>
        <p:spPr>
          <a:xfrm>
            <a:off x="868680" y="4224528"/>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Kalau hanya efek regularisasi umum, perbaikannya akan merata di siang dan malam. Yang kami amati sebaliknya, perbaikan malam lebih besar daripada siang, dan saat komponen CWD dicabut yang turun hanya sisi malam. Pola itu mengarah ke transfer yang spesifik terhadap kondisi cahaya</a:t>
            </a:r>
            <a:endParaRPr lang="en-US" sz="1100" dirty="0"/>
          </a:p>
        </p:txBody>
      </p:sp>
      <p:sp>
        <p:nvSpPr>
          <p:cNvPr id="13" name="Shape 11"/>
          <p:cNvSpPr/>
          <p:nvPr/>
        </p:nvSpPr>
        <p:spPr>
          <a:xfrm>
            <a:off x="548640" y="4992624"/>
            <a:ext cx="11064240" cy="1097280"/>
          </a:xfrm>
          <a:prstGeom prst="roundRect">
            <a:avLst>
              <a:gd name="adj" fmla="val 6667"/>
            </a:avLst>
          </a:prstGeom>
          <a:solidFill>
            <a:srgbClr val="FFFFFF"/>
          </a:solidFill>
          <a:ln w="12700">
            <a:solidFill>
              <a:srgbClr val="FFFFFF"/>
            </a:solidFill>
            <a:prstDash val="solid"/>
          </a:ln>
        </p:spPr>
      </p:sp>
      <p:sp>
        <p:nvSpPr>
          <p:cNvPr id="14" name="Text 12"/>
          <p:cNvSpPr/>
          <p:nvPr/>
        </p:nvSpPr>
        <p:spPr>
          <a:xfrm>
            <a:off x="868680" y="5102352"/>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simpangan baku hanya ada untuk KD?</a:t>
            </a:r>
            <a:endParaRPr lang="en-US" sz="1350" dirty="0"/>
          </a:p>
        </p:txBody>
      </p:sp>
      <p:sp>
        <p:nvSpPr>
          <p:cNvPr id="15" name="Text 13"/>
          <p:cNvSpPr/>
          <p:nvPr/>
        </p:nvSpPr>
        <p:spPr>
          <a:xfrm>
            <a:off x="868680" y="5431536"/>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Karena baru sisi KD yang diulang tiga kali. Kami mengakui ini keterbatasan dan mengulang student baseline tiga kali adalah prioritas berikutnya. Sampai itu selesai, kami menyatakan angka sigma sebagai indikasi, bukan sebagai uji hipotesis formal</a:t>
            </a:r>
            <a:endParaRPr lang="en-US" sz="1100" dirty="0"/>
          </a:p>
        </p:txBody>
      </p:sp>
      <p:sp>
        <p:nvSpPr>
          <p:cNvPr id="16" name="Text 1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REFERENSI</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Referensi utama yang dirujuk dalam presentasi</a:t>
            </a:r>
            <a:endParaRPr lang="en-US" sz="2700" dirty="0"/>
          </a:p>
        </p:txBody>
      </p:sp>
      <p:sp>
        <p:nvSpPr>
          <p:cNvPr id="4" name="Text 2"/>
          <p:cNvSpPr/>
          <p:nvPr/>
        </p:nvSpPr>
        <p:spPr>
          <a:xfrm>
            <a:off x="548640" y="1325880"/>
            <a:ext cx="5486400" cy="48463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Hinton, Vinyals, Dean. Distilling the Knowledge in a Neural Network. 2015</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Shu, Liu, Gao, Yan, Shen. Channel-wise Knowledge Distillation for Dense Prediction. ICCV 2021</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Lan, Tian. Adaptive Instance Distillation for Object Detection in Autonomous Driving. ICPR 2022</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Zheng et al. Localization Distillation for Dense Object Detection. CVPR 2022 dan IEEE TPAMI 2023</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Zhao et al. Decoupled Knowledge Distillation. CVPR 2022</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Yang et al. Focal and Global Knowledge Distillation for Detectors. CVPR 2022</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Li, Wang, Zhang. Low-light image enhancement with knowledge distillation. Neurocomputing 2022</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Jaw, Huang, Lu, Fung, Kuo. Multidomain Object Detection Framework Using Feature Domain Knowledge Distillation. IEEE T-Cybernetics 2023</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Zhang, Ma. Structured Knowledge Distillation for Accurate and Efficient Object Detection. IEEE TPAMI 2023</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Li et al. When Object Detection Meets Knowledge Distillation: A Survey. IEEE TPAMI 2023</a:t>
            </a:r>
            <a:endParaRPr lang="en-US" sz="1000" dirty="0"/>
          </a:p>
        </p:txBody>
      </p:sp>
      <p:sp>
        <p:nvSpPr>
          <p:cNvPr id="5" name="Text 3"/>
          <p:cNvSpPr/>
          <p:nvPr/>
        </p:nvSpPr>
        <p:spPr>
          <a:xfrm>
            <a:off x="6309360" y="1325880"/>
            <a:ext cx="5486400" cy="48463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Liu et al. Toward Extremely Lightweight Distracted Driver Recognition. IEEE T-ITS 2023</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Lan, Tian. Gradient-Guided Knowledge Distillation for Object Detectors. WACV 2024</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Du et al. Boosting Object Detection with Zero-Shot Day-Night Domain Adaptation. CVPR 2024</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Guo, Zhang, Liang. Shared Knowledge Distillation Network for Object Detection. Electronics 2024</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Zhang, Lee. Advancing Nighttime Object Detection through Image Enhancement and Domain Adaptation. Applied Sciences 2024</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Jobaer et al. A novel knowledge distillation framework for small object detection in blurry environments. Complex and Intelligent Systems 2024</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Yao et al. Domain-Invariant Progressive Knowledge Distillation for UAV-Based Object Detection. IEEE GRSL 2024</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Karjol, Hanna. Edge AI for Automotive Vulnerable Road User Safety. CVPR 2024</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Sun, Huo, Jiang, Gao, Cai. Lightweight design and deployment of object detection model for low-light scenes. 2025</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Xiancheng et al. LKD-YOLOv8: A Lightweight Knowledge Distillation-Based Method for Infrared Object Detection. Sensors 2025</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Cheng et al. A Review of Knowledge Distillation in Object Detection. IEEE Access 2025</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Wu et al. Compressing Multi-Task Model for Autonomous Driving via Pruning and KD. CVPR 2025</a:t>
            </a:r>
            <a:endParaRPr lang="en-US" sz="1000" dirty="0"/>
          </a:p>
        </p:txBody>
      </p:sp>
      <p:sp>
        <p:nvSpPr>
          <p:cNvPr id="6" name="Text 4"/>
          <p:cNvSpPr/>
          <p:nvPr/>
        </p:nvSpPr>
        <p:spPr>
          <a:xfrm>
            <a:off x="548640" y="6263640"/>
            <a:ext cx="11064240" cy="320040"/>
          </a:xfrm>
          <a:prstGeom prst="rect">
            <a:avLst/>
          </a:prstGeom>
          <a:noFill/>
          <a:ln/>
        </p:spPr>
        <p:txBody>
          <a:bodyPr wrap="square" lIns="0" tIns="0" rIns="0" bIns="0" rtlCol="0" anchor="ctr"/>
          <a:lstStyle/>
          <a:p>
            <a:pPr indent="0" marL="0">
              <a:buNone/>
            </a:pPr>
            <a:r>
              <a:rPr lang="en-US" sz="1000" i="1" dirty="0">
                <a:solidFill>
                  <a:srgbClr val="898781"/>
                </a:solidFill>
                <a:latin typeface="Calibri" pitchFamily="34" charset="0"/>
                <a:ea typeface="Calibri" pitchFamily="34" charset="-122"/>
                <a:cs typeface="Calibri" pitchFamily="34" charset="-120"/>
              </a:rPr>
              <a:t>Data kecelakaan: Pedestrian and Bicycle Information Center, analisis data NHTSA periode 2019 sampai 2023. Dataset: Yu et al. BDD100K, CVPR 2020.</a:t>
            </a:r>
            <a:endParaRPr lang="en-US" sz="1000" dirty="0"/>
          </a:p>
        </p:txBody>
      </p:sp>
      <p:sp>
        <p:nvSpPr>
          <p:cNvPr id="7" name="Text 5"/>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Distillation untuk Deteksi Objek Jalan Raya Malam Hari</dc:title>
  <dc:subject>PptxGenJS Presentation</dc:subject>
  <dc:creator>Tim Pre-Thesis</dc:creator>
  <cp:lastModifiedBy>Tim Pre-Thesis</cp:lastModifiedBy>
  <cp:revision>1</cp:revision>
  <dcterms:created xsi:type="dcterms:W3CDTF">2026-08-15T05:03:22Z</dcterms:created>
  <dcterms:modified xsi:type="dcterms:W3CDTF">2026-08-15T05:03:22Z</dcterms:modified>
</cp:coreProperties>
</file>