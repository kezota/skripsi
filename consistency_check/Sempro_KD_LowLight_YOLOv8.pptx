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notesMasterIdLst>
    <p:notesMasterId r:id="rId2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Selamat pagi Bapak Ibu. Kami bertiga akan mempresentasikan proposal pre-thesis kami. Judulnya knowledge distillation untuk deteksi objek jalan raya malam hari pada model ringan YOLOv8. Fokus kami bukan sekadar menaikkan akurasi, tapi menutup jarak performa antara kondisi siang dan malam pada model kecil yang bisa dipasang di kendaraan.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Alurnya enam bagian. Saya mulai dari masalahnya dulu, baru nanti ke metode dan hasil. Bagian yang paling ingin kami diskusikan hari ini ada di nomor tiga dan enam, yaitu posisi penelitian kami dan klaim kontribusinya.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Masalahnya sederhana tapi belum selesai. Kamera itu sensor pasif, jadi begitu cahaya berkurang, informasinya memang hilang di sumbernya. Yang hilang duluan adalah objek kecil, dan itu justru kelas yang paling rawan yaitu pejalan kaki dan pesepeda. Angka di bawah ini dari eksperimen kami sendiri, bukan kutipan. Baik model besar maupun kecil sama sama jatuh sekitar 0,042 sampai 0,044 mAP saat pindah ke malam.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Solusi paling gampang untuk malam hari sebenarnya adalah pakai model yang lebih besar. Tapi itu tidak bisa dilakukan di kendaraan. Perangkat embedded punya memori terbatas, latency langsung berubah jadi jarak tempuh kendaraan, dan detection harus berbagi compute dengan modul lain. Jadi kita terpaksa memakai model kecil, dan pertanyaannya jadi bagaimana membuat model kecil ini tetap tahan gelap.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Ini slide paling penting di bagian awal. Angka di kiri dan kanan adalah hasil eksperimen kami. Perhatikan bahwa gap siang ke malam kedua model hampir sama besar, sekitar 0,042. Artinya memperbesar model tidak menyelesaikan masalah gelap, hanya menggeser garis start. Jadi pertanyaan penelitiannya bukan bagaimana menaikkan akurasi, tapi bagaimana mengecilkan penurunan saat gelap tanpa menambah beban inference.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Ada tiga jalur besar di literatur. Image enhancement memperbaiki gambarnya dulu. Domain adaptation memetakan domain malam ke domain siang. Dan yang ketiga sekadar memperbesar model. Ketiganya berhasil menaikkan akurasi, tapi ketiganya menambah biaya saat inference atau menambah komponen yang ikut terbawa ke deployment. Untuk kasus kendaraan, itu justru hal yang paling ingin kami hindari.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Empat alasan kami memilih distilasi. Yang paling menentukan adalah nomor satu. Guru hanya ada saat training, jadi model yang dikirim ke kendaraan tetap YOLOv8s biasa tanpa tambahan apa pun. Nomor dua adalah alasan teknisnya, guru memberi distribusi keyakinan, bukan hanya label. Justru keraguan guru pada objek samar itu yang informatif untuk kondisi malam.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Ini pertanyaan yang memang wajar muncul, dan kami sudah menyiapkan jawabannya. Kalau KD sudah usang, seharusnya survei besar tentang KD tidak terbit tahun 2025 dan 2026, dan CVPR 2025 tidak lagi menerima paper distilasi untuk autonomous driving. Kenyataannya masih. Yang berubah adalah tempatnya. KD sekarang justru jadi mekanisme utama di balik model model kecil yang dipakai industri.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Kami tidak mau berpura pura semua bagian KD masih segar. Kolom kiri memang sudah jenuh, dan kritik terhadap paper yang cuma ganti dataset itu valid. Yang ingin kami tegaskan adalah kami tidak berada di kolom kiri. Fokus kami di kolom kanan, khususnya distilasi di bawah pergeseran kondisi cahaya dan evaluasi yang dipisah per kondisi.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Inilah celahnya. Literatur yang ada melaporkan mAP gabungan. Kalau sebuah model naik 2 persen tapi seluruh kenaikannya datang dari kondisi siang, laporan itu tidak akan kelihatan. Kami memisahkan evaluasi siang dan malam sejak awal, dan menjadikan selisih keduanya sebagai metrik utama. Tiga rumusan masalah kami mengikuti dari situ.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Kami pakai BDD100K karena ini data mengemudi nyata, bukan sintetis, dan sudah punya label waktu siang malam. Jumlahnya kami samakan supaya kalau nanti performa malam lebih rendah, penyebabnya memang kondisi cahaya, bukan karena datanya lebih sedikit. Kelas train kami keluarkan dan alasannya kami tulis eksplisit di paper, karena dengan 3 instance saja nilai AP nya tidak berarti apa apa.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Arsitekturnya. Guru dibekukan, tidak ikut belajar, hanya memberi sinyal. Ada tiga jalur transfer. Pertama level fitur di tiga skala neck, supaya student meniru di mana guru melihat. Kedua level logit klasifikasi. Ketiga distribusi bounding box, dan ini penting khusus untuk malam karena tepi objek jadi kabur, sehingga informasi ketidakpastian lokasi dari guru sangat berguna.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Fungsi objektifnya gabungan tiga suku. Yang perlu ditekankan, suku pertama tetap ada dan bobotnya paling besar. Artinya student tetap belajar dari ground truth, guru hanya memberi arahan tambahan. Ini penting karena di malam hari guru sendiri juga bisa salah, jadi kami tidak boleh membuat student sepenuhnya percaya guru.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Ini slide yang paling mungkin ditanya. Ada tiga perubahan mekanisme. Yang paling berdampak adalah nomor satu dan tiga. Dan saya mau jujur di depan, ketiga teknik ini bukan ciptaan kami, semuanya ada di literatur. Yang kami klaim baru adalah kombinasi dan alasannya, yaitu ketiganya dipilih untuk menyerang mode kegagalan spesifik kondisi malam, dan kami buktikan dengan ablation, bukan sekadar diklaim.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Kami menjalankan training penuh tiga kali. Titik biru adalah masing masing run, garis biru adalah rata ratanya, dan berlian oranye adalah baseline. Variasi antar run sangat kecil, hanya 0,5 persen untuk siang dan 0,8 persen untuk malam. Ini menjawab kekhawatiran bahwa perbaikan yang kami laporkan cuma kebetulan satu 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Dibanding baseline, student hasil distilasi menang di semua metrik. Yang penting bukan cuma angkanya naik, tapi seberapa besar kenaikan itu relatif terhadap variasi antar run. Kenaikan malam setara delapan kali simpangan baku, jadi ini bukan noise. Panel kanan adalah temuan utama kami, saya bahas di slide berikutnya.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Ini temuan yang paling ingin kami tonjolkan. Kalau distilasi hanya menyalin guru, maka gap student seharusnya mendekati gap guru, yaitu sekitar 0,044. Kenyataannya gap student kami 0,0233, hampir setengahnya. Artinya proses distilasi tidak sekadar menyalin, tapi menyaring. Student mendapat sinyal yang lebih halus dan lebih fokus pada bagian yang penting, sehingga lebih stabil saat kondisi berubah. Ini yang kami jadikan kontribusi ilmiah utama, bukan angka mAP nya.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Kalau dibedah per kelas, distilasi menang di semua 18 kombinasi kelas dan kondisi, tidak ada satu pun yang turun. Dan lonjakan terbesarnya bukan di kelas mobil yang datanya melimpah, tapi di sepeda dan pengendara pada malam hari, naik sekitar 0,10 AP. Dari sisi keselamatan berkendara, itu justru kelas yang paling penting.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Ablation ini penting untuk membuktikan bahwa perubahan mekanisme kami benar benar bekerja, bukan sekadar tempelan. Ketika komponen channel-wise distillation kami cabut, akurasi siang hampir tidak berubah, tapi akurasi malam turun dan gapnya melebar dari 0,0233 jadi 0,0321. Jadi komponen ini memang spesifik menyumbang ketahanan malam, dan porsinya hampir separuh dari total perbaikan gap. Dua ablation lain sedang berjalan.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Empat klaim kontribusi kami. Nomor satu dan dua yang paling kuat. Nomor satu adalah cara mengukurnya, nomor dua adalah temuannya. Dan kami sengaja menutup dengan kalimat terakhir, bahwa kami tidak mengklaim menciptakan mekanisme distilasi baru dari nol. Kami lebih memilih klaim yang bisa kami pertahankan sepenuhnya daripada klaim besar yang rapuh.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Ini status pekerjaan kami. Kolom kiri sudah selesai, tengah sedang berjalan, kanan rencana. Dua prioritas yang kami anggap paling menentukan kualitas paper adalah mengulang baseline tiga kali, supaya uji signifikansinya lengkap dua sisi, dan mengukur latency nyata di perangkat, supaya klaim bahwa model ini deployable punya bukti angka, bukan sekadar hitungan parameter.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cadangan. Jangan ditampilkan kecuali ditanya. Empat pertanyaan ini yang paling mungkin muncul, dan jawabannya sudah disiapkan singkat.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Terima kasih. Kami sangat terbuka untuk masukan, khususnya di dua hal: apakah klaim kontribusi kami sudah cukup kuat untuk level thesis, dan apakah rencana pengujian statistik kami sudah memadai.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1E3C"/>
        </a:solidFill>
      </p:bgPr>
    </p:bg>
    <p:spTree>
      <p:nvGrpSpPr>
        <p:cNvPr id="1" name=""/>
        <p:cNvGrpSpPr/>
        <p:nvPr/>
      </p:nvGrpSpPr>
      <p:grpSpPr>
        <a:xfrm>
          <a:off x="0" y="0"/>
          <a:ext cx="0" cy="0"/>
          <a:chOff x="0" y="0"/>
          <a:chExt cx="0" cy="0"/>
        </a:xfrm>
      </p:grpSpPr>
      <p:sp>
        <p:nvSpPr>
          <p:cNvPr id="2" name="Shape 0"/>
          <p:cNvSpPr/>
          <p:nvPr/>
        </p:nvSpPr>
        <p:spPr>
          <a:xfrm>
            <a:off x="9509760" y="-1463040"/>
            <a:ext cx="5120640" cy="5120640"/>
          </a:xfrm>
          <a:prstGeom prst="ellipse">
            <a:avLst/>
          </a:prstGeom>
          <a:solidFill>
            <a:srgbClr val="1B3260"/>
          </a:solidFill>
          <a:ln w="12700">
            <a:solidFill>
              <a:srgbClr val="1B3260"/>
            </a:solidFill>
            <a:prstDash val="solid"/>
          </a:ln>
        </p:spPr>
      </p:sp>
      <p:sp>
        <p:nvSpPr>
          <p:cNvPr id="3" name="Text 1"/>
          <p:cNvSpPr/>
          <p:nvPr/>
        </p:nvSpPr>
        <p:spPr>
          <a:xfrm>
            <a:off x="822960" y="1371600"/>
            <a:ext cx="8229600" cy="274320"/>
          </a:xfrm>
          <a:prstGeom prst="rect">
            <a:avLst/>
          </a:prstGeom>
          <a:noFill/>
          <a:ln/>
        </p:spPr>
        <p:txBody>
          <a:bodyPr wrap="square" lIns="0" tIns="0" rIns="0" bIns="0" rtlCol="0" anchor="ctr"/>
          <a:lstStyle/>
          <a:p>
            <a:pPr indent="0" marL="0">
              <a:buNone/>
            </a:pPr>
            <a:r>
              <a:rPr lang="en-US" sz="1200" b="1" spc="200" kern="0" dirty="0">
                <a:solidFill>
                  <a:srgbClr val="EB6834"/>
                </a:solidFill>
                <a:latin typeface="Calibri" pitchFamily="34" charset="0"/>
                <a:ea typeface="Calibri" pitchFamily="34" charset="-122"/>
                <a:cs typeface="Calibri" pitchFamily="34" charset="-120"/>
              </a:rPr>
              <a:t>SEMINAR PROPOSAL PRE-THESIS</a:t>
            </a:r>
            <a:endParaRPr lang="en-US" sz="1200" dirty="0"/>
          </a:p>
        </p:txBody>
      </p:sp>
      <p:sp>
        <p:nvSpPr>
          <p:cNvPr id="4" name="Text 2"/>
          <p:cNvSpPr/>
          <p:nvPr/>
        </p:nvSpPr>
        <p:spPr>
          <a:xfrm>
            <a:off x="822960" y="1874520"/>
            <a:ext cx="9509760" cy="1737360"/>
          </a:xfrm>
          <a:prstGeom prst="rect">
            <a:avLst/>
          </a:prstGeom>
          <a:noFill/>
          <a:ln/>
        </p:spPr>
        <p:txBody>
          <a:bodyPr wrap="square" lIns="0" tIns="0" rIns="0" bIns="0" rtlCol="0" anchor="ctr"/>
          <a:lstStyle/>
          <a:p>
            <a:pPr indent="0" marL="0">
              <a:lnSpc>
                <a:spcPts val="4200"/>
              </a:lnSpc>
              <a:buNone/>
            </a:pPr>
            <a:r>
              <a:rPr lang="en-US" sz="3400" b="1" dirty="0">
                <a:solidFill>
                  <a:srgbClr val="FFFFFF"/>
                </a:solidFill>
                <a:latin typeface="Cambria" pitchFamily="34" charset="0"/>
                <a:ea typeface="Cambria" pitchFamily="34" charset="-122"/>
                <a:cs typeface="Cambria" pitchFamily="34" charset="-120"/>
              </a:rPr>
              <a:t>Knowledge Distillation untuk Deteksi Objek</a:t>
            </a:r>
            <a:endParaRPr lang="en-US" sz="3400" dirty="0"/>
          </a:p>
          <a:p>
            <a:pPr indent="0" marL="0">
              <a:lnSpc>
                <a:spcPts val="4200"/>
              </a:lnSpc>
              <a:buNone/>
            </a:pPr>
            <a:r>
              <a:rPr lang="en-US" sz="3400" b="1" dirty="0">
                <a:solidFill>
                  <a:srgbClr val="FFFFFF"/>
                </a:solidFill>
                <a:latin typeface="Cambria" pitchFamily="34" charset="0"/>
                <a:ea typeface="Cambria" pitchFamily="34" charset="-122"/>
                <a:cs typeface="Cambria" pitchFamily="34" charset="-120"/>
              </a:rPr>
              <a:t>Jalan Raya Malam Hari pada Model Ringan YOLOv8</a:t>
            </a:r>
            <a:endParaRPr lang="en-US" sz="3400" dirty="0"/>
          </a:p>
        </p:txBody>
      </p:sp>
      <p:sp>
        <p:nvSpPr>
          <p:cNvPr id="5" name="Text 3"/>
          <p:cNvSpPr/>
          <p:nvPr/>
        </p:nvSpPr>
        <p:spPr>
          <a:xfrm>
            <a:off x="822960" y="3657600"/>
            <a:ext cx="9326880" cy="411480"/>
          </a:xfrm>
          <a:prstGeom prst="rect">
            <a:avLst/>
          </a:prstGeom>
          <a:noFill/>
          <a:ln/>
        </p:spPr>
        <p:txBody>
          <a:bodyPr wrap="square" lIns="0" tIns="0" rIns="0" bIns="0" rtlCol="0" anchor="ctr"/>
          <a:lstStyle/>
          <a:p>
            <a:pPr indent="0" marL="0">
              <a:buNone/>
            </a:pPr>
            <a:r>
              <a:rPr lang="en-US" sz="1600" i="1" dirty="0">
                <a:solidFill>
                  <a:srgbClr val="CADCFC"/>
                </a:solidFill>
                <a:latin typeface="Calibri" pitchFamily="34" charset="0"/>
                <a:ea typeface="Calibri" pitchFamily="34" charset="-122"/>
                <a:cs typeface="Calibri" pitchFamily="34" charset="-120"/>
              </a:rPr>
              <a:t>Menutup performance gap siang ke malam tanpa menambah biaya inference</a:t>
            </a:r>
            <a:endParaRPr lang="en-US" sz="1600" dirty="0"/>
          </a:p>
        </p:txBody>
      </p:sp>
      <p:sp>
        <p:nvSpPr>
          <p:cNvPr id="6" name="Text 4"/>
          <p:cNvSpPr/>
          <p:nvPr/>
        </p:nvSpPr>
        <p:spPr>
          <a:xfrm>
            <a:off x="822960" y="4846320"/>
            <a:ext cx="9601200" cy="822960"/>
          </a:xfrm>
          <a:prstGeom prst="rect">
            <a:avLst/>
          </a:prstGeom>
          <a:noFill/>
          <a:ln/>
        </p:spPr>
        <p:txBody>
          <a:bodyPr wrap="square" lIns="0" tIns="0" rIns="0" bIns="0" rtlCol="0" anchor="ctr"/>
          <a:lstStyle/>
          <a:p>
            <a:pPr indent="0" marL="0">
              <a:lnSpc>
                <a:spcPts val="2200"/>
              </a:lnSpc>
              <a:buNone/>
            </a:pPr>
            <a:r>
              <a:rPr lang="en-US" sz="1400" dirty="0">
                <a:solidFill>
                  <a:srgbClr val="FFFFFF"/>
                </a:solidFill>
                <a:latin typeface="Calibri" pitchFamily="34" charset="0"/>
                <a:ea typeface="Calibri" pitchFamily="34" charset="-122"/>
                <a:cs typeface="Calibri" pitchFamily="34" charset="-120"/>
              </a:rPr>
              <a:t>Yoseph Oktavianus Yusanto  |  William Hartanto  |  Kezia Meilany Tandapai</a:t>
            </a:r>
            <a:endParaRPr lang="en-US" sz="1400" dirty="0"/>
          </a:p>
          <a:p>
            <a:pPr indent="0" marL="0">
              <a:lnSpc>
                <a:spcPts val="2200"/>
              </a:lnSpc>
              <a:buNone/>
            </a:pPr>
            <a:r>
              <a:rPr lang="en-US" sz="1300" dirty="0">
                <a:solidFill>
                  <a:srgbClr val="CADCFC"/>
                </a:solidFill>
                <a:latin typeface="Calibri" pitchFamily="34" charset="0"/>
                <a:ea typeface="Calibri" pitchFamily="34" charset="-122"/>
                <a:cs typeface="Calibri" pitchFamily="34" charset="-120"/>
              </a:rPr>
              <a:t>Pembimbing: Anderies  |  Computer Science, Bina Nusantara University</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10896"/>
            <a:ext cx="8229600" cy="256032"/>
          </a:xfrm>
          <a:prstGeom prst="rect">
            <a:avLst/>
          </a:prstGeom>
          <a:noFill/>
          <a:ln/>
        </p:spPr>
        <p:txBody>
          <a:bodyPr wrap="square" lIns="0" tIns="0" rIns="0" bIns="0" rtlCol="0" anchor="ctr"/>
          <a:lstStyle/>
          <a:p>
            <a:pPr indent="0" marL="0">
              <a:buNone/>
            </a:pPr>
            <a:r>
              <a:rPr lang="en-US" sz="1100" b="1" spc="160" kern="0" dirty="0">
                <a:solidFill>
                  <a:srgbClr val="EB6834"/>
                </a:solidFill>
                <a:latin typeface="Calibri" pitchFamily="34" charset="0"/>
                <a:ea typeface="Calibri" pitchFamily="34" charset="-122"/>
                <a:cs typeface="Calibri" pitchFamily="34" charset="-120"/>
              </a:rPr>
              <a:t>AGENDA</a:t>
            </a:r>
            <a:endParaRPr lang="en-US" sz="1100" dirty="0"/>
          </a:p>
        </p:txBody>
      </p:sp>
      <p:sp>
        <p:nvSpPr>
          <p:cNvPr id="3" name="Text 1"/>
          <p:cNvSpPr/>
          <p:nvPr/>
        </p:nvSpPr>
        <p:spPr>
          <a:xfrm>
            <a:off x="548640" y="566928"/>
            <a:ext cx="11064240" cy="658368"/>
          </a:xfrm>
          <a:prstGeom prst="rect">
            <a:avLst/>
          </a:prstGeom>
          <a:noFill/>
          <a:ln/>
        </p:spPr>
        <p:txBody>
          <a:bodyPr wrap="square" lIns="0" tIns="0" rIns="0" bIns="0" rtlCol="0" anchor="t"/>
          <a:lstStyle/>
          <a:p>
            <a:pPr indent="0" marL="0">
              <a:buNone/>
            </a:pPr>
            <a:r>
              <a:rPr lang="en-US" sz="3000" b="1" dirty="0">
                <a:solidFill>
                  <a:srgbClr val="0E1E3C"/>
                </a:solidFill>
                <a:latin typeface="Cambria" pitchFamily="34" charset="0"/>
                <a:ea typeface="Cambria" pitchFamily="34" charset="-122"/>
                <a:cs typeface="Cambria" pitchFamily="34" charset="-120"/>
              </a:rPr>
              <a:t>Alur presentasi</a:t>
            </a:r>
            <a:endParaRPr lang="en-US" sz="3000" dirty="0"/>
          </a:p>
        </p:txBody>
      </p:sp>
      <p:sp>
        <p:nvSpPr>
          <p:cNvPr id="4" name="Shape 2"/>
          <p:cNvSpPr/>
          <p:nvPr/>
        </p:nvSpPr>
        <p:spPr>
          <a:xfrm>
            <a:off x="548640" y="1600200"/>
            <a:ext cx="5394960" cy="1170432"/>
          </a:xfrm>
          <a:prstGeom prst="roundRect">
            <a:avLst>
              <a:gd name="adj" fmla="val 6250"/>
            </a:avLst>
          </a:prstGeom>
          <a:solidFill>
            <a:srgbClr val="F2F4F8"/>
          </a:solidFill>
          <a:ln w="12700">
            <a:solidFill>
              <a:srgbClr val="F2F4F8"/>
            </a:solidFill>
            <a:prstDash val="solid"/>
          </a:ln>
        </p:spPr>
      </p:sp>
      <p:sp>
        <p:nvSpPr>
          <p:cNvPr id="5" name="Shape 3"/>
          <p:cNvSpPr/>
          <p:nvPr/>
        </p:nvSpPr>
        <p:spPr>
          <a:xfrm>
            <a:off x="841248" y="1984248"/>
            <a:ext cx="384048" cy="384048"/>
          </a:xfrm>
          <a:prstGeom prst="ellipse">
            <a:avLst/>
          </a:prstGeom>
          <a:solidFill>
            <a:srgbClr val="2A78D6"/>
          </a:solidFill>
          <a:ln w="12700">
            <a:solidFill>
              <a:srgbClr val="2A78D6"/>
            </a:solidFill>
            <a:prstDash val="solid"/>
          </a:ln>
        </p:spPr>
      </p:sp>
      <p:sp>
        <p:nvSpPr>
          <p:cNvPr id="6" name="Text 4"/>
          <p:cNvSpPr/>
          <p:nvPr/>
        </p:nvSpPr>
        <p:spPr>
          <a:xfrm>
            <a:off x="841248" y="198424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p:nvPr/>
        </p:nvSpPr>
        <p:spPr>
          <a:xfrm>
            <a:off x="1417320" y="1819656"/>
            <a:ext cx="4297680" cy="329184"/>
          </a:xfrm>
          <a:prstGeom prst="rect">
            <a:avLst/>
          </a:prstGeom>
          <a:noFill/>
          <a:ln/>
        </p:spPr>
        <p:txBody>
          <a:bodyPr wrap="square" lIns="0" tIns="0" rIns="0" bIns="0" rtlCol="0" anchor="ctr"/>
          <a:lstStyle/>
          <a:p>
            <a:pPr indent="0" marL="0">
              <a:buNone/>
            </a:pPr>
            <a:r>
              <a:rPr lang="en-US" sz="1700" b="1" dirty="0">
                <a:solidFill>
                  <a:srgbClr val="0E1E3C"/>
                </a:solidFill>
                <a:latin typeface="Cambria" pitchFamily="34" charset="0"/>
                <a:ea typeface="Cambria" pitchFamily="34" charset="-122"/>
                <a:cs typeface="Cambria" pitchFamily="34" charset="-120"/>
              </a:rPr>
              <a:t>Masalah</a:t>
            </a:r>
            <a:endParaRPr lang="en-US" sz="1700" dirty="0"/>
          </a:p>
        </p:txBody>
      </p:sp>
      <p:sp>
        <p:nvSpPr>
          <p:cNvPr id="8" name="Text 6"/>
          <p:cNvSpPr/>
          <p:nvPr/>
        </p:nvSpPr>
        <p:spPr>
          <a:xfrm>
            <a:off x="1417320" y="2176272"/>
            <a:ext cx="4343400" cy="457200"/>
          </a:xfrm>
          <a:prstGeom prst="rect">
            <a:avLst/>
          </a:prstGeom>
          <a:noFill/>
          <a:ln/>
        </p:spPr>
        <p:txBody>
          <a:bodyPr wrap="square" lIns="0" tIns="0" rIns="0" bIns="0" rtlCol="0" anchor="ctr"/>
          <a:lstStyle/>
          <a:p>
            <a:pPr indent="0" marL="0">
              <a:buNone/>
            </a:pPr>
            <a:r>
              <a:rPr lang="en-US" sz="1200" dirty="0">
                <a:solidFill>
                  <a:srgbClr val="52514E"/>
                </a:solidFill>
                <a:latin typeface="Calibri" pitchFamily="34" charset="0"/>
                <a:ea typeface="Calibri" pitchFamily="34" charset="-122"/>
                <a:cs typeface="Calibri" pitchFamily="34" charset="-120"/>
              </a:rPr>
              <a:t>Kenapa deteksi malam hari itu sulit dan kenapa harus model ringan</a:t>
            </a:r>
            <a:endParaRPr lang="en-US" sz="1200" dirty="0"/>
          </a:p>
        </p:txBody>
      </p:sp>
      <p:sp>
        <p:nvSpPr>
          <p:cNvPr id="9" name="Shape 7"/>
          <p:cNvSpPr/>
          <p:nvPr/>
        </p:nvSpPr>
        <p:spPr>
          <a:xfrm>
            <a:off x="6309360" y="1600200"/>
            <a:ext cx="5394960" cy="1170432"/>
          </a:xfrm>
          <a:prstGeom prst="roundRect">
            <a:avLst>
              <a:gd name="adj" fmla="val 6250"/>
            </a:avLst>
          </a:prstGeom>
          <a:solidFill>
            <a:srgbClr val="F2F4F8"/>
          </a:solidFill>
          <a:ln w="12700">
            <a:solidFill>
              <a:srgbClr val="F2F4F8"/>
            </a:solidFill>
            <a:prstDash val="solid"/>
          </a:ln>
        </p:spPr>
      </p:sp>
      <p:sp>
        <p:nvSpPr>
          <p:cNvPr id="10" name="Shape 8"/>
          <p:cNvSpPr/>
          <p:nvPr/>
        </p:nvSpPr>
        <p:spPr>
          <a:xfrm>
            <a:off x="6601968" y="1984248"/>
            <a:ext cx="384048" cy="384048"/>
          </a:xfrm>
          <a:prstGeom prst="ellipse">
            <a:avLst/>
          </a:prstGeom>
          <a:solidFill>
            <a:srgbClr val="2A78D6"/>
          </a:solidFill>
          <a:ln w="12700">
            <a:solidFill>
              <a:srgbClr val="2A78D6"/>
            </a:solidFill>
            <a:prstDash val="solid"/>
          </a:ln>
        </p:spPr>
      </p:sp>
      <p:sp>
        <p:nvSpPr>
          <p:cNvPr id="11" name="Text 9"/>
          <p:cNvSpPr/>
          <p:nvPr/>
        </p:nvSpPr>
        <p:spPr>
          <a:xfrm>
            <a:off x="6601968" y="198424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2" name="Text 10"/>
          <p:cNvSpPr/>
          <p:nvPr/>
        </p:nvSpPr>
        <p:spPr>
          <a:xfrm>
            <a:off x="7178040" y="1819656"/>
            <a:ext cx="4297680" cy="329184"/>
          </a:xfrm>
          <a:prstGeom prst="rect">
            <a:avLst/>
          </a:prstGeom>
          <a:noFill/>
          <a:ln/>
        </p:spPr>
        <p:txBody>
          <a:bodyPr wrap="square" lIns="0" tIns="0" rIns="0" bIns="0" rtlCol="0" anchor="ctr"/>
          <a:lstStyle/>
          <a:p>
            <a:pPr indent="0" marL="0">
              <a:buNone/>
            </a:pPr>
            <a:r>
              <a:rPr lang="en-US" sz="1700" b="1" dirty="0">
                <a:solidFill>
                  <a:srgbClr val="0E1E3C"/>
                </a:solidFill>
                <a:latin typeface="Cambria" pitchFamily="34" charset="0"/>
                <a:ea typeface="Cambria" pitchFamily="34" charset="-122"/>
                <a:cs typeface="Cambria" pitchFamily="34" charset="-120"/>
              </a:rPr>
              <a:t>Peta solusi</a:t>
            </a:r>
            <a:endParaRPr lang="en-US" sz="1700" dirty="0"/>
          </a:p>
        </p:txBody>
      </p:sp>
      <p:sp>
        <p:nvSpPr>
          <p:cNvPr id="13" name="Text 11"/>
          <p:cNvSpPr/>
          <p:nvPr/>
        </p:nvSpPr>
        <p:spPr>
          <a:xfrm>
            <a:off x="7178040" y="2176272"/>
            <a:ext cx="4343400" cy="457200"/>
          </a:xfrm>
          <a:prstGeom prst="rect">
            <a:avLst/>
          </a:prstGeom>
          <a:noFill/>
          <a:ln/>
        </p:spPr>
        <p:txBody>
          <a:bodyPr wrap="square" lIns="0" tIns="0" rIns="0" bIns="0" rtlCol="0" anchor="ctr"/>
          <a:lstStyle/>
          <a:p>
            <a:pPr indent="0" marL="0">
              <a:buNone/>
            </a:pPr>
            <a:r>
              <a:rPr lang="en-US" sz="1200" dirty="0">
                <a:solidFill>
                  <a:srgbClr val="52514E"/>
                </a:solidFill>
                <a:latin typeface="Calibri" pitchFamily="34" charset="0"/>
                <a:ea typeface="Calibri" pitchFamily="34" charset="-122"/>
                <a:cs typeface="Calibri" pitchFamily="34" charset="-120"/>
              </a:rPr>
              <a:t>Pendekatan yang sudah ada dan kenapa belum menjawab</a:t>
            </a:r>
            <a:endParaRPr lang="en-US" sz="1200" dirty="0"/>
          </a:p>
        </p:txBody>
      </p:sp>
      <p:sp>
        <p:nvSpPr>
          <p:cNvPr id="14" name="Shape 12"/>
          <p:cNvSpPr/>
          <p:nvPr/>
        </p:nvSpPr>
        <p:spPr>
          <a:xfrm>
            <a:off x="548640" y="3017520"/>
            <a:ext cx="5394960" cy="1170432"/>
          </a:xfrm>
          <a:prstGeom prst="roundRect">
            <a:avLst>
              <a:gd name="adj" fmla="val 6250"/>
            </a:avLst>
          </a:prstGeom>
          <a:solidFill>
            <a:srgbClr val="F2F4F8"/>
          </a:solidFill>
          <a:ln w="12700">
            <a:solidFill>
              <a:srgbClr val="F2F4F8"/>
            </a:solidFill>
            <a:prstDash val="solid"/>
          </a:ln>
        </p:spPr>
      </p:sp>
      <p:sp>
        <p:nvSpPr>
          <p:cNvPr id="15" name="Shape 13"/>
          <p:cNvSpPr/>
          <p:nvPr/>
        </p:nvSpPr>
        <p:spPr>
          <a:xfrm>
            <a:off x="841248" y="3401568"/>
            <a:ext cx="384048" cy="384048"/>
          </a:xfrm>
          <a:prstGeom prst="ellipse">
            <a:avLst/>
          </a:prstGeom>
          <a:solidFill>
            <a:srgbClr val="2A78D6"/>
          </a:solidFill>
          <a:ln w="12700">
            <a:solidFill>
              <a:srgbClr val="2A78D6"/>
            </a:solidFill>
            <a:prstDash val="solid"/>
          </a:ln>
        </p:spPr>
      </p:sp>
      <p:sp>
        <p:nvSpPr>
          <p:cNvPr id="16" name="Text 14"/>
          <p:cNvSpPr/>
          <p:nvPr/>
        </p:nvSpPr>
        <p:spPr>
          <a:xfrm>
            <a:off x="841248" y="340156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7" name="Text 15"/>
          <p:cNvSpPr/>
          <p:nvPr/>
        </p:nvSpPr>
        <p:spPr>
          <a:xfrm>
            <a:off x="1417320" y="3236976"/>
            <a:ext cx="4297680" cy="329184"/>
          </a:xfrm>
          <a:prstGeom prst="rect">
            <a:avLst/>
          </a:prstGeom>
          <a:noFill/>
          <a:ln/>
        </p:spPr>
        <p:txBody>
          <a:bodyPr wrap="square" lIns="0" tIns="0" rIns="0" bIns="0" rtlCol="0" anchor="ctr"/>
          <a:lstStyle/>
          <a:p>
            <a:pPr indent="0" marL="0">
              <a:buNone/>
            </a:pPr>
            <a:r>
              <a:rPr lang="en-US" sz="1700" b="1" dirty="0">
                <a:solidFill>
                  <a:srgbClr val="0E1E3C"/>
                </a:solidFill>
                <a:latin typeface="Cambria" pitchFamily="34" charset="0"/>
                <a:ea typeface="Cambria" pitchFamily="34" charset="-122"/>
                <a:cs typeface="Cambria" pitchFamily="34" charset="-120"/>
              </a:rPr>
              <a:t>Posisi kami</a:t>
            </a:r>
            <a:endParaRPr lang="en-US" sz="1700" dirty="0"/>
          </a:p>
        </p:txBody>
      </p:sp>
      <p:sp>
        <p:nvSpPr>
          <p:cNvPr id="18" name="Text 16"/>
          <p:cNvSpPr/>
          <p:nvPr/>
        </p:nvSpPr>
        <p:spPr>
          <a:xfrm>
            <a:off x="1417320" y="3593592"/>
            <a:ext cx="4343400" cy="457200"/>
          </a:xfrm>
          <a:prstGeom prst="rect">
            <a:avLst/>
          </a:prstGeom>
          <a:noFill/>
          <a:ln/>
        </p:spPr>
        <p:txBody>
          <a:bodyPr wrap="square" lIns="0" tIns="0" rIns="0" bIns="0" rtlCol="0" anchor="ctr"/>
          <a:lstStyle/>
          <a:p>
            <a:pPr indent="0" marL="0">
              <a:buNone/>
            </a:pPr>
            <a:r>
              <a:rPr lang="en-US" sz="1200" dirty="0">
                <a:solidFill>
                  <a:srgbClr val="52514E"/>
                </a:solidFill>
                <a:latin typeface="Calibri" pitchFamily="34" charset="0"/>
                <a:ea typeface="Calibri" pitchFamily="34" charset="-122"/>
                <a:cs typeface="Calibri" pitchFamily="34" charset="-120"/>
              </a:rPr>
              <a:t>Research gap, rumusan masalah, tujuan</a:t>
            </a:r>
            <a:endParaRPr lang="en-US" sz="1200" dirty="0"/>
          </a:p>
        </p:txBody>
      </p:sp>
      <p:sp>
        <p:nvSpPr>
          <p:cNvPr id="19" name="Shape 17"/>
          <p:cNvSpPr/>
          <p:nvPr/>
        </p:nvSpPr>
        <p:spPr>
          <a:xfrm>
            <a:off x="6309360" y="3017520"/>
            <a:ext cx="5394960" cy="1170432"/>
          </a:xfrm>
          <a:prstGeom prst="roundRect">
            <a:avLst>
              <a:gd name="adj" fmla="val 6250"/>
            </a:avLst>
          </a:prstGeom>
          <a:solidFill>
            <a:srgbClr val="F2F4F8"/>
          </a:solidFill>
          <a:ln w="12700">
            <a:solidFill>
              <a:srgbClr val="F2F4F8"/>
            </a:solidFill>
            <a:prstDash val="solid"/>
          </a:ln>
        </p:spPr>
      </p:sp>
      <p:sp>
        <p:nvSpPr>
          <p:cNvPr id="20" name="Shape 18"/>
          <p:cNvSpPr/>
          <p:nvPr/>
        </p:nvSpPr>
        <p:spPr>
          <a:xfrm>
            <a:off x="6601968" y="3401568"/>
            <a:ext cx="384048" cy="384048"/>
          </a:xfrm>
          <a:prstGeom prst="ellipse">
            <a:avLst/>
          </a:prstGeom>
          <a:solidFill>
            <a:srgbClr val="EB6834"/>
          </a:solidFill>
          <a:ln w="12700">
            <a:solidFill>
              <a:srgbClr val="EB6834"/>
            </a:solidFill>
            <a:prstDash val="solid"/>
          </a:ln>
        </p:spPr>
      </p:sp>
      <p:sp>
        <p:nvSpPr>
          <p:cNvPr id="21" name="Text 19"/>
          <p:cNvSpPr/>
          <p:nvPr/>
        </p:nvSpPr>
        <p:spPr>
          <a:xfrm>
            <a:off x="6601968" y="340156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2" name="Text 20"/>
          <p:cNvSpPr/>
          <p:nvPr/>
        </p:nvSpPr>
        <p:spPr>
          <a:xfrm>
            <a:off x="7178040" y="3236976"/>
            <a:ext cx="4297680" cy="329184"/>
          </a:xfrm>
          <a:prstGeom prst="rect">
            <a:avLst/>
          </a:prstGeom>
          <a:noFill/>
          <a:ln/>
        </p:spPr>
        <p:txBody>
          <a:bodyPr wrap="square" lIns="0" tIns="0" rIns="0" bIns="0" rtlCol="0" anchor="ctr"/>
          <a:lstStyle/>
          <a:p>
            <a:pPr indent="0" marL="0">
              <a:buNone/>
            </a:pPr>
            <a:r>
              <a:rPr lang="en-US" sz="1700" b="1" dirty="0">
                <a:solidFill>
                  <a:srgbClr val="0E1E3C"/>
                </a:solidFill>
                <a:latin typeface="Cambria" pitchFamily="34" charset="0"/>
                <a:ea typeface="Cambria" pitchFamily="34" charset="-122"/>
                <a:cs typeface="Cambria" pitchFamily="34" charset="-120"/>
              </a:rPr>
              <a:t>Metode</a:t>
            </a:r>
            <a:endParaRPr lang="en-US" sz="1700" dirty="0"/>
          </a:p>
        </p:txBody>
      </p:sp>
      <p:sp>
        <p:nvSpPr>
          <p:cNvPr id="23" name="Text 21"/>
          <p:cNvSpPr/>
          <p:nvPr/>
        </p:nvSpPr>
        <p:spPr>
          <a:xfrm>
            <a:off x="7178040" y="3593592"/>
            <a:ext cx="4343400" cy="457200"/>
          </a:xfrm>
          <a:prstGeom prst="rect">
            <a:avLst/>
          </a:prstGeom>
          <a:noFill/>
          <a:ln/>
        </p:spPr>
        <p:txBody>
          <a:bodyPr wrap="square" lIns="0" tIns="0" rIns="0" bIns="0" rtlCol="0" anchor="ctr"/>
          <a:lstStyle/>
          <a:p>
            <a:pPr indent="0" marL="0">
              <a:buNone/>
            </a:pPr>
            <a:r>
              <a:rPr lang="en-US" sz="1200" dirty="0">
                <a:solidFill>
                  <a:srgbClr val="52514E"/>
                </a:solidFill>
                <a:latin typeface="Calibri" pitchFamily="34" charset="0"/>
                <a:ea typeface="Calibri" pitchFamily="34" charset="-122"/>
                <a:cs typeface="Calibri" pitchFamily="34" charset="-120"/>
              </a:rPr>
              <a:t>Arsitektur distilasi dan apa yang kami ubah</a:t>
            </a:r>
            <a:endParaRPr lang="en-US" sz="1200" dirty="0"/>
          </a:p>
        </p:txBody>
      </p:sp>
      <p:sp>
        <p:nvSpPr>
          <p:cNvPr id="24" name="Shape 22"/>
          <p:cNvSpPr/>
          <p:nvPr/>
        </p:nvSpPr>
        <p:spPr>
          <a:xfrm>
            <a:off x="548640" y="4434840"/>
            <a:ext cx="5394960" cy="1170432"/>
          </a:xfrm>
          <a:prstGeom prst="roundRect">
            <a:avLst>
              <a:gd name="adj" fmla="val 6250"/>
            </a:avLst>
          </a:prstGeom>
          <a:solidFill>
            <a:srgbClr val="F2F4F8"/>
          </a:solidFill>
          <a:ln w="12700">
            <a:solidFill>
              <a:srgbClr val="F2F4F8"/>
            </a:solidFill>
            <a:prstDash val="solid"/>
          </a:ln>
        </p:spPr>
      </p:sp>
      <p:sp>
        <p:nvSpPr>
          <p:cNvPr id="25" name="Shape 23"/>
          <p:cNvSpPr/>
          <p:nvPr/>
        </p:nvSpPr>
        <p:spPr>
          <a:xfrm>
            <a:off x="841248" y="4818888"/>
            <a:ext cx="384048" cy="384048"/>
          </a:xfrm>
          <a:prstGeom prst="ellipse">
            <a:avLst/>
          </a:prstGeom>
          <a:solidFill>
            <a:srgbClr val="EB6834"/>
          </a:solidFill>
          <a:ln w="12700">
            <a:solidFill>
              <a:srgbClr val="EB6834"/>
            </a:solidFill>
            <a:prstDash val="solid"/>
          </a:ln>
        </p:spPr>
      </p:sp>
      <p:sp>
        <p:nvSpPr>
          <p:cNvPr id="26" name="Text 24"/>
          <p:cNvSpPr/>
          <p:nvPr/>
        </p:nvSpPr>
        <p:spPr>
          <a:xfrm>
            <a:off x="841248" y="481888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27" name="Text 25"/>
          <p:cNvSpPr/>
          <p:nvPr/>
        </p:nvSpPr>
        <p:spPr>
          <a:xfrm>
            <a:off x="1417320" y="4654296"/>
            <a:ext cx="4297680" cy="329184"/>
          </a:xfrm>
          <a:prstGeom prst="rect">
            <a:avLst/>
          </a:prstGeom>
          <a:noFill/>
          <a:ln/>
        </p:spPr>
        <p:txBody>
          <a:bodyPr wrap="square" lIns="0" tIns="0" rIns="0" bIns="0" rtlCol="0" anchor="ctr"/>
          <a:lstStyle/>
          <a:p>
            <a:pPr indent="0" marL="0">
              <a:buNone/>
            </a:pPr>
            <a:r>
              <a:rPr lang="en-US" sz="1700" b="1" dirty="0">
                <a:solidFill>
                  <a:srgbClr val="0E1E3C"/>
                </a:solidFill>
                <a:latin typeface="Cambria" pitchFamily="34" charset="0"/>
                <a:ea typeface="Cambria" pitchFamily="34" charset="-122"/>
                <a:cs typeface="Cambria" pitchFamily="34" charset="-120"/>
              </a:rPr>
              <a:t>Hasil awal</a:t>
            </a:r>
            <a:endParaRPr lang="en-US" sz="1700" dirty="0"/>
          </a:p>
        </p:txBody>
      </p:sp>
      <p:sp>
        <p:nvSpPr>
          <p:cNvPr id="28" name="Text 26"/>
          <p:cNvSpPr/>
          <p:nvPr/>
        </p:nvSpPr>
        <p:spPr>
          <a:xfrm>
            <a:off x="1417320" y="5010912"/>
            <a:ext cx="4343400" cy="457200"/>
          </a:xfrm>
          <a:prstGeom prst="rect">
            <a:avLst/>
          </a:prstGeom>
          <a:noFill/>
          <a:ln/>
        </p:spPr>
        <p:txBody>
          <a:bodyPr wrap="square" lIns="0" tIns="0" rIns="0" bIns="0" rtlCol="0" anchor="ctr"/>
          <a:lstStyle/>
          <a:p>
            <a:pPr indent="0" marL="0">
              <a:buNone/>
            </a:pPr>
            <a:r>
              <a:rPr lang="en-US" sz="1200" dirty="0">
                <a:solidFill>
                  <a:srgbClr val="52514E"/>
                </a:solidFill>
                <a:latin typeface="Calibri" pitchFamily="34" charset="0"/>
                <a:ea typeface="Calibri" pitchFamily="34" charset="-122"/>
                <a:cs typeface="Calibri" pitchFamily="34" charset="-120"/>
              </a:rPr>
              <a:t>Tiga kali training, ablation, temuan utama</a:t>
            </a:r>
            <a:endParaRPr lang="en-US" sz="1200" dirty="0"/>
          </a:p>
        </p:txBody>
      </p:sp>
      <p:sp>
        <p:nvSpPr>
          <p:cNvPr id="29" name="Shape 27"/>
          <p:cNvSpPr/>
          <p:nvPr/>
        </p:nvSpPr>
        <p:spPr>
          <a:xfrm>
            <a:off x="6309360" y="4434840"/>
            <a:ext cx="5394960" cy="1170432"/>
          </a:xfrm>
          <a:prstGeom prst="roundRect">
            <a:avLst>
              <a:gd name="adj" fmla="val 6250"/>
            </a:avLst>
          </a:prstGeom>
          <a:solidFill>
            <a:srgbClr val="F2F4F8"/>
          </a:solidFill>
          <a:ln w="12700">
            <a:solidFill>
              <a:srgbClr val="F2F4F8"/>
            </a:solidFill>
            <a:prstDash val="solid"/>
          </a:ln>
        </p:spPr>
      </p:sp>
      <p:sp>
        <p:nvSpPr>
          <p:cNvPr id="30" name="Shape 28"/>
          <p:cNvSpPr/>
          <p:nvPr/>
        </p:nvSpPr>
        <p:spPr>
          <a:xfrm>
            <a:off x="6601968" y="4818888"/>
            <a:ext cx="384048" cy="384048"/>
          </a:xfrm>
          <a:prstGeom prst="ellipse">
            <a:avLst/>
          </a:prstGeom>
          <a:solidFill>
            <a:srgbClr val="EB6834"/>
          </a:solidFill>
          <a:ln w="12700">
            <a:solidFill>
              <a:srgbClr val="EB6834"/>
            </a:solidFill>
            <a:prstDash val="solid"/>
          </a:ln>
        </p:spPr>
      </p:sp>
      <p:sp>
        <p:nvSpPr>
          <p:cNvPr id="31" name="Text 29"/>
          <p:cNvSpPr/>
          <p:nvPr/>
        </p:nvSpPr>
        <p:spPr>
          <a:xfrm>
            <a:off x="6601968" y="481888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6</a:t>
            </a:r>
            <a:endParaRPr lang="en-US" sz="1400" dirty="0"/>
          </a:p>
        </p:txBody>
      </p:sp>
      <p:sp>
        <p:nvSpPr>
          <p:cNvPr id="32" name="Text 30"/>
          <p:cNvSpPr/>
          <p:nvPr/>
        </p:nvSpPr>
        <p:spPr>
          <a:xfrm>
            <a:off x="7178040" y="4654296"/>
            <a:ext cx="4297680" cy="329184"/>
          </a:xfrm>
          <a:prstGeom prst="rect">
            <a:avLst/>
          </a:prstGeom>
          <a:noFill/>
          <a:ln/>
        </p:spPr>
        <p:txBody>
          <a:bodyPr wrap="square" lIns="0" tIns="0" rIns="0" bIns="0" rtlCol="0" anchor="ctr"/>
          <a:lstStyle/>
          <a:p>
            <a:pPr indent="0" marL="0">
              <a:buNone/>
            </a:pPr>
            <a:r>
              <a:rPr lang="en-US" sz="1700" b="1" dirty="0">
                <a:solidFill>
                  <a:srgbClr val="0E1E3C"/>
                </a:solidFill>
                <a:latin typeface="Cambria" pitchFamily="34" charset="0"/>
                <a:ea typeface="Cambria" pitchFamily="34" charset="-122"/>
                <a:cs typeface="Cambria" pitchFamily="34" charset="-120"/>
              </a:rPr>
              <a:t>Novelty &amp; rencana</a:t>
            </a:r>
            <a:endParaRPr lang="en-US" sz="1700" dirty="0"/>
          </a:p>
        </p:txBody>
      </p:sp>
      <p:sp>
        <p:nvSpPr>
          <p:cNvPr id="33" name="Text 31"/>
          <p:cNvSpPr/>
          <p:nvPr/>
        </p:nvSpPr>
        <p:spPr>
          <a:xfrm>
            <a:off x="7178040" y="5010912"/>
            <a:ext cx="4343400" cy="457200"/>
          </a:xfrm>
          <a:prstGeom prst="rect">
            <a:avLst/>
          </a:prstGeom>
          <a:noFill/>
          <a:ln/>
        </p:spPr>
        <p:txBody>
          <a:bodyPr wrap="square" lIns="0" tIns="0" rIns="0" bIns="0" rtlCol="0" anchor="ctr"/>
          <a:lstStyle/>
          <a:p>
            <a:pPr indent="0" marL="0">
              <a:buNone/>
            </a:pPr>
            <a:r>
              <a:rPr lang="en-US" sz="1200" dirty="0">
                <a:solidFill>
                  <a:srgbClr val="52514E"/>
                </a:solidFill>
                <a:latin typeface="Calibri" pitchFamily="34" charset="0"/>
                <a:ea typeface="Calibri" pitchFamily="34" charset="-122"/>
                <a:cs typeface="Calibri" pitchFamily="34" charset="-120"/>
              </a:rPr>
              <a:t>Klaim kontribusi dan sisa pekerjaan</a:t>
            </a:r>
            <a:endParaRPr lang="en-US" sz="1200" dirty="0"/>
          </a:p>
        </p:txBody>
      </p:sp>
      <p:sp>
        <p:nvSpPr>
          <p:cNvPr id="34" name="Text 32"/>
          <p:cNvSpPr/>
          <p:nvPr/>
        </p:nvSpPr>
        <p:spPr>
          <a:xfrm>
            <a:off x="11430000" y="6355080"/>
            <a:ext cx="411480" cy="274320"/>
          </a:xfrm>
          <a:prstGeom prst="rect">
            <a:avLst/>
          </a:prstGeom>
          <a:noFill/>
          <a:ln/>
        </p:spPr>
        <p:txBody>
          <a:bodyPr wrap="square" lIns="0" tIns="0" rIns="0" bIns="0" rtlCol="0" anchor="ctr"/>
          <a:lstStyle/>
          <a:p>
            <a:pPr algn="r" indent="0" marL="0">
              <a:buNone/>
            </a:pPr>
            <a:r>
              <a:rPr lang="en-US" sz="1000" dirty="0">
                <a:solidFill>
                  <a:srgbClr val="898781"/>
                </a:solidFill>
                <a:latin typeface="Calibri" pitchFamily="34" charset="0"/>
                <a:ea typeface="Calibri" pitchFamily="34" charset="-122"/>
                <a:cs typeface="Calibri"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10896"/>
            <a:ext cx="8229600" cy="256032"/>
          </a:xfrm>
          <a:prstGeom prst="rect">
            <a:avLst/>
          </a:prstGeom>
          <a:noFill/>
          <a:ln/>
        </p:spPr>
        <p:txBody>
          <a:bodyPr wrap="square" lIns="0" tIns="0" rIns="0" bIns="0" rtlCol="0" anchor="ctr"/>
          <a:lstStyle/>
          <a:p>
            <a:pPr indent="0" marL="0">
              <a:buNone/>
            </a:pPr>
            <a:r>
              <a:rPr lang="en-US" sz="1100" b="1" spc="160" kern="0" dirty="0">
                <a:solidFill>
                  <a:srgbClr val="EB6834"/>
                </a:solidFill>
                <a:latin typeface="Calibri" pitchFamily="34" charset="0"/>
                <a:ea typeface="Calibri" pitchFamily="34" charset="-122"/>
                <a:cs typeface="Calibri" pitchFamily="34" charset="-120"/>
              </a:rPr>
              <a:t>LATAR BELAKANG</a:t>
            </a:r>
            <a:endParaRPr lang="en-US" sz="1100" dirty="0"/>
          </a:p>
        </p:txBody>
      </p:sp>
      <p:sp>
        <p:nvSpPr>
          <p:cNvPr id="3" name="Text 1"/>
          <p:cNvSpPr/>
          <p:nvPr/>
        </p:nvSpPr>
        <p:spPr>
          <a:xfrm>
            <a:off x="548640" y="566928"/>
            <a:ext cx="11064240" cy="658368"/>
          </a:xfrm>
          <a:prstGeom prst="rect">
            <a:avLst/>
          </a:prstGeom>
          <a:noFill/>
          <a:ln/>
        </p:spPr>
        <p:txBody>
          <a:bodyPr wrap="square" lIns="0" tIns="0" rIns="0" bIns="0" rtlCol="0" anchor="t"/>
          <a:lstStyle/>
          <a:p>
            <a:pPr indent="0" marL="0">
              <a:buNone/>
            </a:pPr>
            <a:r>
              <a:rPr lang="en-US" sz="3000" b="1" dirty="0">
                <a:solidFill>
                  <a:srgbClr val="0E1E3C"/>
                </a:solidFill>
                <a:latin typeface="Cambria" pitchFamily="34" charset="0"/>
                <a:ea typeface="Cambria" pitchFamily="34" charset="-122"/>
                <a:cs typeface="Cambria" pitchFamily="34" charset="-120"/>
              </a:rPr>
              <a:t>Kamera kendaraan kehilangan penglihatan saat gelap</a:t>
            </a:r>
            <a:endParaRPr lang="en-US" sz="3000" dirty="0"/>
          </a:p>
        </p:txBody>
      </p:sp>
      <p:sp>
        <p:nvSpPr>
          <p:cNvPr id="4" name="Shape 2"/>
          <p:cNvSpPr/>
          <p:nvPr/>
        </p:nvSpPr>
        <p:spPr>
          <a:xfrm>
            <a:off x="548640" y="1691640"/>
            <a:ext cx="3520440" cy="1828800"/>
          </a:xfrm>
          <a:prstGeom prst="roundRect">
            <a:avLst>
              <a:gd name="adj" fmla="val 4000"/>
            </a:avLst>
          </a:prstGeom>
          <a:solidFill>
            <a:srgbClr val="F2F4F8"/>
          </a:solidFill>
          <a:ln w="12700">
            <a:solidFill>
              <a:srgbClr val="F2F4F8"/>
            </a:solidFill>
            <a:prstDash val="solid"/>
          </a:ln>
        </p:spPr>
      </p:sp>
      <p:sp>
        <p:nvSpPr>
          <p:cNvPr id="5" name="Shape 3"/>
          <p:cNvSpPr/>
          <p:nvPr/>
        </p:nvSpPr>
        <p:spPr>
          <a:xfrm>
            <a:off x="822960" y="1965960"/>
            <a:ext cx="310896" cy="310896"/>
          </a:xfrm>
          <a:prstGeom prst="ellipse">
            <a:avLst/>
          </a:prstGeom>
          <a:solidFill>
            <a:srgbClr val="EB6834"/>
          </a:solidFill>
          <a:ln w="12700">
            <a:solidFill>
              <a:srgbClr val="EB6834"/>
            </a:solidFill>
            <a:prstDash val="solid"/>
          </a:ln>
        </p:spPr>
      </p:sp>
      <p:sp>
        <p:nvSpPr>
          <p:cNvPr id="6" name="Text 4"/>
          <p:cNvSpPr/>
          <p:nvPr/>
        </p:nvSpPr>
        <p:spPr>
          <a:xfrm>
            <a:off x="1280160" y="1947672"/>
            <a:ext cx="2651760" cy="365760"/>
          </a:xfrm>
          <a:prstGeom prst="rect">
            <a:avLst/>
          </a:prstGeom>
          <a:noFill/>
          <a:ln/>
        </p:spPr>
        <p:txBody>
          <a:bodyPr wrap="square" lIns="0" tIns="0" rIns="0" bIns="0" rtlCol="0" anchor="ctr"/>
          <a:lstStyle/>
          <a:p>
            <a:pPr indent="0" marL="0">
              <a:buNone/>
            </a:pPr>
            <a:r>
              <a:rPr lang="en-US" sz="1500" b="1" dirty="0">
                <a:solidFill>
                  <a:srgbClr val="0E1E3C"/>
                </a:solidFill>
                <a:latin typeface="Cambria" pitchFamily="34" charset="0"/>
                <a:ea typeface="Cambria" pitchFamily="34" charset="-122"/>
                <a:cs typeface="Cambria" pitchFamily="34" charset="-120"/>
              </a:rPr>
              <a:t>Malam hari</a:t>
            </a:r>
            <a:endParaRPr lang="en-US" sz="1500" dirty="0"/>
          </a:p>
        </p:txBody>
      </p:sp>
      <p:sp>
        <p:nvSpPr>
          <p:cNvPr id="7" name="Text 5"/>
          <p:cNvSpPr/>
          <p:nvPr/>
        </p:nvSpPr>
        <p:spPr>
          <a:xfrm>
            <a:off x="822960" y="2487168"/>
            <a:ext cx="3017520" cy="868680"/>
          </a:xfrm>
          <a:prstGeom prst="rect">
            <a:avLst/>
          </a:prstGeom>
          <a:noFill/>
          <a:ln/>
        </p:spPr>
        <p:txBody>
          <a:bodyPr wrap="square" lIns="0" tIns="0" rIns="0" bIns="0" rtlCol="0" anchor="ctr"/>
          <a:lstStyle/>
          <a:p>
            <a:pPr indent="0" marL="0">
              <a:buNone/>
            </a:pPr>
            <a:r>
              <a:rPr lang="en-US" sz="1250" dirty="0">
                <a:solidFill>
                  <a:srgbClr val="52514E"/>
                </a:solidFill>
                <a:latin typeface="Calibri" pitchFamily="34" charset="0"/>
                <a:ea typeface="Calibri" pitchFamily="34" charset="-122"/>
                <a:cs typeface="Calibri" pitchFamily="34" charset="-120"/>
              </a:rPr>
              <a:t>Kontras rendah, sensor noise naik, motion blur, silau lampu kendaraan lain</a:t>
            </a:r>
            <a:endParaRPr lang="en-US" sz="1250" dirty="0"/>
          </a:p>
        </p:txBody>
      </p:sp>
      <p:sp>
        <p:nvSpPr>
          <p:cNvPr id="8" name="Shape 6"/>
          <p:cNvSpPr/>
          <p:nvPr/>
        </p:nvSpPr>
        <p:spPr>
          <a:xfrm>
            <a:off x="4343400" y="1691640"/>
            <a:ext cx="3520440" cy="1828800"/>
          </a:xfrm>
          <a:prstGeom prst="roundRect">
            <a:avLst>
              <a:gd name="adj" fmla="val 4000"/>
            </a:avLst>
          </a:prstGeom>
          <a:solidFill>
            <a:srgbClr val="F2F4F8"/>
          </a:solidFill>
          <a:ln w="12700">
            <a:solidFill>
              <a:srgbClr val="F2F4F8"/>
            </a:solidFill>
            <a:prstDash val="solid"/>
          </a:ln>
        </p:spPr>
      </p:sp>
      <p:sp>
        <p:nvSpPr>
          <p:cNvPr id="9" name="Shape 7"/>
          <p:cNvSpPr/>
          <p:nvPr/>
        </p:nvSpPr>
        <p:spPr>
          <a:xfrm>
            <a:off x="4617720" y="1965960"/>
            <a:ext cx="310896" cy="310896"/>
          </a:xfrm>
          <a:prstGeom prst="ellipse">
            <a:avLst/>
          </a:prstGeom>
          <a:solidFill>
            <a:srgbClr val="EB6834"/>
          </a:solidFill>
          <a:ln w="12700">
            <a:solidFill>
              <a:srgbClr val="EB6834"/>
            </a:solidFill>
            <a:prstDash val="solid"/>
          </a:ln>
        </p:spPr>
      </p:sp>
      <p:sp>
        <p:nvSpPr>
          <p:cNvPr id="10" name="Text 8"/>
          <p:cNvSpPr/>
          <p:nvPr/>
        </p:nvSpPr>
        <p:spPr>
          <a:xfrm>
            <a:off x="5074920" y="1947672"/>
            <a:ext cx="2651760" cy="365760"/>
          </a:xfrm>
          <a:prstGeom prst="rect">
            <a:avLst/>
          </a:prstGeom>
          <a:noFill/>
          <a:ln/>
        </p:spPr>
        <p:txBody>
          <a:bodyPr wrap="square" lIns="0" tIns="0" rIns="0" bIns="0" rtlCol="0" anchor="ctr"/>
          <a:lstStyle/>
          <a:p>
            <a:pPr indent="0" marL="0">
              <a:buNone/>
            </a:pPr>
            <a:r>
              <a:rPr lang="en-US" sz="1500" b="1" dirty="0">
                <a:solidFill>
                  <a:srgbClr val="0E1E3C"/>
                </a:solidFill>
                <a:latin typeface="Cambria" pitchFamily="34" charset="0"/>
                <a:ea typeface="Cambria" pitchFamily="34" charset="-122"/>
                <a:cs typeface="Cambria" pitchFamily="34" charset="-120"/>
              </a:rPr>
              <a:t>Objek kecil hilang duluan</a:t>
            </a:r>
            <a:endParaRPr lang="en-US" sz="1500" dirty="0"/>
          </a:p>
        </p:txBody>
      </p:sp>
      <p:sp>
        <p:nvSpPr>
          <p:cNvPr id="11" name="Text 9"/>
          <p:cNvSpPr/>
          <p:nvPr/>
        </p:nvSpPr>
        <p:spPr>
          <a:xfrm>
            <a:off x="4617720" y="2487168"/>
            <a:ext cx="3017520" cy="868680"/>
          </a:xfrm>
          <a:prstGeom prst="rect">
            <a:avLst/>
          </a:prstGeom>
          <a:noFill/>
          <a:ln/>
        </p:spPr>
        <p:txBody>
          <a:bodyPr wrap="square" lIns="0" tIns="0" rIns="0" bIns="0" rtlCol="0" anchor="ctr"/>
          <a:lstStyle/>
          <a:p>
            <a:pPr indent="0" marL="0">
              <a:buNone/>
            </a:pPr>
            <a:r>
              <a:rPr lang="en-US" sz="1250" dirty="0">
                <a:solidFill>
                  <a:srgbClr val="52514E"/>
                </a:solidFill>
                <a:latin typeface="Calibri" pitchFamily="34" charset="0"/>
                <a:ea typeface="Calibri" pitchFamily="34" charset="-122"/>
                <a:cs typeface="Calibri" pitchFamily="34" charset="-120"/>
              </a:rPr>
              <a:t>Pejalan kaki, sepeda, dan pengendara motor paling cepat lenyap dari feature map</a:t>
            </a:r>
            <a:endParaRPr lang="en-US" sz="1250" dirty="0"/>
          </a:p>
        </p:txBody>
      </p:sp>
      <p:sp>
        <p:nvSpPr>
          <p:cNvPr id="12" name="Shape 10"/>
          <p:cNvSpPr/>
          <p:nvPr/>
        </p:nvSpPr>
        <p:spPr>
          <a:xfrm>
            <a:off x="8138160" y="1691640"/>
            <a:ext cx="3520440" cy="1828800"/>
          </a:xfrm>
          <a:prstGeom prst="roundRect">
            <a:avLst>
              <a:gd name="adj" fmla="val 4000"/>
            </a:avLst>
          </a:prstGeom>
          <a:solidFill>
            <a:srgbClr val="F2F4F8"/>
          </a:solidFill>
          <a:ln w="12700">
            <a:solidFill>
              <a:srgbClr val="F2F4F8"/>
            </a:solidFill>
            <a:prstDash val="solid"/>
          </a:ln>
        </p:spPr>
      </p:sp>
      <p:sp>
        <p:nvSpPr>
          <p:cNvPr id="13" name="Shape 11"/>
          <p:cNvSpPr/>
          <p:nvPr/>
        </p:nvSpPr>
        <p:spPr>
          <a:xfrm>
            <a:off x="8412480" y="1965960"/>
            <a:ext cx="310896" cy="310896"/>
          </a:xfrm>
          <a:prstGeom prst="ellipse">
            <a:avLst/>
          </a:prstGeom>
          <a:solidFill>
            <a:srgbClr val="EB6834"/>
          </a:solidFill>
          <a:ln w="12700">
            <a:solidFill>
              <a:srgbClr val="EB6834"/>
            </a:solidFill>
            <a:prstDash val="solid"/>
          </a:ln>
        </p:spPr>
      </p:sp>
      <p:sp>
        <p:nvSpPr>
          <p:cNvPr id="14" name="Text 12"/>
          <p:cNvSpPr/>
          <p:nvPr/>
        </p:nvSpPr>
        <p:spPr>
          <a:xfrm>
            <a:off x="8869680" y="1947672"/>
            <a:ext cx="2651760" cy="365760"/>
          </a:xfrm>
          <a:prstGeom prst="rect">
            <a:avLst/>
          </a:prstGeom>
          <a:noFill/>
          <a:ln/>
        </p:spPr>
        <p:txBody>
          <a:bodyPr wrap="square" lIns="0" tIns="0" rIns="0" bIns="0" rtlCol="0" anchor="ctr"/>
          <a:lstStyle/>
          <a:p>
            <a:pPr indent="0" marL="0">
              <a:buNone/>
            </a:pPr>
            <a:r>
              <a:rPr lang="en-US" sz="1500" b="1" dirty="0">
                <a:solidFill>
                  <a:srgbClr val="0E1E3C"/>
                </a:solidFill>
                <a:latin typeface="Cambria" pitchFamily="34" charset="0"/>
                <a:ea typeface="Cambria" pitchFamily="34" charset="-122"/>
                <a:cs typeface="Cambria" pitchFamily="34" charset="-120"/>
              </a:rPr>
              <a:t>Justru saat paling berbahaya</a:t>
            </a:r>
            <a:endParaRPr lang="en-US" sz="1500" dirty="0"/>
          </a:p>
        </p:txBody>
      </p:sp>
      <p:sp>
        <p:nvSpPr>
          <p:cNvPr id="15" name="Text 13"/>
          <p:cNvSpPr/>
          <p:nvPr/>
        </p:nvSpPr>
        <p:spPr>
          <a:xfrm>
            <a:off x="8412480" y="2487168"/>
            <a:ext cx="3017520" cy="868680"/>
          </a:xfrm>
          <a:prstGeom prst="rect">
            <a:avLst/>
          </a:prstGeom>
          <a:noFill/>
          <a:ln/>
        </p:spPr>
        <p:txBody>
          <a:bodyPr wrap="square" lIns="0" tIns="0" rIns="0" bIns="0" rtlCol="0" anchor="ctr"/>
          <a:lstStyle/>
          <a:p>
            <a:pPr indent="0" marL="0">
              <a:buNone/>
            </a:pPr>
            <a:r>
              <a:rPr lang="en-US" sz="1250" dirty="0">
                <a:solidFill>
                  <a:srgbClr val="52514E"/>
                </a:solidFill>
                <a:latin typeface="Calibri" pitchFamily="34" charset="0"/>
                <a:ea typeface="Calibri" pitchFamily="34" charset="-122"/>
                <a:cs typeface="Calibri" pitchFamily="34" charset="-120"/>
              </a:rPr>
              <a:t>Fatalitas kecelakaan pejalan kaki jauh lebih tinggi pada kondisi gelap</a:t>
            </a:r>
            <a:endParaRPr lang="en-US" sz="1250" dirty="0"/>
          </a:p>
        </p:txBody>
      </p:sp>
      <p:sp>
        <p:nvSpPr>
          <p:cNvPr id="16" name="Shape 14"/>
          <p:cNvSpPr/>
          <p:nvPr/>
        </p:nvSpPr>
        <p:spPr>
          <a:xfrm>
            <a:off x="548640" y="3886200"/>
            <a:ext cx="11064240" cy="1737360"/>
          </a:xfrm>
          <a:prstGeom prst="roundRect">
            <a:avLst>
              <a:gd name="adj" fmla="val 4211"/>
            </a:avLst>
          </a:prstGeom>
          <a:solidFill>
            <a:srgbClr val="0E1E3C"/>
          </a:solidFill>
          <a:ln w="12700">
            <a:solidFill>
              <a:srgbClr val="0E1E3C"/>
            </a:solidFill>
            <a:prstDash val="solid"/>
          </a:ln>
        </p:spPr>
      </p:sp>
      <p:sp>
        <p:nvSpPr>
          <p:cNvPr id="17" name="Text 15"/>
          <p:cNvSpPr/>
          <p:nvPr/>
        </p:nvSpPr>
        <p:spPr>
          <a:xfrm>
            <a:off x="914400" y="4114800"/>
            <a:ext cx="4572000" cy="320040"/>
          </a:xfrm>
          <a:prstGeom prst="rect">
            <a:avLst/>
          </a:prstGeom>
          <a:noFill/>
          <a:ln/>
        </p:spPr>
        <p:txBody>
          <a:bodyPr wrap="square" lIns="0" tIns="0" rIns="0" bIns="0" rtlCol="0" anchor="ctr"/>
          <a:lstStyle/>
          <a:p>
            <a:pPr indent="0" marL="0">
              <a:buNone/>
            </a:pPr>
            <a:r>
              <a:rPr lang="en-US" sz="1200" b="1" spc="120" kern="0" dirty="0">
                <a:solidFill>
                  <a:srgbClr val="CADCFC"/>
                </a:solidFill>
                <a:latin typeface="Calibri" pitchFamily="34" charset="0"/>
                <a:ea typeface="Calibri" pitchFamily="34" charset="-122"/>
                <a:cs typeface="Calibri" pitchFamily="34" charset="-120"/>
              </a:rPr>
              <a:t>Bukti dari data kami sendiri</a:t>
            </a:r>
            <a:endParaRPr lang="en-US" sz="1200" dirty="0"/>
          </a:p>
        </p:txBody>
      </p:sp>
      <p:sp>
        <p:nvSpPr>
          <p:cNvPr id="18" name="Text 16"/>
          <p:cNvSpPr/>
          <p:nvPr/>
        </p:nvSpPr>
        <p:spPr>
          <a:xfrm>
            <a:off x="914400" y="4526280"/>
            <a:ext cx="10332720" cy="822960"/>
          </a:xfrm>
          <a:prstGeom prst="rect">
            <a:avLst/>
          </a:prstGeom>
          <a:noFill/>
          <a:ln/>
        </p:spPr>
        <p:txBody>
          <a:bodyPr wrap="square" lIns="0" tIns="0" rIns="0" bIns="0" rtlCol="0" anchor="ctr"/>
          <a:lstStyle/>
          <a:p>
            <a:pPr indent="0" marL="0">
              <a:lnSpc>
                <a:spcPts val="2400"/>
              </a:lnSpc>
              <a:buNone/>
            </a:pPr>
            <a:r>
              <a:rPr lang="en-US" sz="1600" dirty="0">
                <a:solidFill>
                  <a:srgbClr val="FFFFFF"/>
                </a:solidFill>
                <a:latin typeface="Calibri" pitchFamily="34" charset="0"/>
                <a:ea typeface="Calibri" pitchFamily="34" charset="-122"/>
                <a:cs typeface="Calibri" pitchFamily="34" charset="-120"/>
              </a:rPr>
              <a:t>Model besar YOLOv8l turun </a:t>
            </a:r>
            <a:pPr indent="0" marL="0">
              <a:lnSpc>
                <a:spcPts val="2400"/>
              </a:lnSpc>
              <a:buNone/>
            </a:pPr>
            <a:r>
              <a:rPr lang="en-US" sz="1600" b="1" dirty="0">
                <a:solidFill>
                  <a:srgbClr val="EB6834"/>
                </a:solidFill>
                <a:latin typeface="Calibri" pitchFamily="34" charset="0"/>
                <a:ea typeface="Calibri" pitchFamily="34" charset="-122"/>
                <a:cs typeface="Calibri" pitchFamily="34" charset="-120"/>
              </a:rPr>
              <a:t>0,0441 mAP</a:t>
            </a:r>
            <a:pPr indent="0" marL="0">
              <a:lnSpc>
                <a:spcPts val="2400"/>
              </a:lnSpc>
              <a:buNone/>
            </a:pPr>
            <a:r>
              <a:rPr lang="en-US" sz="1600" dirty="0">
                <a:solidFill>
                  <a:srgbClr val="FFFFFF"/>
                </a:solidFill>
                <a:latin typeface="Calibri" pitchFamily="34" charset="0"/>
                <a:ea typeface="Calibri" pitchFamily="34" charset="-122"/>
                <a:cs typeface="Calibri" pitchFamily="34" charset="-120"/>
              </a:rPr>
              <a:t>  dan model kecil YOLOv8s turun </a:t>
            </a:r>
            <a:pPr indent="0" marL="0">
              <a:lnSpc>
                <a:spcPts val="2400"/>
              </a:lnSpc>
              <a:buNone/>
            </a:pPr>
            <a:r>
              <a:rPr lang="en-US" sz="1600" b="1" dirty="0">
                <a:solidFill>
                  <a:srgbClr val="EB6834"/>
                </a:solidFill>
                <a:latin typeface="Calibri" pitchFamily="34" charset="0"/>
                <a:ea typeface="Calibri" pitchFamily="34" charset="-122"/>
                <a:cs typeface="Calibri" pitchFamily="34" charset="-120"/>
              </a:rPr>
              <a:t>0,0423 mAP</a:t>
            </a:r>
            <a:pPr indent="0" marL="0">
              <a:lnSpc>
                <a:spcPts val="2400"/>
              </a:lnSpc>
              <a:buNone/>
            </a:pPr>
            <a:r>
              <a:rPr lang="en-US" sz="1600" dirty="0">
                <a:solidFill>
                  <a:srgbClr val="FFFFFF"/>
                </a:solidFill>
                <a:latin typeface="Calibri" pitchFamily="34" charset="0"/>
                <a:ea typeface="Calibri" pitchFamily="34" charset="-122"/>
                <a:cs typeface="Calibri" pitchFamily="34" charset="-120"/>
              </a:rPr>
              <a:t> ketika pindah dari siang ke malam pada dataset BDD100K yang sama.</a:t>
            </a:r>
            <a:endParaRPr lang="en-US" sz="1600" dirty="0"/>
          </a:p>
        </p:txBody>
      </p:sp>
      <p:sp>
        <p:nvSpPr>
          <p:cNvPr id="19" name="Text 17"/>
          <p:cNvSpPr/>
          <p:nvPr/>
        </p:nvSpPr>
        <p:spPr>
          <a:xfrm>
            <a:off x="11430000" y="6355080"/>
            <a:ext cx="411480" cy="274320"/>
          </a:xfrm>
          <a:prstGeom prst="rect">
            <a:avLst/>
          </a:prstGeom>
          <a:noFill/>
          <a:ln/>
        </p:spPr>
        <p:txBody>
          <a:bodyPr wrap="square" lIns="0" tIns="0" rIns="0" bIns="0" rtlCol="0" anchor="ctr"/>
          <a:lstStyle/>
          <a:p>
            <a:pPr algn="r" indent="0" marL="0">
              <a:buNone/>
            </a:pPr>
            <a:r>
              <a:rPr lang="en-US" sz="1000" dirty="0">
                <a:solidFill>
                  <a:srgbClr val="898781"/>
                </a:solidFill>
                <a:latin typeface="Calibri" pitchFamily="34" charset="0"/>
                <a:ea typeface="Calibri" pitchFamily="34" charset="-122"/>
                <a:cs typeface="Calibri"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10896"/>
            <a:ext cx="8229600" cy="256032"/>
          </a:xfrm>
          <a:prstGeom prst="rect">
            <a:avLst/>
          </a:prstGeom>
          <a:noFill/>
          <a:ln/>
        </p:spPr>
        <p:txBody>
          <a:bodyPr wrap="square" lIns="0" tIns="0" rIns="0" bIns="0" rtlCol="0" anchor="ctr"/>
          <a:lstStyle/>
          <a:p>
            <a:pPr indent="0" marL="0">
              <a:buNone/>
            </a:pPr>
            <a:r>
              <a:rPr lang="en-US" sz="1100" b="1" spc="160" kern="0" dirty="0">
                <a:solidFill>
                  <a:srgbClr val="EB6834"/>
                </a:solidFill>
                <a:latin typeface="Calibri" pitchFamily="34" charset="0"/>
                <a:ea typeface="Calibri" pitchFamily="34" charset="-122"/>
                <a:cs typeface="Calibri" pitchFamily="34" charset="-120"/>
              </a:rPr>
              <a:t>LATAR BELAKANG</a:t>
            </a:r>
            <a:endParaRPr lang="en-US" sz="1100" dirty="0"/>
          </a:p>
        </p:txBody>
      </p:sp>
      <p:sp>
        <p:nvSpPr>
          <p:cNvPr id="3" name="Text 1"/>
          <p:cNvSpPr/>
          <p:nvPr/>
        </p:nvSpPr>
        <p:spPr>
          <a:xfrm>
            <a:off x="548640" y="566928"/>
            <a:ext cx="11064240" cy="658368"/>
          </a:xfrm>
          <a:prstGeom prst="rect">
            <a:avLst/>
          </a:prstGeom>
          <a:noFill/>
          <a:ln/>
        </p:spPr>
        <p:txBody>
          <a:bodyPr wrap="square" lIns="0" tIns="0" rIns="0" bIns="0" rtlCol="0" anchor="t"/>
          <a:lstStyle/>
          <a:p>
            <a:pPr indent="0" marL="0">
              <a:buNone/>
            </a:pPr>
            <a:r>
              <a:rPr lang="en-US" sz="3000" b="1" dirty="0">
                <a:solidFill>
                  <a:srgbClr val="0E1E3C"/>
                </a:solidFill>
                <a:latin typeface="Cambria" pitchFamily="34" charset="0"/>
                <a:ea typeface="Cambria" pitchFamily="34" charset="-122"/>
                <a:cs typeface="Cambria" pitchFamily="34" charset="-120"/>
              </a:rPr>
              <a:t>Tapi mobil tidak bisa membawa model besar</a:t>
            </a:r>
            <a:endParaRPr lang="en-US" sz="3000" dirty="0"/>
          </a:p>
        </p:txBody>
      </p:sp>
      <p:sp>
        <p:nvSpPr>
          <p:cNvPr id="4" name="Shape 2"/>
          <p:cNvSpPr/>
          <p:nvPr/>
        </p:nvSpPr>
        <p:spPr>
          <a:xfrm>
            <a:off x="594360" y="1719072"/>
            <a:ext cx="365760" cy="365760"/>
          </a:xfrm>
          <a:prstGeom prst="ellipse">
            <a:avLst/>
          </a:prstGeom>
          <a:solidFill>
            <a:srgbClr val="2A78D6"/>
          </a:solidFill>
          <a:ln w="12700">
            <a:solidFill>
              <a:srgbClr val="2A78D6"/>
            </a:solidFill>
            <a:prstDash val="solid"/>
          </a:ln>
        </p:spPr>
      </p:sp>
      <p:sp>
        <p:nvSpPr>
          <p:cNvPr id="5" name="Text 3"/>
          <p:cNvSpPr/>
          <p:nvPr/>
        </p:nvSpPr>
        <p:spPr>
          <a:xfrm>
            <a:off x="594360" y="1719072"/>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6" name="Text 4"/>
          <p:cNvSpPr/>
          <p:nvPr/>
        </p:nvSpPr>
        <p:spPr>
          <a:xfrm>
            <a:off x="1143000" y="1664208"/>
            <a:ext cx="3108960" cy="411480"/>
          </a:xfrm>
          <a:prstGeom prst="rect">
            <a:avLst/>
          </a:prstGeom>
          <a:noFill/>
          <a:ln/>
        </p:spPr>
        <p:txBody>
          <a:bodyPr wrap="square" lIns="0" tIns="0" rIns="0" bIns="0" rtlCol="0" anchor="ctr"/>
          <a:lstStyle/>
          <a:p>
            <a:pPr indent="0" marL="0">
              <a:buNone/>
            </a:pPr>
            <a:r>
              <a:rPr lang="en-US" sz="1500" b="1" dirty="0">
                <a:solidFill>
                  <a:srgbClr val="0E1E3C"/>
                </a:solidFill>
                <a:latin typeface="Cambria" pitchFamily="34" charset="0"/>
                <a:ea typeface="Cambria" pitchFamily="34" charset="-122"/>
                <a:cs typeface="Cambria" pitchFamily="34" charset="-120"/>
              </a:rPr>
              <a:t>Memori terbatas</a:t>
            </a:r>
            <a:endParaRPr lang="en-US" sz="1500" dirty="0"/>
          </a:p>
        </p:txBody>
      </p:sp>
      <p:sp>
        <p:nvSpPr>
          <p:cNvPr id="7" name="Text 5"/>
          <p:cNvSpPr/>
          <p:nvPr/>
        </p:nvSpPr>
        <p:spPr>
          <a:xfrm>
            <a:off x="4572000" y="1682496"/>
            <a:ext cx="7086600" cy="594360"/>
          </a:xfrm>
          <a:prstGeom prst="rect">
            <a:avLst/>
          </a:prstGeom>
          <a:noFill/>
          <a:ln/>
        </p:spPr>
        <p:txBody>
          <a:bodyPr wrap="square" lIns="0" tIns="0" rIns="0" bIns="0" rtlCol="0" anchor="ctr"/>
          <a:lstStyle/>
          <a:p>
            <a:pPr indent="0" marL="0">
              <a:buNone/>
            </a:pPr>
            <a:r>
              <a:rPr lang="en-US" sz="1250" dirty="0">
                <a:solidFill>
                  <a:srgbClr val="52514E"/>
                </a:solidFill>
                <a:latin typeface="Calibri" pitchFamily="34" charset="0"/>
                <a:ea typeface="Calibri" pitchFamily="34" charset="-122"/>
                <a:cs typeface="Calibri" pitchFamily="34" charset="-120"/>
              </a:rPr>
              <a:t>Jetson kelas embedded punya memori dan bandwidth yang jauh di bawah GPU server</a:t>
            </a:r>
            <a:endParaRPr lang="en-US" sz="1250" dirty="0"/>
          </a:p>
        </p:txBody>
      </p:sp>
      <p:sp>
        <p:nvSpPr>
          <p:cNvPr id="8" name="Shape 6"/>
          <p:cNvSpPr/>
          <p:nvPr/>
        </p:nvSpPr>
        <p:spPr>
          <a:xfrm>
            <a:off x="594360" y="2679192"/>
            <a:ext cx="365760" cy="365760"/>
          </a:xfrm>
          <a:prstGeom prst="ellipse">
            <a:avLst/>
          </a:prstGeom>
          <a:solidFill>
            <a:srgbClr val="2A78D6"/>
          </a:solidFill>
          <a:ln w="12700">
            <a:solidFill>
              <a:srgbClr val="2A78D6"/>
            </a:solidFill>
            <a:prstDash val="solid"/>
          </a:ln>
        </p:spPr>
      </p:sp>
      <p:sp>
        <p:nvSpPr>
          <p:cNvPr id="9" name="Text 7"/>
          <p:cNvSpPr/>
          <p:nvPr/>
        </p:nvSpPr>
        <p:spPr>
          <a:xfrm>
            <a:off x="594360" y="2679192"/>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0" name="Text 8"/>
          <p:cNvSpPr/>
          <p:nvPr/>
        </p:nvSpPr>
        <p:spPr>
          <a:xfrm>
            <a:off x="1143000" y="2624328"/>
            <a:ext cx="3108960" cy="411480"/>
          </a:xfrm>
          <a:prstGeom prst="rect">
            <a:avLst/>
          </a:prstGeom>
          <a:noFill/>
          <a:ln/>
        </p:spPr>
        <p:txBody>
          <a:bodyPr wrap="square" lIns="0" tIns="0" rIns="0" bIns="0" rtlCol="0" anchor="ctr"/>
          <a:lstStyle/>
          <a:p>
            <a:pPr indent="0" marL="0">
              <a:buNone/>
            </a:pPr>
            <a:r>
              <a:rPr lang="en-US" sz="1500" b="1" dirty="0">
                <a:solidFill>
                  <a:srgbClr val="0E1E3C"/>
                </a:solidFill>
                <a:latin typeface="Cambria" pitchFamily="34" charset="0"/>
                <a:ea typeface="Cambria" pitchFamily="34" charset="-122"/>
                <a:cs typeface="Cambria" pitchFamily="34" charset="-120"/>
              </a:rPr>
              <a:t>Latency itu jarak henti</a:t>
            </a:r>
            <a:endParaRPr lang="en-US" sz="1500" dirty="0"/>
          </a:p>
        </p:txBody>
      </p:sp>
      <p:sp>
        <p:nvSpPr>
          <p:cNvPr id="11" name="Text 9"/>
          <p:cNvSpPr/>
          <p:nvPr/>
        </p:nvSpPr>
        <p:spPr>
          <a:xfrm>
            <a:off x="4572000" y="2642616"/>
            <a:ext cx="7086600" cy="594360"/>
          </a:xfrm>
          <a:prstGeom prst="rect">
            <a:avLst/>
          </a:prstGeom>
          <a:noFill/>
          <a:ln/>
        </p:spPr>
        <p:txBody>
          <a:bodyPr wrap="square" lIns="0" tIns="0" rIns="0" bIns="0" rtlCol="0" anchor="ctr"/>
          <a:lstStyle/>
          <a:p>
            <a:pPr indent="0" marL="0">
              <a:buNone/>
            </a:pPr>
            <a:r>
              <a:rPr lang="en-US" sz="1250" dirty="0">
                <a:solidFill>
                  <a:srgbClr val="52514E"/>
                </a:solidFill>
                <a:latin typeface="Calibri" pitchFamily="34" charset="0"/>
                <a:ea typeface="Calibri" pitchFamily="34" charset="-122"/>
                <a:cs typeface="Calibri" pitchFamily="34" charset="-120"/>
              </a:rPr>
              <a:t>Pada 60 km per jam, keterlambatan 100 ms sama dengan 1,7 meter jarak tempuh</a:t>
            </a:r>
            <a:endParaRPr lang="en-US" sz="1250" dirty="0"/>
          </a:p>
        </p:txBody>
      </p:sp>
      <p:sp>
        <p:nvSpPr>
          <p:cNvPr id="12" name="Shape 10"/>
          <p:cNvSpPr/>
          <p:nvPr/>
        </p:nvSpPr>
        <p:spPr>
          <a:xfrm>
            <a:off x="594360" y="3639312"/>
            <a:ext cx="365760" cy="365760"/>
          </a:xfrm>
          <a:prstGeom prst="ellipse">
            <a:avLst/>
          </a:prstGeom>
          <a:solidFill>
            <a:srgbClr val="2A78D6"/>
          </a:solidFill>
          <a:ln w="12700">
            <a:solidFill>
              <a:srgbClr val="2A78D6"/>
            </a:solidFill>
            <a:prstDash val="solid"/>
          </a:ln>
        </p:spPr>
      </p:sp>
      <p:sp>
        <p:nvSpPr>
          <p:cNvPr id="13" name="Text 11"/>
          <p:cNvSpPr/>
          <p:nvPr/>
        </p:nvSpPr>
        <p:spPr>
          <a:xfrm>
            <a:off x="594360" y="3639312"/>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4" name="Text 12"/>
          <p:cNvSpPr/>
          <p:nvPr/>
        </p:nvSpPr>
        <p:spPr>
          <a:xfrm>
            <a:off x="1143000" y="3584448"/>
            <a:ext cx="3108960" cy="411480"/>
          </a:xfrm>
          <a:prstGeom prst="rect">
            <a:avLst/>
          </a:prstGeom>
          <a:noFill/>
          <a:ln/>
        </p:spPr>
        <p:txBody>
          <a:bodyPr wrap="square" lIns="0" tIns="0" rIns="0" bIns="0" rtlCol="0" anchor="ctr"/>
          <a:lstStyle/>
          <a:p>
            <a:pPr indent="0" marL="0">
              <a:buNone/>
            </a:pPr>
            <a:r>
              <a:rPr lang="en-US" sz="1500" b="1" dirty="0">
                <a:solidFill>
                  <a:srgbClr val="0E1E3C"/>
                </a:solidFill>
                <a:latin typeface="Cambria" pitchFamily="34" charset="0"/>
                <a:ea typeface="Cambria" pitchFamily="34" charset="-122"/>
                <a:cs typeface="Cambria" pitchFamily="34" charset="-120"/>
              </a:rPr>
              <a:t>Perception bukan satu satunya</a:t>
            </a:r>
            <a:endParaRPr lang="en-US" sz="1500" dirty="0"/>
          </a:p>
        </p:txBody>
      </p:sp>
      <p:sp>
        <p:nvSpPr>
          <p:cNvPr id="15" name="Text 13"/>
          <p:cNvSpPr/>
          <p:nvPr/>
        </p:nvSpPr>
        <p:spPr>
          <a:xfrm>
            <a:off x="4572000" y="3602736"/>
            <a:ext cx="7086600" cy="594360"/>
          </a:xfrm>
          <a:prstGeom prst="rect">
            <a:avLst/>
          </a:prstGeom>
          <a:noFill/>
          <a:ln/>
        </p:spPr>
        <p:txBody>
          <a:bodyPr wrap="square" lIns="0" tIns="0" rIns="0" bIns="0" rtlCol="0" anchor="ctr"/>
          <a:lstStyle/>
          <a:p>
            <a:pPr indent="0" marL="0">
              <a:buNone/>
            </a:pPr>
            <a:r>
              <a:rPr lang="en-US" sz="1250" dirty="0">
                <a:solidFill>
                  <a:srgbClr val="52514E"/>
                </a:solidFill>
                <a:latin typeface="Calibri" pitchFamily="34" charset="0"/>
                <a:ea typeface="Calibri" pitchFamily="34" charset="-122"/>
                <a:cs typeface="Calibri" pitchFamily="34" charset="-120"/>
              </a:rPr>
              <a:t>Detection berbagi compute dengan lane, tracking, planning, dalam satu SoC</a:t>
            </a:r>
            <a:endParaRPr lang="en-US" sz="1250" dirty="0"/>
          </a:p>
        </p:txBody>
      </p:sp>
      <p:sp>
        <p:nvSpPr>
          <p:cNvPr id="16" name="Shape 14"/>
          <p:cNvSpPr/>
          <p:nvPr/>
        </p:nvSpPr>
        <p:spPr>
          <a:xfrm>
            <a:off x="548640" y="4709160"/>
            <a:ext cx="5394960" cy="1371600"/>
          </a:xfrm>
          <a:prstGeom prst="roundRect">
            <a:avLst>
              <a:gd name="adj" fmla="val 5333"/>
            </a:avLst>
          </a:prstGeom>
          <a:solidFill>
            <a:srgbClr val="F2F4F8"/>
          </a:solidFill>
          <a:ln w="12700">
            <a:solidFill>
              <a:srgbClr val="F2F4F8"/>
            </a:solidFill>
            <a:prstDash val="solid"/>
          </a:ln>
        </p:spPr>
      </p:sp>
      <p:sp>
        <p:nvSpPr>
          <p:cNvPr id="17" name="Text 15"/>
          <p:cNvSpPr/>
          <p:nvPr/>
        </p:nvSpPr>
        <p:spPr>
          <a:xfrm>
            <a:off x="822960" y="4892040"/>
            <a:ext cx="2743200" cy="548640"/>
          </a:xfrm>
          <a:prstGeom prst="rect">
            <a:avLst/>
          </a:prstGeom>
          <a:noFill/>
          <a:ln/>
        </p:spPr>
        <p:txBody>
          <a:bodyPr wrap="square" lIns="0" tIns="0" rIns="0" bIns="0" rtlCol="0" anchor="ctr"/>
          <a:lstStyle/>
          <a:p>
            <a:pPr indent="0" marL="0">
              <a:buNone/>
            </a:pPr>
            <a:r>
              <a:rPr lang="en-US" sz="3000" b="1" dirty="0">
                <a:solidFill>
                  <a:srgbClr val="898781"/>
                </a:solidFill>
                <a:latin typeface="Cambria" pitchFamily="34" charset="0"/>
                <a:ea typeface="Cambria" pitchFamily="34" charset="-122"/>
                <a:cs typeface="Cambria" pitchFamily="34" charset="-120"/>
              </a:rPr>
              <a:t>43,7 juta</a:t>
            </a:r>
            <a:endParaRPr lang="en-US" sz="3000" dirty="0"/>
          </a:p>
        </p:txBody>
      </p:sp>
      <p:sp>
        <p:nvSpPr>
          <p:cNvPr id="18" name="Text 16"/>
          <p:cNvSpPr/>
          <p:nvPr/>
        </p:nvSpPr>
        <p:spPr>
          <a:xfrm>
            <a:off x="822960" y="5468112"/>
            <a:ext cx="4572000" cy="320040"/>
          </a:xfrm>
          <a:prstGeom prst="rect">
            <a:avLst/>
          </a:prstGeom>
          <a:noFill/>
          <a:ln/>
        </p:spPr>
        <p:txBody>
          <a:bodyPr wrap="square" lIns="0" tIns="0" rIns="0" bIns="0" rtlCol="0" anchor="ctr"/>
          <a:lstStyle/>
          <a:p>
            <a:pPr indent="0" marL="0">
              <a:buNone/>
            </a:pPr>
            <a:r>
              <a:rPr lang="en-US" sz="1250" dirty="0">
                <a:solidFill>
                  <a:srgbClr val="52514E"/>
                </a:solidFill>
                <a:latin typeface="Calibri" pitchFamily="34" charset="0"/>
                <a:ea typeface="Calibri" pitchFamily="34" charset="-122"/>
                <a:cs typeface="Calibri" pitchFamily="34" charset="-120"/>
              </a:rPr>
              <a:t>parameter YOLOv8l (teacher)</a:t>
            </a:r>
            <a:endParaRPr lang="en-US" sz="1250" dirty="0"/>
          </a:p>
        </p:txBody>
      </p:sp>
      <p:sp>
        <p:nvSpPr>
          <p:cNvPr id="19" name="Shape 17"/>
          <p:cNvSpPr/>
          <p:nvPr/>
        </p:nvSpPr>
        <p:spPr>
          <a:xfrm>
            <a:off x="6217920" y="4709160"/>
            <a:ext cx="5394960" cy="1371600"/>
          </a:xfrm>
          <a:prstGeom prst="roundRect">
            <a:avLst>
              <a:gd name="adj" fmla="val 5333"/>
            </a:avLst>
          </a:prstGeom>
          <a:solidFill>
            <a:srgbClr val="0E1E3C"/>
          </a:solidFill>
          <a:ln w="12700">
            <a:solidFill>
              <a:srgbClr val="0E1E3C"/>
            </a:solidFill>
            <a:prstDash val="solid"/>
          </a:ln>
        </p:spPr>
      </p:sp>
      <p:sp>
        <p:nvSpPr>
          <p:cNvPr id="20" name="Text 18"/>
          <p:cNvSpPr/>
          <p:nvPr/>
        </p:nvSpPr>
        <p:spPr>
          <a:xfrm>
            <a:off x="6492240" y="4892040"/>
            <a:ext cx="2743200" cy="548640"/>
          </a:xfrm>
          <a:prstGeom prst="rect">
            <a:avLst/>
          </a:prstGeom>
          <a:noFill/>
          <a:ln/>
        </p:spPr>
        <p:txBody>
          <a:bodyPr wrap="square" lIns="0" tIns="0" rIns="0" bIns="0" rtlCol="0" anchor="ctr"/>
          <a:lstStyle/>
          <a:p>
            <a:pPr indent="0" marL="0">
              <a:buNone/>
            </a:pPr>
            <a:r>
              <a:rPr lang="en-US" sz="3000" b="1" dirty="0">
                <a:solidFill>
                  <a:srgbClr val="EB6834"/>
                </a:solidFill>
                <a:latin typeface="Cambria" pitchFamily="34" charset="0"/>
                <a:ea typeface="Cambria" pitchFamily="34" charset="-122"/>
                <a:cs typeface="Cambria" pitchFamily="34" charset="-120"/>
              </a:rPr>
              <a:t>11,2 juta</a:t>
            </a:r>
            <a:endParaRPr lang="en-US" sz="3000" dirty="0"/>
          </a:p>
        </p:txBody>
      </p:sp>
      <p:sp>
        <p:nvSpPr>
          <p:cNvPr id="21" name="Text 19"/>
          <p:cNvSpPr/>
          <p:nvPr/>
        </p:nvSpPr>
        <p:spPr>
          <a:xfrm>
            <a:off x="6492240" y="5468112"/>
            <a:ext cx="4846320" cy="320040"/>
          </a:xfrm>
          <a:prstGeom prst="rect">
            <a:avLst/>
          </a:prstGeom>
          <a:noFill/>
          <a:ln/>
        </p:spPr>
        <p:txBody>
          <a:bodyPr wrap="square" lIns="0" tIns="0" rIns="0" bIns="0" rtlCol="0" anchor="ctr"/>
          <a:lstStyle/>
          <a:p>
            <a:pPr indent="0" marL="0">
              <a:buNone/>
            </a:pPr>
            <a:r>
              <a:rPr lang="en-US" sz="1250" dirty="0">
                <a:solidFill>
                  <a:srgbClr val="CADCFC"/>
                </a:solidFill>
                <a:latin typeface="Calibri" pitchFamily="34" charset="0"/>
                <a:ea typeface="Calibri" pitchFamily="34" charset="-122"/>
                <a:cs typeface="Calibri" pitchFamily="34" charset="-120"/>
              </a:rPr>
              <a:t>parameter YOLOv8s (student), 3,9 kali lebih kecil</a:t>
            </a:r>
            <a:endParaRPr lang="en-US" sz="1250" dirty="0"/>
          </a:p>
        </p:txBody>
      </p:sp>
      <p:sp>
        <p:nvSpPr>
          <p:cNvPr id="22" name="Text 20"/>
          <p:cNvSpPr/>
          <p:nvPr/>
        </p:nvSpPr>
        <p:spPr>
          <a:xfrm>
            <a:off x="11430000" y="6355080"/>
            <a:ext cx="411480" cy="274320"/>
          </a:xfrm>
          <a:prstGeom prst="rect">
            <a:avLst/>
          </a:prstGeom>
          <a:noFill/>
          <a:ln/>
        </p:spPr>
        <p:txBody>
          <a:bodyPr wrap="square" lIns="0" tIns="0" rIns="0" bIns="0" rtlCol="0" anchor="ctr"/>
          <a:lstStyle/>
          <a:p>
            <a:pPr algn="r" indent="0" marL="0">
              <a:buNone/>
            </a:pPr>
            <a:r>
              <a:rPr lang="en-US" sz="1000" dirty="0">
                <a:solidFill>
                  <a:srgbClr val="898781"/>
                </a:solidFill>
                <a:latin typeface="Calibri" pitchFamily="34" charset="0"/>
                <a:ea typeface="Calibri" pitchFamily="34" charset="-122"/>
                <a:cs typeface="Calibri"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10896"/>
            <a:ext cx="8229600" cy="256032"/>
          </a:xfrm>
          <a:prstGeom prst="rect">
            <a:avLst/>
          </a:prstGeom>
          <a:noFill/>
          <a:ln/>
        </p:spPr>
        <p:txBody>
          <a:bodyPr wrap="square" lIns="0" tIns="0" rIns="0" bIns="0" rtlCol="0" anchor="ctr"/>
          <a:lstStyle/>
          <a:p>
            <a:pPr indent="0" marL="0">
              <a:buNone/>
            </a:pPr>
            <a:r>
              <a:rPr lang="en-US" sz="1100" b="1" spc="160" kern="0" dirty="0">
                <a:solidFill>
                  <a:srgbClr val="EB6834"/>
                </a:solidFill>
                <a:latin typeface="Calibri" pitchFamily="34" charset="0"/>
                <a:ea typeface="Calibri" pitchFamily="34" charset="-122"/>
                <a:cs typeface="Calibri" pitchFamily="34" charset="-120"/>
              </a:rPr>
              <a:t>RUMUSAN MASALAH</a:t>
            </a:r>
            <a:endParaRPr lang="en-US" sz="1100" dirty="0"/>
          </a:p>
        </p:txBody>
      </p:sp>
      <p:sp>
        <p:nvSpPr>
          <p:cNvPr id="3" name="Text 1"/>
          <p:cNvSpPr/>
          <p:nvPr/>
        </p:nvSpPr>
        <p:spPr>
          <a:xfrm>
            <a:off x="548640" y="566928"/>
            <a:ext cx="11064240" cy="658368"/>
          </a:xfrm>
          <a:prstGeom prst="rect">
            <a:avLst/>
          </a:prstGeom>
          <a:noFill/>
          <a:ln/>
        </p:spPr>
        <p:txBody>
          <a:bodyPr wrap="square" lIns="0" tIns="0" rIns="0" bIns="0" rtlCol="0" anchor="t"/>
          <a:lstStyle/>
          <a:p>
            <a:pPr indent="0" marL="0">
              <a:buNone/>
            </a:pPr>
            <a:r>
              <a:rPr lang="en-US" sz="3000" b="1" dirty="0">
                <a:solidFill>
                  <a:srgbClr val="0E1E3C"/>
                </a:solidFill>
                <a:latin typeface="Cambria" pitchFamily="34" charset="0"/>
                <a:ea typeface="Cambria" pitchFamily="34" charset="-122"/>
                <a:cs typeface="Cambria" pitchFamily="34" charset="-120"/>
              </a:rPr>
              <a:t>Ini dilema intinya</a:t>
            </a:r>
            <a:endParaRPr lang="en-US" sz="3000" dirty="0"/>
          </a:p>
        </p:txBody>
      </p:sp>
      <p:sp>
        <p:nvSpPr>
          <p:cNvPr id="4" name="Text 2"/>
          <p:cNvSpPr/>
          <p:nvPr/>
        </p:nvSpPr>
        <p:spPr>
          <a:xfrm>
            <a:off x="548640" y="1508760"/>
            <a:ext cx="11064240" cy="914400"/>
          </a:xfrm>
          <a:prstGeom prst="rect">
            <a:avLst/>
          </a:prstGeom>
          <a:noFill/>
          <a:ln/>
        </p:spPr>
        <p:txBody>
          <a:bodyPr wrap="square" lIns="0" tIns="0" rIns="0" bIns="0" rtlCol="0" anchor="ctr"/>
          <a:lstStyle/>
          <a:p>
            <a:pPr indent="0" marL="0">
              <a:lnSpc>
                <a:spcPts val="3200"/>
              </a:lnSpc>
              <a:buNone/>
            </a:pPr>
            <a:r>
              <a:rPr lang="en-US" sz="2100" dirty="0">
                <a:solidFill>
                  <a:srgbClr val="0E1E3C"/>
                </a:solidFill>
                <a:latin typeface="Cambria" pitchFamily="34" charset="0"/>
                <a:ea typeface="Cambria" pitchFamily="34" charset="-122"/>
                <a:cs typeface="Cambria" pitchFamily="34" charset="-120"/>
              </a:rPr>
              <a:t>Model besar tahan gelap tapi tidak muat di kendaraan.</a:t>
            </a:r>
            <a:endParaRPr lang="en-US" sz="2100" dirty="0"/>
          </a:p>
          <a:p>
            <a:pPr indent="0" marL="0">
              <a:lnSpc>
                <a:spcPts val="3200"/>
              </a:lnSpc>
              <a:buNone/>
            </a:pPr>
            <a:r>
              <a:rPr lang="en-US" sz="2100" dirty="0">
                <a:solidFill>
                  <a:srgbClr val="0E1E3C"/>
                </a:solidFill>
                <a:latin typeface="Cambria" pitchFamily="34" charset="0"/>
                <a:ea typeface="Cambria" pitchFamily="34" charset="-122"/>
                <a:cs typeface="Cambria" pitchFamily="34" charset="-120"/>
              </a:rPr>
              <a:t>Model kecil muat di kendaraan tapi paling menderita saat gelap.</a:t>
            </a:r>
            <a:endParaRPr lang="en-US" sz="2100" dirty="0"/>
          </a:p>
        </p:txBody>
      </p:sp>
      <p:sp>
        <p:nvSpPr>
          <p:cNvPr id="5" name="Shape 3"/>
          <p:cNvSpPr/>
          <p:nvPr/>
        </p:nvSpPr>
        <p:spPr>
          <a:xfrm>
            <a:off x="548640" y="2697480"/>
            <a:ext cx="5394960" cy="2286000"/>
          </a:xfrm>
          <a:prstGeom prst="roundRect">
            <a:avLst>
              <a:gd name="adj" fmla="val 3200"/>
            </a:avLst>
          </a:prstGeom>
          <a:solidFill>
            <a:srgbClr val="F2F4F8"/>
          </a:solidFill>
          <a:ln w="12700">
            <a:solidFill>
              <a:srgbClr val="F2F4F8"/>
            </a:solidFill>
            <a:prstDash val="solid"/>
          </a:ln>
        </p:spPr>
      </p:sp>
      <p:sp>
        <p:nvSpPr>
          <p:cNvPr id="6" name="Text 4"/>
          <p:cNvSpPr/>
          <p:nvPr/>
        </p:nvSpPr>
        <p:spPr>
          <a:xfrm>
            <a:off x="868680" y="2880360"/>
            <a:ext cx="4754880" cy="365760"/>
          </a:xfrm>
          <a:prstGeom prst="rect">
            <a:avLst/>
          </a:prstGeom>
          <a:noFill/>
          <a:ln/>
        </p:spPr>
        <p:txBody>
          <a:bodyPr wrap="square" lIns="0" tIns="0" rIns="0" bIns="0" rtlCol="0" anchor="ctr"/>
          <a:lstStyle/>
          <a:p>
            <a:pPr indent="0" marL="0">
              <a:buNone/>
            </a:pPr>
            <a:r>
              <a:rPr lang="en-US" sz="1700" b="1" dirty="0">
                <a:solidFill>
                  <a:srgbClr val="0E1E3C"/>
                </a:solidFill>
                <a:latin typeface="Cambria" pitchFamily="34" charset="0"/>
                <a:ea typeface="Cambria" pitchFamily="34" charset="-122"/>
                <a:cs typeface="Cambria" pitchFamily="34" charset="-120"/>
              </a:rPr>
              <a:t>YOLOv8l teacher</a:t>
            </a:r>
            <a:endParaRPr lang="en-US" sz="1700" dirty="0"/>
          </a:p>
        </p:txBody>
      </p:sp>
      <p:sp>
        <p:nvSpPr>
          <p:cNvPr id="7" name="Text 5"/>
          <p:cNvSpPr/>
          <p:nvPr/>
        </p:nvSpPr>
        <p:spPr>
          <a:xfrm>
            <a:off x="868680" y="3246120"/>
            <a:ext cx="4754880" cy="274320"/>
          </a:xfrm>
          <a:prstGeom prst="rect">
            <a:avLst/>
          </a:prstGeom>
          <a:noFill/>
          <a:ln/>
        </p:spPr>
        <p:txBody>
          <a:bodyPr wrap="square" lIns="0" tIns="0" rIns="0" bIns="0" rtlCol="0" anchor="ctr"/>
          <a:lstStyle/>
          <a:p>
            <a:pPr indent="0" marL="0">
              <a:buNone/>
            </a:pPr>
            <a:r>
              <a:rPr lang="en-US" sz="1200" dirty="0">
                <a:solidFill>
                  <a:srgbClr val="52514E"/>
                </a:solidFill>
                <a:latin typeface="Calibri" pitchFamily="34" charset="0"/>
                <a:ea typeface="Calibri" pitchFamily="34" charset="-122"/>
                <a:cs typeface="Calibri" pitchFamily="34" charset="-120"/>
              </a:rPr>
              <a:t>43,7 juta parameter</a:t>
            </a:r>
            <a:endParaRPr lang="en-US" sz="1200" dirty="0"/>
          </a:p>
        </p:txBody>
      </p:sp>
      <p:sp>
        <p:nvSpPr>
          <p:cNvPr id="8" name="Text 6"/>
          <p:cNvSpPr/>
          <p:nvPr/>
        </p:nvSpPr>
        <p:spPr>
          <a:xfrm>
            <a:off x="868680" y="3703320"/>
            <a:ext cx="2194560" cy="256032"/>
          </a:xfrm>
          <a:prstGeom prst="rect">
            <a:avLst/>
          </a:prstGeom>
          <a:noFill/>
          <a:ln/>
        </p:spPr>
        <p:txBody>
          <a:bodyPr wrap="square" lIns="0" tIns="0" rIns="0" bIns="0" rtlCol="0" anchor="ctr"/>
          <a:lstStyle/>
          <a:p>
            <a:pPr indent="0" marL="0">
              <a:buNone/>
            </a:pPr>
            <a:r>
              <a:rPr lang="en-US" sz="1150" dirty="0">
                <a:solidFill>
                  <a:srgbClr val="52514E"/>
                </a:solidFill>
                <a:latin typeface="Calibri" pitchFamily="34" charset="0"/>
                <a:ea typeface="Calibri" pitchFamily="34" charset="-122"/>
                <a:cs typeface="Calibri" pitchFamily="34" charset="-120"/>
              </a:rPr>
              <a:t>Siang</a:t>
            </a:r>
            <a:endParaRPr lang="en-US" sz="1150" dirty="0"/>
          </a:p>
        </p:txBody>
      </p:sp>
      <p:sp>
        <p:nvSpPr>
          <p:cNvPr id="9" name="Text 7"/>
          <p:cNvSpPr/>
          <p:nvPr/>
        </p:nvSpPr>
        <p:spPr>
          <a:xfrm>
            <a:off x="868680" y="3959352"/>
            <a:ext cx="2194560" cy="502920"/>
          </a:xfrm>
          <a:prstGeom prst="rect">
            <a:avLst/>
          </a:prstGeom>
          <a:noFill/>
          <a:ln/>
        </p:spPr>
        <p:txBody>
          <a:bodyPr wrap="square" lIns="0" tIns="0" rIns="0" bIns="0" rtlCol="0" anchor="ctr"/>
          <a:lstStyle/>
          <a:p>
            <a:pPr indent="0" marL="0">
              <a:buNone/>
            </a:pPr>
            <a:r>
              <a:rPr lang="en-US" sz="2600" b="1" dirty="0">
                <a:solidFill>
                  <a:srgbClr val="0E1E3C"/>
                </a:solidFill>
                <a:latin typeface="Cambria" pitchFamily="34" charset="0"/>
                <a:ea typeface="Cambria" pitchFamily="34" charset="-122"/>
                <a:cs typeface="Cambria" pitchFamily="34" charset="-120"/>
              </a:rPr>
              <a:t>0,5597</a:t>
            </a:r>
            <a:endParaRPr lang="en-US" sz="2600" dirty="0"/>
          </a:p>
        </p:txBody>
      </p:sp>
      <p:sp>
        <p:nvSpPr>
          <p:cNvPr id="10" name="Text 8"/>
          <p:cNvSpPr/>
          <p:nvPr/>
        </p:nvSpPr>
        <p:spPr>
          <a:xfrm>
            <a:off x="3291840" y="3703320"/>
            <a:ext cx="2194560" cy="256032"/>
          </a:xfrm>
          <a:prstGeom prst="rect">
            <a:avLst/>
          </a:prstGeom>
          <a:noFill/>
          <a:ln/>
        </p:spPr>
        <p:txBody>
          <a:bodyPr wrap="square" lIns="0" tIns="0" rIns="0" bIns="0" rtlCol="0" anchor="ctr"/>
          <a:lstStyle/>
          <a:p>
            <a:pPr indent="0" marL="0">
              <a:buNone/>
            </a:pPr>
            <a:r>
              <a:rPr lang="en-US" sz="1150" dirty="0">
                <a:solidFill>
                  <a:srgbClr val="52514E"/>
                </a:solidFill>
                <a:latin typeface="Calibri" pitchFamily="34" charset="0"/>
                <a:ea typeface="Calibri" pitchFamily="34" charset="-122"/>
                <a:cs typeface="Calibri" pitchFamily="34" charset="-120"/>
              </a:rPr>
              <a:t>Malam</a:t>
            </a:r>
            <a:endParaRPr lang="en-US" sz="1150" dirty="0"/>
          </a:p>
        </p:txBody>
      </p:sp>
      <p:sp>
        <p:nvSpPr>
          <p:cNvPr id="11" name="Text 9"/>
          <p:cNvSpPr/>
          <p:nvPr/>
        </p:nvSpPr>
        <p:spPr>
          <a:xfrm>
            <a:off x="3291840" y="3959352"/>
            <a:ext cx="2194560" cy="502920"/>
          </a:xfrm>
          <a:prstGeom prst="rect">
            <a:avLst/>
          </a:prstGeom>
          <a:noFill/>
          <a:ln/>
        </p:spPr>
        <p:txBody>
          <a:bodyPr wrap="square" lIns="0" tIns="0" rIns="0" bIns="0" rtlCol="0" anchor="ctr"/>
          <a:lstStyle/>
          <a:p>
            <a:pPr indent="0" marL="0">
              <a:buNone/>
            </a:pPr>
            <a:r>
              <a:rPr lang="en-US" sz="2600" b="1" dirty="0">
                <a:solidFill>
                  <a:srgbClr val="0E1E3C"/>
                </a:solidFill>
                <a:latin typeface="Cambria" pitchFamily="34" charset="0"/>
                <a:ea typeface="Cambria" pitchFamily="34" charset="-122"/>
                <a:cs typeface="Cambria" pitchFamily="34" charset="-120"/>
              </a:rPr>
              <a:t>0,5156</a:t>
            </a:r>
            <a:endParaRPr lang="en-US" sz="2600" dirty="0"/>
          </a:p>
        </p:txBody>
      </p:sp>
      <p:sp>
        <p:nvSpPr>
          <p:cNvPr id="12" name="Text 10"/>
          <p:cNvSpPr/>
          <p:nvPr/>
        </p:nvSpPr>
        <p:spPr>
          <a:xfrm>
            <a:off x="868680" y="4526280"/>
            <a:ext cx="4754880" cy="320040"/>
          </a:xfrm>
          <a:prstGeom prst="rect">
            <a:avLst/>
          </a:prstGeom>
          <a:noFill/>
          <a:ln/>
        </p:spPr>
        <p:txBody>
          <a:bodyPr wrap="square" lIns="0" tIns="0" rIns="0" bIns="0" rtlCol="0" anchor="ctr"/>
          <a:lstStyle/>
          <a:p>
            <a:pPr indent="0" marL="0">
              <a:buNone/>
            </a:pPr>
            <a:r>
              <a:rPr lang="en-US" sz="1350" b="1" dirty="0">
                <a:solidFill>
                  <a:srgbClr val="52514E"/>
                </a:solidFill>
                <a:latin typeface="Calibri" pitchFamily="34" charset="0"/>
                <a:ea typeface="Calibri" pitchFamily="34" charset="-122"/>
                <a:cs typeface="Calibri" pitchFamily="34" charset="-120"/>
              </a:rPr>
              <a:t>Gap siang ke malam 0,0441</a:t>
            </a:r>
            <a:endParaRPr lang="en-US" sz="1350" dirty="0"/>
          </a:p>
        </p:txBody>
      </p:sp>
      <p:sp>
        <p:nvSpPr>
          <p:cNvPr id="13" name="Shape 11"/>
          <p:cNvSpPr/>
          <p:nvPr/>
        </p:nvSpPr>
        <p:spPr>
          <a:xfrm>
            <a:off x="6309360" y="2697480"/>
            <a:ext cx="5394960" cy="2286000"/>
          </a:xfrm>
          <a:prstGeom prst="roundRect">
            <a:avLst>
              <a:gd name="adj" fmla="val 3200"/>
            </a:avLst>
          </a:prstGeom>
          <a:solidFill>
            <a:srgbClr val="0E1E3C"/>
          </a:solidFill>
          <a:ln w="12700">
            <a:solidFill>
              <a:srgbClr val="0E1E3C"/>
            </a:solidFill>
            <a:prstDash val="solid"/>
          </a:ln>
        </p:spPr>
      </p:sp>
      <p:sp>
        <p:nvSpPr>
          <p:cNvPr id="14" name="Text 12"/>
          <p:cNvSpPr/>
          <p:nvPr/>
        </p:nvSpPr>
        <p:spPr>
          <a:xfrm>
            <a:off x="6629400" y="2880360"/>
            <a:ext cx="4754880" cy="365760"/>
          </a:xfrm>
          <a:prstGeom prst="rect">
            <a:avLst/>
          </a:prstGeom>
          <a:noFill/>
          <a:ln/>
        </p:spPr>
        <p:txBody>
          <a:bodyPr wrap="square" lIns="0" tIns="0" rIns="0" bIns="0" rtlCol="0" anchor="ctr"/>
          <a:lstStyle/>
          <a:p>
            <a:pPr indent="0" marL="0">
              <a:buNone/>
            </a:pPr>
            <a:r>
              <a:rPr lang="en-US" sz="1700" b="1" dirty="0">
                <a:solidFill>
                  <a:srgbClr val="FFFFFF"/>
                </a:solidFill>
                <a:latin typeface="Cambria" pitchFamily="34" charset="0"/>
                <a:ea typeface="Cambria" pitchFamily="34" charset="-122"/>
                <a:cs typeface="Cambria" pitchFamily="34" charset="-120"/>
              </a:rPr>
              <a:t>YOLOv8s baseline</a:t>
            </a:r>
            <a:endParaRPr lang="en-US" sz="1700" dirty="0"/>
          </a:p>
        </p:txBody>
      </p:sp>
      <p:sp>
        <p:nvSpPr>
          <p:cNvPr id="15" name="Text 13"/>
          <p:cNvSpPr/>
          <p:nvPr/>
        </p:nvSpPr>
        <p:spPr>
          <a:xfrm>
            <a:off x="6629400" y="3246120"/>
            <a:ext cx="4754880" cy="274320"/>
          </a:xfrm>
          <a:prstGeom prst="rect">
            <a:avLst/>
          </a:prstGeom>
          <a:noFill/>
          <a:ln/>
        </p:spPr>
        <p:txBody>
          <a:bodyPr wrap="square" lIns="0" tIns="0" rIns="0" bIns="0" rtlCol="0" anchor="ctr"/>
          <a:lstStyle/>
          <a:p>
            <a:pPr indent="0" marL="0">
              <a:buNone/>
            </a:pPr>
            <a:r>
              <a:rPr lang="en-US" sz="1200" dirty="0">
                <a:solidFill>
                  <a:srgbClr val="CADCFC"/>
                </a:solidFill>
                <a:latin typeface="Calibri" pitchFamily="34" charset="0"/>
                <a:ea typeface="Calibri" pitchFamily="34" charset="-122"/>
                <a:cs typeface="Calibri" pitchFamily="34" charset="-120"/>
              </a:rPr>
              <a:t>11,2 juta parameter</a:t>
            </a:r>
            <a:endParaRPr lang="en-US" sz="1200" dirty="0"/>
          </a:p>
        </p:txBody>
      </p:sp>
      <p:sp>
        <p:nvSpPr>
          <p:cNvPr id="16" name="Text 14"/>
          <p:cNvSpPr/>
          <p:nvPr/>
        </p:nvSpPr>
        <p:spPr>
          <a:xfrm>
            <a:off x="6629400" y="3703320"/>
            <a:ext cx="2194560" cy="256032"/>
          </a:xfrm>
          <a:prstGeom prst="rect">
            <a:avLst/>
          </a:prstGeom>
          <a:noFill/>
          <a:ln/>
        </p:spPr>
        <p:txBody>
          <a:bodyPr wrap="square" lIns="0" tIns="0" rIns="0" bIns="0" rtlCol="0" anchor="ctr"/>
          <a:lstStyle/>
          <a:p>
            <a:pPr indent="0" marL="0">
              <a:buNone/>
            </a:pPr>
            <a:r>
              <a:rPr lang="en-US" sz="1150" dirty="0">
                <a:solidFill>
                  <a:srgbClr val="CADCFC"/>
                </a:solidFill>
                <a:latin typeface="Calibri" pitchFamily="34" charset="0"/>
                <a:ea typeface="Calibri" pitchFamily="34" charset="-122"/>
                <a:cs typeface="Calibri" pitchFamily="34" charset="-120"/>
              </a:rPr>
              <a:t>Siang</a:t>
            </a:r>
            <a:endParaRPr lang="en-US" sz="1150" dirty="0"/>
          </a:p>
        </p:txBody>
      </p:sp>
      <p:sp>
        <p:nvSpPr>
          <p:cNvPr id="17" name="Text 15"/>
          <p:cNvSpPr/>
          <p:nvPr/>
        </p:nvSpPr>
        <p:spPr>
          <a:xfrm>
            <a:off x="6629400" y="3959352"/>
            <a:ext cx="2194560" cy="502920"/>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0,4893</a:t>
            </a:r>
            <a:endParaRPr lang="en-US" sz="2600" dirty="0"/>
          </a:p>
        </p:txBody>
      </p:sp>
      <p:sp>
        <p:nvSpPr>
          <p:cNvPr id="18" name="Text 16"/>
          <p:cNvSpPr/>
          <p:nvPr/>
        </p:nvSpPr>
        <p:spPr>
          <a:xfrm>
            <a:off x="9052560" y="3703320"/>
            <a:ext cx="2194560" cy="256032"/>
          </a:xfrm>
          <a:prstGeom prst="rect">
            <a:avLst/>
          </a:prstGeom>
          <a:noFill/>
          <a:ln/>
        </p:spPr>
        <p:txBody>
          <a:bodyPr wrap="square" lIns="0" tIns="0" rIns="0" bIns="0" rtlCol="0" anchor="ctr"/>
          <a:lstStyle/>
          <a:p>
            <a:pPr indent="0" marL="0">
              <a:buNone/>
            </a:pPr>
            <a:r>
              <a:rPr lang="en-US" sz="1150" dirty="0">
                <a:solidFill>
                  <a:srgbClr val="CADCFC"/>
                </a:solidFill>
                <a:latin typeface="Calibri" pitchFamily="34" charset="0"/>
                <a:ea typeface="Calibri" pitchFamily="34" charset="-122"/>
                <a:cs typeface="Calibri" pitchFamily="34" charset="-120"/>
              </a:rPr>
              <a:t>Malam</a:t>
            </a:r>
            <a:endParaRPr lang="en-US" sz="1150" dirty="0"/>
          </a:p>
        </p:txBody>
      </p:sp>
      <p:sp>
        <p:nvSpPr>
          <p:cNvPr id="19" name="Text 17"/>
          <p:cNvSpPr/>
          <p:nvPr/>
        </p:nvSpPr>
        <p:spPr>
          <a:xfrm>
            <a:off x="9052560" y="3959352"/>
            <a:ext cx="2194560" cy="502920"/>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0,4470</a:t>
            </a:r>
            <a:endParaRPr lang="en-US" sz="2600" dirty="0"/>
          </a:p>
        </p:txBody>
      </p:sp>
      <p:sp>
        <p:nvSpPr>
          <p:cNvPr id="20" name="Text 18"/>
          <p:cNvSpPr/>
          <p:nvPr/>
        </p:nvSpPr>
        <p:spPr>
          <a:xfrm>
            <a:off x="6629400" y="4526280"/>
            <a:ext cx="4754880" cy="320040"/>
          </a:xfrm>
          <a:prstGeom prst="rect">
            <a:avLst/>
          </a:prstGeom>
          <a:noFill/>
          <a:ln/>
        </p:spPr>
        <p:txBody>
          <a:bodyPr wrap="square" lIns="0" tIns="0" rIns="0" bIns="0" rtlCol="0" anchor="ctr"/>
          <a:lstStyle/>
          <a:p>
            <a:pPr indent="0" marL="0">
              <a:buNone/>
            </a:pPr>
            <a:r>
              <a:rPr lang="en-US" sz="1350" b="1" dirty="0">
                <a:solidFill>
                  <a:srgbClr val="EB6834"/>
                </a:solidFill>
                <a:latin typeface="Calibri" pitchFamily="34" charset="0"/>
                <a:ea typeface="Calibri" pitchFamily="34" charset="-122"/>
                <a:cs typeface="Calibri" pitchFamily="34" charset="-120"/>
              </a:rPr>
              <a:t>Gap siang ke malam 0,0423</a:t>
            </a:r>
            <a:endParaRPr lang="en-US" sz="1350" dirty="0"/>
          </a:p>
        </p:txBody>
      </p:sp>
      <p:sp>
        <p:nvSpPr>
          <p:cNvPr id="21" name="Text 19"/>
          <p:cNvSpPr/>
          <p:nvPr/>
        </p:nvSpPr>
        <p:spPr>
          <a:xfrm>
            <a:off x="548640" y="5230368"/>
            <a:ext cx="11064240" cy="731520"/>
          </a:xfrm>
          <a:prstGeom prst="rect">
            <a:avLst/>
          </a:prstGeom>
          <a:noFill/>
          <a:ln/>
        </p:spPr>
        <p:txBody>
          <a:bodyPr wrap="square" lIns="0" tIns="0" rIns="0" bIns="0" rtlCol="0" anchor="ctr"/>
          <a:lstStyle/>
          <a:p>
            <a:pPr indent="0" marL="0">
              <a:buNone/>
            </a:pPr>
            <a:r>
              <a:rPr lang="en-US" sz="1500" i="1" dirty="0">
                <a:solidFill>
                  <a:srgbClr val="0E1E3C"/>
                </a:solidFill>
                <a:latin typeface="Calibri" pitchFamily="34" charset="0"/>
                <a:ea typeface="Calibri" pitchFamily="34" charset="-122"/>
                <a:cs typeface="Calibri" pitchFamily="34" charset="-120"/>
              </a:rPr>
              <a:t>Pertanyaannya: bisakah model kecil diajari supaya tidak jatuh sedalam itu saat gelap, tanpa menambah satu pun operasi saat inference?</a:t>
            </a:r>
            <a:endParaRPr lang="en-US" sz="1500" dirty="0"/>
          </a:p>
        </p:txBody>
      </p:sp>
      <p:sp>
        <p:nvSpPr>
          <p:cNvPr id="22" name="Text 20"/>
          <p:cNvSpPr/>
          <p:nvPr/>
        </p:nvSpPr>
        <p:spPr>
          <a:xfrm>
            <a:off x="11430000" y="6355080"/>
            <a:ext cx="411480" cy="274320"/>
          </a:xfrm>
          <a:prstGeom prst="rect">
            <a:avLst/>
          </a:prstGeom>
          <a:noFill/>
          <a:ln/>
        </p:spPr>
        <p:txBody>
          <a:bodyPr wrap="square" lIns="0" tIns="0" rIns="0" bIns="0" rtlCol="0" anchor="ctr"/>
          <a:lstStyle/>
          <a:p>
            <a:pPr algn="r" indent="0" marL="0">
              <a:buNone/>
            </a:pPr>
            <a:r>
              <a:rPr lang="en-US" sz="1000" dirty="0">
                <a:solidFill>
                  <a:srgbClr val="898781"/>
                </a:solidFill>
                <a:latin typeface="Calibri" pitchFamily="34" charset="0"/>
                <a:ea typeface="Calibri" pitchFamily="34" charset="-122"/>
                <a:cs typeface="Calibri"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10896"/>
            <a:ext cx="8229600" cy="256032"/>
          </a:xfrm>
          <a:prstGeom prst="rect">
            <a:avLst/>
          </a:prstGeom>
          <a:noFill/>
          <a:ln/>
        </p:spPr>
        <p:txBody>
          <a:bodyPr wrap="square" lIns="0" tIns="0" rIns="0" bIns="0" rtlCol="0" anchor="ctr"/>
          <a:lstStyle/>
          <a:p>
            <a:pPr indent="0" marL="0">
              <a:buNone/>
            </a:pPr>
            <a:r>
              <a:rPr lang="en-US" sz="1100" b="1" spc="160" kern="0" dirty="0">
                <a:solidFill>
                  <a:srgbClr val="EB6834"/>
                </a:solidFill>
                <a:latin typeface="Calibri" pitchFamily="34" charset="0"/>
                <a:ea typeface="Calibri" pitchFamily="34" charset="-122"/>
                <a:cs typeface="Calibri" pitchFamily="34" charset="-120"/>
              </a:rPr>
              <a:t>RELATED WORK</a:t>
            </a:r>
            <a:endParaRPr lang="en-US" sz="1100" dirty="0"/>
          </a:p>
        </p:txBody>
      </p:sp>
      <p:sp>
        <p:nvSpPr>
          <p:cNvPr id="3" name="Text 1"/>
          <p:cNvSpPr/>
          <p:nvPr/>
        </p:nvSpPr>
        <p:spPr>
          <a:xfrm>
            <a:off x="548640" y="566928"/>
            <a:ext cx="11064240" cy="658368"/>
          </a:xfrm>
          <a:prstGeom prst="rect">
            <a:avLst/>
          </a:prstGeom>
          <a:noFill/>
          <a:ln/>
        </p:spPr>
        <p:txBody>
          <a:bodyPr wrap="square" lIns="0" tIns="0" rIns="0" bIns="0" rtlCol="0" anchor="t"/>
          <a:lstStyle/>
          <a:p>
            <a:pPr indent="0" marL="0">
              <a:buNone/>
            </a:pPr>
            <a:r>
              <a:rPr lang="en-US" sz="3000" b="1" dirty="0">
                <a:solidFill>
                  <a:srgbClr val="0E1E3C"/>
                </a:solidFill>
                <a:latin typeface="Cambria" pitchFamily="34" charset="0"/>
                <a:ea typeface="Cambria" pitchFamily="34" charset="-122"/>
                <a:cs typeface="Cambria" pitchFamily="34" charset="-120"/>
              </a:rPr>
              <a:t>Pendekatan yang sudah ada dan keterbatasannya</a:t>
            </a:r>
            <a:endParaRPr lang="en-US" sz="3000" dirty="0"/>
          </a:p>
        </p:txBody>
      </p:sp>
      <p:sp>
        <p:nvSpPr>
          <p:cNvPr id="4" name="Shape 2"/>
          <p:cNvSpPr/>
          <p:nvPr/>
        </p:nvSpPr>
        <p:spPr>
          <a:xfrm>
            <a:off x="548640" y="1600200"/>
            <a:ext cx="3520440" cy="3200400"/>
          </a:xfrm>
          <a:prstGeom prst="roundRect">
            <a:avLst>
              <a:gd name="adj" fmla="val 2286"/>
            </a:avLst>
          </a:prstGeom>
          <a:solidFill>
            <a:srgbClr val="F2F4F8"/>
          </a:solidFill>
          <a:ln w="12700">
            <a:solidFill>
              <a:srgbClr val="F2F4F8"/>
            </a:solidFill>
            <a:prstDash val="solid"/>
          </a:ln>
        </p:spPr>
      </p:sp>
      <p:sp>
        <p:nvSpPr>
          <p:cNvPr id="5" name="Text 3"/>
          <p:cNvSpPr/>
          <p:nvPr/>
        </p:nvSpPr>
        <p:spPr>
          <a:xfrm>
            <a:off x="822960" y="1810512"/>
            <a:ext cx="3017520" cy="365760"/>
          </a:xfrm>
          <a:prstGeom prst="rect">
            <a:avLst/>
          </a:prstGeom>
          <a:noFill/>
          <a:ln/>
        </p:spPr>
        <p:txBody>
          <a:bodyPr wrap="square" lIns="0" tIns="0" rIns="0" bIns="0" rtlCol="0" anchor="ctr"/>
          <a:lstStyle/>
          <a:p>
            <a:pPr indent="0" marL="0">
              <a:buNone/>
            </a:pPr>
            <a:r>
              <a:rPr lang="en-US" sz="1600" b="1" dirty="0">
                <a:solidFill>
                  <a:srgbClr val="0E1E3C"/>
                </a:solidFill>
                <a:latin typeface="Cambria" pitchFamily="34" charset="0"/>
                <a:ea typeface="Cambria" pitchFamily="34" charset="-122"/>
                <a:cs typeface="Cambria" pitchFamily="34" charset="-120"/>
              </a:rPr>
              <a:t>Image enhancement</a:t>
            </a:r>
            <a:endParaRPr lang="en-US" sz="1600" dirty="0"/>
          </a:p>
        </p:txBody>
      </p:sp>
      <p:sp>
        <p:nvSpPr>
          <p:cNvPr id="6" name="Text 4"/>
          <p:cNvSpPr/>
          <p:nvPr/>
        </p:nvSpPr>
        <p:spPr>
          <a:xfrm>
            <a:off x="822960" y="2212848"/>
            <a:ext cx="3017520" cy="822960"/>
          </a:xfrm>
          <a:prstGeom prst="rect">
            <a:avLst/>
          </a:prstGeom>
          <a:noFill/>
          <a:ln/>
        </p:spPr>
        <p:txBody>
          <a:bodyPr wrap="square" lIns="0" tIns="0" rIns="0" bIns="0" rtlCol="0" anchor="ctr"/>
          <a:lstStyle/>
          <a:p>
            <a:pPr indent="0" marL="0">
              <a:buNone/>
            </a:pPr>
            <a:r>
              <a:rPr lang="en-US" sz="1200" dirty="0">
                <a:solidFill>
                  <a:srgbClr val="52514E"/>
                </a:solidFill>
                <a:latin typeface="Calibri" pitchFamily="34" charset="0"/>
                <a:ea typeface="Calibri" pitchFamily="34" charset="-122"/>
                <a:cs typeface="Calibri" pitchFamily="34" charset="-120"/>
              </a:rPr>
              <a:t>LIME, SID, low light enhancement network sebelum detektor</a:t>
            </a:r>
            <a:endParaRPr lang="en-US" sz="1200" dirty="0"/>
          </a:p>
        </p:txBody>
      </p:sp>
      <p:sp>
        <p:nvSpPr>
          <p:cNvPr id="7" name="Shape 5"/>
          <p:cNvSpPr/>
          <p:nvPr/>
        </p:nvSpPr>
        <p:spPr>
          <a:xfrm>
            <a:off x="822960" y="3063240"/>
            <a:ext cx="2971800" cy="0"/>
          </a:xfrm>
          <a:prstGeom prst="line">
            <a:avLst/>
          </a:prstGeom>
          <a:noFill/>
          <a:ln w="12700">
            <a:solidFill>
              <a:srgbClr val="D8DCE4"/>
            </a:solidFill>
            <a:prstDash val="solid"/>
          </a:ln>
        </p:spPr>
      </p:sp>
      <p:sp>
        <p:nvSpPr>
          <p:cNvPr id="8" name="Text 6"/>
          <p:cNvSpPr/>
          <p:nvPr/>
        </p:nvSpPr>
        <p:spPr>
          <a:xfrm>
            <a:off x="822960" y="3154680"/>
            <a:ext cx="3017520" cy="274320"/>
          </a:xfrm>
          <a:prstGeom prst="rect">
            <a:avLst/>
          </a:prstGeom>
          <a:noFill/>
          <a:ln/>
        </p:spPr>
        <p:txBody>
          <a:bodyPr wrap="square" lIns="0" tIns="0" rIns="0" bIns="0" rtlCol="0" anchor="ctr"/>
          <a:lstStyle/>
          <a:p>
            <a:pPr indent="0" marL="0">
              <a:buNone/>
            </a:pPr>
            <a:r>
              <a:rPr lang="en-US" sz="1100" b="1" spc="100" kern="0" dirty="0">
                <a:solidFill>
                  <a:srgbClr val="EB6834"/>
                </a:solidFill>
                <a:latin typeface="Calibri" pitchFamily="34" charset="0"/>
                <a:ea typeface="Calibri" pitchFamily="34" charset="-122"/>
                <a:cs typeface="Calibri" pitchFamily="34" charset="-120"/>
              </a:rPr>
              <a:t>Kekurangan</a:t>
            </a:r>
            <a:endParaRPr lang="en-US" sz="1100" dirty="0"/>
          </a:p>
        </p:txBody>
      </p:sp>
      <p:sp>
        <p:nvSpPr>
          <p:cNvPr id="9" name="Text 7"/>
          <p:cNvSpPr/>
          <p:nvPr/>
        </p:nvSpPr>
        <p:spPr>
          <a:xfrm>
            <a:off x="822960" y="3456432"/>
            <a:ext cx="3017520" cy="1188720"/>
          </a:xfrm>
          <a:prstGeom prst="rect">
            <a:avLst/>
          </a:prstGeom>
          <a:noFill/>
          <a:ln/>
        </p:spPr>
        <p:txBody>
          <a:bodyPr wrap="square" lIns="0" tIns="0" rIns="0" bIns="0" rtlCol="0" anchor="ctr"/>
          <a:lstStyle/>
          <a:p>
            <a:pPr indent="0" marL="0">
              <a:buNone/>
            </a:pPr>
            <a:r>
              <a:rPr lang="en-US" sz="1200" dirty="0">
                <a:solidFill>
                  <a:srgbClr val="52514E"/>
                </a:solidFill>
                <a:latin typeface="Calibri" pitchFamily="34" charset="0"/>
                <a:ea typeface="Calibri" pitchFamily="34" charset="-122"/>
                <a:cs typeface="Calibri" pitchFamily="34" charset="-120"/>
              </a:rPr>
              <a:t>Menambah jaringan baru di depan detektor, latency naik, dan sering menimbulkan domain mismatch baru</a:t>
            </a:r>
            <a:endParaRPr lang="en-US" sz="1200" dirty="0"/>
          </a:p>
        </p:txBody>
      </p:sp>
      <p:sp>
        <p:nvSpPr>
          <p:cNvPr id="10" name="Shape 8"/>
          <p:cNvSpPr/>
          <p:nvPr/>
        </p:nvSpPr>
        <p:spPr>
          <a:xfrm>
            <a:off x="4343400" y="1600200"/>
            <a:ext cx="3520440" cy="3200400"/>
          </a:xfrm>
          <a:prstGeom prst="roundRect">
            <a:avLst>
              <a:gd name="adj" fmla="val 2286"/>
            </a:avLst>
          </a:prstGeom>
          <a:solidFill>
            <a:srgbClr val="F2F4F8"/>
          </a:solidFill>
          <a:ln w="12700">
            <a:solidFill>
              <a:srgbClr val="F2F4F8"/>
            </a:solidFill>
            <a:prstDash val="solid"/>
          </a:ln>
        </p:spPr>
      </p:sp>
      <p:sp>
        <p:nvSpPr>
          <p:cNvPr id="11" name="Text 9"/>
          <p:cNvSpPr/>
          <p:nvPr/>
        </p:nvSpPr>
        <p:spPr>
          <a:xfrm>
            <a:off x="4617720" y="1810512"/>
            <a:ext cx="3017520" cy="365760"/>
          </a:xfrm>
          <a:prstGeom prst="rect">
            <a:avLst/>
          </a:prstGeom>
          <a:noFill/>
          <a:ln/>
        </p:spPr>
        <p:txBody>
          <a:bodyPr wrap="square" lIns="0" tIns="0" rIns="0" bIns="0" rtlCol="0" anchor="ctr"/>
          <a:lstStyle/>
          <a:p>
            <a:pPr indent="0" marL="0">
              <a:buNone/>
            </a:pPr>
            <a:r>
              <a:rPr lang="en-US" sz="1600" b="1" dirty="0">
                <a:solidFill>
                  <a:srgbClr val="0E1E3C"/>
                </a:solidFill>
                <a:latin typeface="Cambria" pitchFamily="34" charset="0"/>
                <a:ea typeface="Cambria" pitchFamily="34" charset="-122"/>
                <a:cs typeface="Cambria" pitchFamily="34" charset="-120"/>
              </a:rPr>
              <a:t>Domain adaptation</a:t>
            </a:r>
            <a:endParaRPr lang="en-US" sz="1600" dirty="0"/>
          </a:p>
        </p:txBody>
      </p:sp>
      <p:sp>
        <p:nvSpPr>
          <p:cNvPr id="12" name="Text 10"/>
          <p:cNvSpPr/>
          <p:nvPr/>
        </p:nvSpPr>
        <p:spPr>
          <a:xfrm>
            <a:off x="4617720" y="2212848"/>
            <a:ext cx="3017520" cy="822960"/>
          </a:xfrm>
          <a:prstGeom prst="rect">
            <a:avLst/>
          </a:prstGeom>
          <a:noFill/>
          <a:ln/>
        </p:spPr>
        <p:txBody>
          <a:bodyPr wrap="square" lIns="0" tIns="0" rIns="0" bIns="0" rtlCol="0" anchor="ctr"/>
          <a:lstStyle/>
          <a:p>
            <a:pPr indent="0" marL="0">
              <a:buNone/>
            </a:pPr>
            <a:r>
              <a:rPr lang="en-US" sz="1200" dirty="0">
                <a:solidFill>
                  <a:srgbClr val="52514E"/>
                </a:solidFill>
                <a:latin typeface="Calibri" pitchFamily="34" charset="0"/>
                <a:ea typeface="Calibri" pitchFamily="34" charset="-122"/>
                <a:cs typeface="Calibri" pitchFamily="34" charset="-120"/>
              </a:rPr>
              <a:t>GAN atau UDA untuk memetakan malam ke siang, contoh RMD-Net, NUDN</a:t>
            </a:r>
            <a:endParaRPr lang="en-US" sz="1200" dirty="0"/>
          </a:p>
        </p:txBody>
      </p:sp>
      <p:sp>
        <p:nvSpPr>
          <p:cNvPr id="13" name="Shape 11"/>
          <p:cNvSpPr/>
          <p:nvPr/>
        </p:nvSpPr>
        <p:spPr>
          <a:xfrm>
            <a:off x="4617720" y="3063240"/>
            <a:ext cx="2971800" cy="0"/>
          </a:xfrm>
          <a:prstGeom prst="line">
            <a:avLst/>
          </a:prstGeom>
          <a:noFill/>
          <a:ln w="12700">
            <a:solidFill>
              <a:srgbClr val="D8DCE4"/>
            </a:solidFill>
            <a:prstDash val="solid"/>
          </a:ln>
        </p:spPr>
      </p:sp>
      <p:sp>
        <p:nvSpPr>
          <p:cNvPr id="14" name="Text 12"/>
          <p:cNvSpPr/>
          <p:nvPr/>
        </p:nvSpPr>
        <p:spPr>
          <a:xfrm>
            <a:off x="4617720" y="3154680"/>
            <a:ext cx="3017520" cy="274320"/>
          </a:xfrm>
          <a:prstGeom prst="rect">
            <a:avLst/>
          </a:prstGeom>
          <a:noFill/>
          <a:ln/>
        </p:spPr>
        <p:txBody>
          <a:bodyPr wrap="square" lIns="0" tIns="0" rIns="0" bIns="0" rtlCol="0" anchor="ctr"/>
          <a:lstStyle/>
          <a:p>
            <a:pPr indent="0" marL="0">
              <a:buNone/>
            </a:pPr>
            <a:r>
              <a:rPr lang="en-US" sz="1100" b="1" spc="100" kern="0" dirty="0">
                <a:solidFill>
                  <a:srgbClr val="EB6834"/>
                </a:solidFill>
                <a:latin typeface="Calibri" pitchFamily="34" charset="0"/>
                <a:ea typeface="Calibri" pitchFamily="34" charset="-122"/>
                <a:cs typeface="Calibri" pitchFamily="34" charset="-120"/>
              </a:rPr>
              <a:t>Kekurangan</a:t>
            </a:r>
            <a:endParaRPr lang="en-US" sz="1100" dirty="0"/>
          </a:p>
        </p:txBody>
      </p:sp>
      <p:sp>
        <p:nvSpPr>
          <p:cNvPr id="15" name="Text 13"/>
          <p:cNvSpPr/>
          <p:nvPr/>
        </p:nvSpPr>
        <p:spPr>
          <a:xfrm>
            <a:off x="4617720" y="3456432"/>
            <a:ext cx="3017520" cy="1188720"/>
          </a:xfrm>
          <a:prstGeom prst="rect">
            <a:avLst/>
          </a:prstGeom>
          <a:noFill/>
          <a:ln/>
        </p:spPr>
        <p:txBody>
          <a:bodyPr wrap="square" lIns="0" tIns="0" rIns="0" bIns="0" rtlCol="0" anchor="ctr"/>
          <a:lstStyle/>
          <a:p>
            <a:pPr indent="0" marL="0">
              <a:buNone/>
            </a:pPr>
            <a:r>
              <a:rPr lang="en-US" sz="1200" dirty="0">
                <a:solidFill>
                  <a:srgbClr val="52514E"/>
                </a:solidFill>
                <a:latin typeface="Calibri" pitchFamily="34" charset="0"/>
                <a:ea typeface="Calibri" pitchFamily="34" charset="-122"/>
                <a:cs typeface="Calibri" pitchFamily="34" charset="-120"/>
              </a:rPr>
              <a:t>Butuh training tambahan yang berat dan sub-network yang ikut terbawa saat deployment</a:t>
            </a:r>
            <a:endParaRPr lang="en-US" sz="1200" dirty="0"/>
          </a:p>
        </p:txBody>
      </p:sp>
      <p:sp>
        <p:nvSpPr>
          <p:cNvPr id="16" name="Shape 14"/>
          <p:cNvSpPr/>
          <p:nvPr/>
        </p:nvSpPr>
        <p:spPr>
          <a:xfrm>
            <a:off x="8138160" y="1600200"/>
            <a:ext cx="3520440" cy="3200400"/>
          </a:xfrm>
          <a:prstGeom prst="roundRect">
            <a:avLst>
              <a:gd name="adj" fmla="val 2286"/>
            </a:avLst>
          </a:prstGeom>
          <a:solidFill>
            <a:srgbClr val="F2F4F8"/>
          </a:solidFill>
          <a:ln w="12700">
            <a:solidFill>
              <a:srgbClr val="F2F4F8"/>
            </a:solidFill>
            <a:prstDash val="solid"/>
          </a:ln>
        </p:spPr>
      </p:sp>
      <p:sp>
        <p:nvSpPr>
          <p:cNvPr id="17" name="Text 15"/>
          <p:cNvSpPr/>
          <p:nvPr/>
        </p:nvSpPr>
        <p:spPr>
          <a:xfrm>
            <a:off x="8412480" y="1810512"/>
            <a:ext cx="3017520" cy="365760"/>
          </a:xfrm>
          <a:prstGeom prst="rect">
            <a:avLst/>
          </a:prstGeom>
          <a:noFill/>
          <a:ln/>
        </p:spPr>
        <p:txBody>
          <a:bodyPr wrap="square" lIns="0" tIns="0" rIns="0" bIns="0" rtlCol="0" anchor="ctr"/>
          <a:lstStyle/>
          <a:p>
            <a:pPr indent="0" marL="0">
              <a:buNone/>
            </a:pPr>
            <a:r>
              <a:rPr lang="en-US" sz="1600" b="1" dirty="0">
                <a:solidFill>
                  <a:srgbClr val="0E1E3C"/>
                </a:solidFill>
                <a:latin typeface="Cambria" pitchFamily="34" charset="0"/>
                <a:ea typeface="Cambria" pitchFamily="34" charset="-122"/>
                <a:cs typeface="Cambria" pitchFamily="34" charset="-120"/>
              </a:rPr>
              <a:t>Perbesar model</a:t>
            </a:r>
            <a:endParaRPr lang="en-US" sz="1600" dirty="0"/>
          </a:p>
        </p:txBody>
      </p:sp>
      <p:sp>
        <p:nvSpPr>
          <p:cNvPr id="18" name="Text 16"/>
          <p:cNvSpPr/>
          <p:nvPr/>
        </p:nvSpPr>
        <p:spPr>
          <a:xfrm>
            <a:off x="8412480" y="2212848"/>
            <a:ext cx="3017520" cy="822960"/>
          </a:xfrm>
          <a:prstGeom prst="rect">
            <a:avLst/>
          </a:prstGeom>
          <a:noFill/>
          <a:ln/>
        </p:spPr>
        <p:txBody>
          <a:bodyPr wrap="square" lIns="0" tIns="0" rIns="0" bIns="0" rtlCol="0" anchor="ctr"/>
          <a:lstStyle/>
          <a:p>
            <a:pPr indent="0" marL="0">
              <a:buNone/>
            </a:pPr>
            <a:r>
              <a:rPr lang="en-US" sz="1200" dirty="0">
                <a:solidFill>
                  <a:srgbClr val="52514E"/>
                </a:solidFill>
                <a:latin typeface="Calibri" pitchFamily="34" charset="0"/>
                <a:ea typeface="Calibri" pitchFamily="34" charset="-122"/>
                <a:cs typeface="Calibri" pitchFamily="34" charset="-120"/>
              </a:rPr>
              <a:t>Pakai YOLOv8l atau detektor transformer langsung</a:t>
            </a:r>
            <a:endParaRPr lang="en-US" sz="1200" dirty="0"/>
          </a:p>
        </p:txBody>
      </p:sp>
      <p:sp>
        <p:nvSpPr>
          <p:cNvPr id="19" name="Shape 17"/>
          <p:cNvSpPr/>
          <p:nvPr/>
        </p:nvSpPr>
        <p:spPr>
          <a:xfrm>
            <a:off x="8412480" y="3063240"/>
            <a:ext cx="2971800" cy="0"/>
          </a:xfrm>
          <a:prstGeom prst="line">
            <a:avLst/>
          </a:prstGeom>
          <a:noFill/>
          <a:ln w="12700">
            <a:solidFill>
              <a:srgbClr val="D8DCE4"/>
            </a:solidFill>
            <a:prstDash val="solid"/>
          </a:ln>
        </p:spPr>
      </p:sp>
      <p:sp>
        <p:nvSpPr>
          <p:cNvPr id="20" name="Text 18"/>
          <p:cNvSpPr/>
          <p:nvPr/>
        </p:nvSpPr>
        <p:spPr>
          <a:xfrm>
            <a:off x="8412480" y="3154680"/>
            <a:ext cx="3017520" cy="274320"/>
          </a:xfrm>
          <a:prstGeom prst="rect">
            <a:avLst/>
          </a:prstGeom>
          <a:noFill/>
          <a:ln/>
        </p:spPr>
        <p:txBody>
          <a:bodyPr wrap="square" lIns="0" tIns="0" rIns="0" bIns="0" rtlCol="0" anchor="ctr"/>
          <a:lstStyle/>
          <a:p>
            <a:pPr indent="0" marL="0">
              <a:buNone/>
            </a:pPr>
            <a:r>
              <a:rPr lang="en-US" sz="1100" b="1" spc="100" kern="0" dirty="0">
                <a:solidFill>
                  <a:srgbClr val="EB6834"/>
                </a:solidFill>
                <a:latin typeface="Calibri" pitchFamily="34" charset="0"/>
                <a:ea typeface="Calibri" pitchFamily="34" charset="-122"/>
                <a:cs typeface="Calibri" pitchFamily="34" charset="-120"/>
              </a:rPr>
              <a:t>Kekurangan</a:t>
            </a:r>
            <a:endParaRPr lang="en-US" sz="1100" dirty="0"/>
          </a:p>
        </p:txBody>
      </p:sp>
      <p:sp>
        <p:nvSpPr>
          <p:cNvPr id="21" name="Text 19"/>
          <p:cNvSpPr/>
          <p:nvPr/>
        </p:nvSpPr>
        <p:spPr>
          <a:xfrm>
            <a:off x="8412480" y="3456432"/>
            <a:ext cx="3017520" cy="1188720"/>
          </a:xfrm>
          <a:prstGeom prst="rect">
            <a:avLst/>
          </a:prstGeom>
          <a:noFill/>
          <a:ln/>
        </p:spPr>
        <p:txBody>
          <a:bodyPr wrap="square" lIns="0" tIns="0" rIns="0" bIns="0" rtlCol="0" anchor="ctr"/>
          <a:lstStyle/>
          <a:p>
            <a:pPr indent="0" marL="0">
              <a:buNone/>
            </a:pPr>
            <a:r>
              <a:rPr lang="en-US" sz="1200" dirty="0">
                <a:solidFill>
                  <a:srgbClr val="52514E"/>
                </a:solidFill>
                <a:latin typeface="Calibri" pitchFamily="34" charset="0"/>
                <a:ea typeface="Calibri" pitchFamily="34" charset="-122"/>
                <a:cs typeface="Calibri" pitchFamily="34" charset="-120"/>
              </a:rPr>
              <a:t>Akurasi naik tapi tidak muat di edge device, dan gap siang malam tetap tidak hilang</a:t>
            </a:r>
            <a:endParaRPr lang="en-US" sz="1200" dirty="0"/>
          </a:p>
        </p:txBody>
      </p:sp>
      <p:sp>
        <p:nvSpPr>
          <p:cNvPr id="22" name="Shape 20"/>
          <p:cNvSpPr/>
          <p:nvPr/>
        </p:nvSpPr>
        <p:spPr>
          <a:xfrm>
            <a:off x="548640" y="5138928"/>
            <a:ext cx="11064240" cy="960120"/>
          </a:xfrm>
          <a:prstGeom prst="roundRect">
            <a:avLst>
              <a:gd name="adj" fmla="val 7619"/>
            </a:avLst>
          </a:prstGeom>
          <a:solidFill>
            <a:srgbClr val="0E1E3C"/>
          </a:solidFill>
          <a:ln w="12700">
            <a:solidFill>
              <a:srgbClr val="0E1E3C"/>
            </a:solidFill>
            <a:prstDash val="solid"/>
          </a:ln>
        </p:spPr>
      </p:sp>
      <p:sp>
        <p:nvSpPr>
          <p:cNvPr id="23" name="Text 21"/>
          <p:cNvSpPr/>
          <p:nvPr/>
        </p:nvSpPr>
        <p:spPr>
          <a:xfrm>
            <a:off x="914400" y="5349240"/>
            <a:ext cx="10424160" cy="548640"/>
          </a:xfrm>
          <a:prstGeom prst="rect">
            <a:avLst/>
          </a:prstGeom>
          <a:noFill/>
          <a:ln/>
        </p:spPr>
        <p:txBody>
          <a:bodyPr wrap="square" lIns="0" tIns="0" rIns="0" bIns="0" rtlCol="0" anchor="ctr"/>
          <a:lstStyle/>
          <a:p>
            <a:pPr indent="0" marL="0">
              <a:buNone/>
            </a:pPr>
            <a:r>
              <a:rPr lang="en-US" sz="1500" dirty="0">
                <a:solidFill>
                  <a:srgbClr val="FFFFFF"/>
                </a:solidFill>
                <a:latin typeface="Calibri" pitchFamily="34" charset="0"/>
                <a:ea typeface="Calibri" pitchFamily="34" charset="-122"/>
                <a:cs typeface="Calibri" pitchFamily="34" charset="-120"/>
              </a:rPr>
              <a:t>Benang merahnya: semuanya membayar di waktu inference. Untuk kendaraan, itu ongkos yang paling mahal.</a:t>
            </a:r>
            <a:endParaRPr lang="en-US" sz="1500" dirty="0"/>
          </a:p>
        </p:txBody>
      </p:sp>
      <p:sp>
        <p:nvSpPr>
          <p:cNvPr id="24" name="Text 22"/>
          <p:cNvSpPr/>
          <p:nvPr/>
        </p:nvSpPr>
        <p:spPr>
          <a:xfrm>
            <a:off x="11430000" y="6355080"/>
            <a:ext cx="411480" cy="274320"/>
          </a:xfrm>
          <a:prstGeom prst="rect">
            <a:avLst/>
          </a:prstGeom>
          <a:noFill/>
          <a:ln/>
        </p:spPr>
        <p:txBody>
          <a:bodyPr wrap="square" lIns="0" tIns="0" rIns="0" bIns="0" rtlCol="0" anchor="ctr"/>
          <a:lstStyle/>
          <a:p>
            <a:pPr algn="r" indent="0" marL="0">
              <a:buNone/>
            </a:pPr>
            <a:r>
              <a:rPr lang="en-US" sz="1000" dirty="0">
                <a:solidFill>
                  <a:srgbClr val="898781"/>
                </a:solidFill>
                <a:latin typeface="Calibri" pitchFamily="34" charset="0"/>
                <a:ea typeface="Calibri" pitchFamily="34" charset="-122"/>
                <a:cs typeface="Calibri"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10896"/>
            <a:ext cx="8229600" cy="256032"/>
          </a:xfrm>
          <a:prstGeom prst="rect">
            <a:avLst/>
          </a:prstGeom>
          <a:noFill/>
          <a:ln/>
        </p:spPr>
        <p:txBody>
          <a:bodyPr wrap="square" lIns="0" tIns="0" rIns="0" bIns="0" rtlCol="0" anchor="ctr"/>
          <a:lstStyle/>
          <a:p>
            <a:pPr indent="0" marL="0">
              <a:buNone/>
            </a:pPr>
            <a:r>
              <a:rPr lang="en-US" sz="1100" b="1" spc="160" kern="0" dirty="0">
                <a:solidFill>
                  <a:srgbClr val="EB6834"/>
                </a:solidFill>
                <a:latin typeface="Calibri" pitchFamily="34" charset="0"/>
                <a:ea typeface="Calibri" pitchFamily="34" charset="-122"/>
                <a:cs typeface="Calibri" pitchFamily="34" charset="-120"/>
              </a:rPr>
              <a:t>PILIHAN METODE</a:t>
            </a:r>
            <a:endParaRPr lang="en-US" sz="1100" dirty="0"/>
          </a:p>
        </p:txBody>
      </p:sp>
      <p:sp>
        <p:nvSpPr>
          <p:cNvPr id="3" name="Text 1"/>
          <p:cNvSpPr/>
          <p:nvPr/>
        </p:nvSpPr>
        <p:spPr>
          <a:xfrm>
            <a:off x="548640" y="566928"/>
            <a:ext cx="11064240" cy="658368"/>
          </a:xfrm>
          <a:prstGeom prst="rect">
            <a:avLst/>
          </a:prstGeom>
          <a:noFill/>
          <a:ln/>
        </p:spPr>
        <p:txBody>
          <a:bodyPr wrap="square" lIns="0" tIns="0" rIns="0" bIns="0" rtlCol="0" anchor="t"/>
          <a:lstStyle/>
          <a:p>
            <a:pPr indent="0" marL="0">
              <a:buNone/>
            </a:pPr>
            <a:r>
              <a:rPr lang="en-US" sz="3000" b="1" dirty="0">
                <a:solidFill>
                  <a:srgbClr val="0E1E3C"/>
                </a:solidFill>
                <a:latin typeface="Cambria" pitchFamily="34" charset="0"/>
                <a:ea typeface="Cambria" pitchFamily="34" charset="-122"/>
                <a:cs typeface="Cambria" pitchFamily="34" charset="-120"/>
              </a:rPr>
              <a:t>Kenapa kami memilih Knowledge Distillation</a:t>
            </a:r>
            <a:endParaRPr lang="en-US" sz="3000" dirty="0"/>
          </a:p>
        </p:txBody>
      </p:sp>
      <p:sp>
        <p:nvSpPr>
          <p:cNvPr id="4" name="Shape 2"/>
          <p:cNvSpPr/>
          <p:nvPr/>
        </p:nvSpPr>
        <p:spPr>
          <a:xfrm>
            <a:off x="548640" y="1645920"/>
            <a:ext cx="5394960" cy="1737360"/>
          </a:xfrm>
          <a:prstGeom prst="roundRect">
            <a:avLst>
              <a:gd name="adj" fmla="val 4211"/>
            </a:avLst>
          </a:prstGeom>
          <a:solidFill>
            <a:srgbClr val="F2F4F8"/>
          </a:solidFill>
          <a:ln w="12700">
            <a:solidFill>
              <a:srgbClr val="F2F4F8"/>
            </a:solidFill>
            <a:prstDash val="solid"/>
          </a:ln>
        </p:spPr>
      </p:sp>
      <p:sp>
        <p:nvSpPr>
          <p:cNvPr id="5" name="Shape 3"/>
          <p:cNvSpPr/>
          <p:nvPr/>
        </p:nvSpPr>
        <p:spPr>
          <a:xfrm>
            <a:off x="841248" y="1920240"/>
            <a:ext cx="384048" cy="384048"/>
          </a:xfrm>
          <a:prstGeom prst="ellipse">
            <a:avLst/>
          </a:prstGeom>
          <a:solidFill>
            <a:srgbClr val="2A78D6"/>
          </a:solidFill>
          <a:ln w="12700">
            <a:solidFill>
              <a:srgbClr val="2A78D6"/>
            </a:solidFill>
            <a:prstDash val="solid"/>
          </a:ln>
        </p:spPr>
      </p:sp>
      <p:sp>
        <p:nvSpPr>
          <p:cNvPr id="6" name="Text 4"/>
          <p:cNvSpPr/>
          <p:nvPr/>
        </p:nvSpPr>
        <p:spPr>
          <a:xfrm>
            <a:off x="841248" y="192024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p:nvPr/>
        </p:nvSpPr>
        <p:spPr>
          <a:xfrm>
            <a:off x="1417320" y="1901952"/>
            <a:ext cx="4297680" cy="365760"/>
          </a:xfrm>
          <a:prstGeom prst="rect">
            <a:avLst/>
          </a:prstGeom>
          <a:noFill/>
          <a:ln/>
        </p:spPr>
        <p:txBody>
          <a:bodyPr wrap="square" lIns="0" tIns="0" rIns="0" bIns="0" rtlCol="0" anchor="ctr"/>
          <a:lstStyle/>
          <a:p>
            <a:pPr indent="0" marL="0">
              <a:buNone/>
            </a:pPr>
            <a:r>
              <a:rPr lang="en-US" sz="1600" b="1" dirty="0">
                <a:solidFill>
                  <a:srgbClr val="0E1E3C"/>
                </a:solidFill>
                <a:latin typeface="Cambria" pitchFamily="34" charset="0"/>
                <a:ea typeface="Cambria" pitchFamily="34" charset="-122"/>
                <a:cs typeface="Cambria" pitchFamily="34" charset="-120"/>
              </a:rPr>
              <a:t>Biaya inference nol</a:t>
            </a:r>
            <a:endParaRPr lang="en-US" sz="1600" dirty="0"/>
          </a:p>
        </p:txBody>
      </p:sp>
      <p:sp>
        <p:nvSpPr>
          <p:cNvPr id="8" name="Text 6"/>
          <p:cNvSpPr/>
          <p:nvPr/>
        </p:nvSpPr>
        <p:spPr>
          <a:xfrm>
            <a:off x="868680" y="2395728"/>
            <a:ext cx="4754880" cy="868680"/>
          </a:xfrm>
          <a:prstGeom prst="rect">
            <a:avLst/>
          </a:prstGeom>
          <a:noFill/>
          <a:ln/>
        </p:spPr>
        <p:txBody>
          <a:bodyPr wrap="square" lIns="0" tIns="0" rIns="0" bIns="0" rtlCol="0" anchor="ctr"/>
          <a:lstStyle/>
          <a:p>
            <a:pPr indent="0" marL="0">
              <a:buNone/>
            </a:pPr>
            <a:r>
              <a:rPr lang="en-US" sz="1250" dirty="0">
                <a:solidFill>
                  <a:srgbClr val="52514E"/>
                </a:solidFill>
                <a:latin typeface="Calibri" pitchFamily="34" charset="0"/>
                <a:ea typeface="Calibri" pitchFamily="34" charset="-122"/>
                <a:cs typeface="Calibri" pitchFamily="34" charset="-120"/>
              </a:rPr>
              <a:t>Guru hanya hadir saat training. Saat deployment yang jalan cuma YOLOv8s murni, arsitektur tidak berubah sama sekali</a:t>
            </a:r>
            <a:endParaRPr lang="en-US" sz="1250" dirty="0"/>
          </a:p>
        </p:txBody>
      </p:sp>
      <p:sp>
        <p:nvSpPr>
          <p:cNvPr id="9" name="Shape 7"/>
          <p:cNvSpPr/>
          <p:nvPr/>
        </p:nvSpPr>
        <p:spPr>
          <a:xfrm>
            <a:off x="6309360" y="1645920"/>
            <a:ext cx="5394960" cy="1737360"/>
          </a:xfrm>
          <a:prstGeom prst="roundRect">
            <a:avLst>
              <a:gd name="adj" fmla="val 4211"/>
            </a:avLst>
          </a:prstGeom>
          <a:solidFill>
            <a:srgbClr val="F2F4F8"/>
          </a:solidFill>
          <a:ln w="12700">
            <a:solidFill>
              <a:srgbClr val="F2F4F8"/>
            </a:solidFill>
            <a:prstDash val="solid"/>
          </a:ln>
        </p:spPr>
      </p:sp>
      <p:sp>
        <p:nvSpPr>
          <p:cNvPr id="10" name="Shape 8"/>
          <p:cNvSpPr/>
          <p:nvPr/>
        </p:nvSpPr>
        <p:spPr>
          <a:xfrm>
            <a:off x="6601968" y="1920240"/>
            <a:ext cx="384048" cy="384048"/>
          </a:xfrm>
          <a:prstGeom prst="ellipse">
            <a:avLst/>
          </a:prstGeom>
          <a:solidFill>
            <a:srgbClr val="EB6834"/>
          </a:solidFill>
          <a:ln w="12700">
            <a:solidFill>
              <a:srgbClr val="EB6834"/>
            </a:solidFill>
            <a:prstDash val="solid"/>
          </a:ln>
        </p:spPr>
      </p:sp>
      <p:sp>
        <p:nvSpPr>
          <p:cNvPr id="11" name="Text 9"/>
          <p:cNvSpPr/>
          <p:nvPr/>
        </p:nvSpPr>
        <p:spPr>
          <a:xfrm>
            <a:off x="6601968" y="192024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2" name="Text 10"/>
          <p:cNvSpPr/>
          <p:nvPr/>
        </p:nvSpPr>
        <p:spPr>
          <a:xfrm>
            <a:off x="7178040" y="1901952"/>
            <a:ext cx="4297680" cy="365760"/>
          </a:xfrm>
          <a:prstGeom prst="rect">
            <a:avLst/>
          </a:prstGeom>
          <a:noFill/>
          <a:ln/>
        </p:spPr>
        <p:txBody>
          <a:bodyPr wrap="square" lIns="0" tIns="0" rIns="0" bIns="0" rtlCol="0" anchor="ctr"/>
          <a:lstStyle/>
          <a:p>
            <a:pPr indent="0" marL="0">
              <a:buNone/>
            </a:pPr>
            <a:r>
              <a:rPr lang="en-US" sz="1600" b="1" dirty="0">
                <a:solidFill>
                  <a:srgbClr val="0E1E3C"/>
                </a:solidFill>
                <a:latin typeface="Cambria" pitchFamily="34" charset="0"/>
                <a:ea typeface="Cambria" pitchFamily="34" charset="-122"/>
                <a:cs typeface="Cambria" pitchFamily="34" charset="-120"/>
              </a:rPr>
              <a:t>Yang ditransfer itu cara melihat</a:t>
            </a:r>
            <a:endParaRPr lang="en-US" sz="1600" dirty="0"/>
          </a:p>
        </p:txBody>
      </p:sp>
      <p:sp>
        <p:nvSpPr>
          <p:cNvPr id="13" name="Text 11"/>
          <p:cNvSpPr/>
          <p:nvPr/>
        </p:nvSpPr>
        <p:spPr>
          <a:xfrm>
            <a:off x="6629400" y="2395728"/>
            <a:ext cx="4754880" cy="868680"/>
          </a:xfrm>
          <a:prstGeom prst="rect">
            <a:avLst/>
          </a:prstGeom>
          <a:noFill/>
          <a:ln/>
        </p:spPr>
        <p:txBody>
          <a:bodyPr wrap="square" lIns="0" tIns="0" rIns="0" bIns="0" rtlCol="0" anchor="ctr"/>
          <a:lstStyle/>
          <a:p>
            <a:pPr indent="0" marL="0">
              <a:buNone/>
            </a:pPr>
            <a:r>
              <a:rPr lang="en-US" sz="1250" dirty="0">
                <a:solidFill>
                  <a:srgbClr val="52514E"/>
                </a:solidFill>
                <a:latin typeface="Calibri" pitchFamily="34" charset="0"/>
                <a:ea typeface="Calibri" pitchFamily="34" charset="-122"/>
                <a:cs typeface="Calibri" pitchFamily="34" charset="-120"/>
              </a:rPr>
              <a:t>Bukan cuma jawaban benar salah, tapi distribusi keyakinan guru, termasuk keraguan yang informatif pada objek yang samar</a:t>
            </a:r>
            <a:endParaRPr lang="en-US" sz="1250" dirty="0"/>
          </a:p>
        </p:txBody>
      </p:sp>
      <p:sp>
        <p:nvSpPr>
          <p:cNvPr id="14" name="Shape 12"/>
          <p:cNvSpPr/>
          <p:nvPr/>
        </p:nvSpPr>
        <p:spPr>
          <a:xfrm>
            <a:off x="548640" y="3611880"/>
            <a:ext cx="5394960" cy="1737360"/>
          </a:xfrm>
          <a:prstGeom prst="roundRect">
            <a:avLst>
              <a:gd name="adj" fmla="val 4211"/>
            </a:avLst>
          </a:prstGeom>
          <a:solidFill>
            <a:srgbClr val="F2F4F8"/>
          </a:solidFill>
          <a:ln w="12700">
            <a:solidFill>
              <a:srgbClr val="F2F4F8"/>
            </a:solidFill>
            <a:prstDash val="solid"/>
          </a:ln>
        </p:spPr>
      </p:sp>
      <p:sp>
        <p:nvSpPr>
          <p:cNvPr id="15" name="Shape 13"/>
          <p:cNvSpPr/>
          <p:nvPr/>
        </p:nvSpPr>
        <p:spPr>
          <a:xfrm>
            <a:off x="841248" y="3886200"/>
            <a:ext cx="384048" cy="384048"/>
          </a:xfrm>
          <a:prstGeom prst="ellipse">
            <a:avLst/>
          </a:prstGeom>
          <a:solidFill>
            <a:srgbClr val="2A78D6"/>
          </a:solidFill>
          <a:ln w="12700">
            <a:solidFill>
              <a:srgbClr val="2A78D6"/>
            </a:solidFill>
            <a:prstDash val="solid"/>
          </a:ln>
        </p:spPr>
      </p:sp>
      <p:sp>
        <p:nvSpPr>
          <p:cNvPr id="16" name="Text 14"/>
          <p:cNvSpPr/>
          <p:nvPr/>
        </p:nvSpPr>
        <p:spPr>
          <a:xfrm>
            <a:off x="841248" y="388620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7" name="Text 15"/>
          <p:cNvSpPr/>
          <p:nvPr/>
        </p:nvSpPr>
        <p:spPr>
          <a:xfrm>
            <a:off x="1417320" y="3867912"/>
            <a:ext cx="4297680" cy="365760"/>
          </a:xfrm>
          <a:prstGeom prst="rect">
            <a:avLst/>
          </a:prstGeom>
          <a:noFill/>
          <a:ln/>
        </p:spPr>
        <p:txBody>
          <a:bodyPr wrap="square" lIns="0" tIns="0" rIns="0" bIns="0" rtlCol="0" anchor="ctr"/>
          <a:lstStyle/>
          <a:p>
            <a:pPr indent="0" marL="0">
              <a:buNone/>
            </a:pPr>
            <a:r>
              <a:rPr lang="en-US" sz="1600" b="1" dirty="0">
                <a:solidFill>
                  <a:srgbClr val="0E1E3C"/>
                </a:solidFill>
                <a:latin typeface="Cambria" pitchFamily="34" charset="0"/>
                <a:ea typeface="Cambria" pitchFamily="34" charset="-122"/>
                <a:cs typeface="Cambria" pitchFamily="34" charset="-120"/>
              </a:rPr>
              <a:t>Tidak butuh data atau label baru</a:t>
            </a:r>
            <a:endParaRPr lang="en-US" sz="1600" dirty="0"/>
          </a:p>
        </p:txBody>
      </p:sp>
      <p:sp>
        <p:nvSpPr>
          <p:cNvPr id="18" name="Text 16"/>
          <p:cNvSpPr/>
          <p:nvPr/>
        </p:nvSpPr>
        <p:spPr>
          <a:xfrm>
            <a:off x="868680" y="4361688"/>
            <a:ext cx="4754880" cy="868680"/>
          </a:xfrm>
          <a:prstGeom prst="rect">
            <a:avLst/>
          </a:prstGeom>
          <a:noFill/>
          <a:ln/>
        </p:spPr>
        <p:txBody>
          <a:bodyPr wrap="square" lIns="0" tIns="0" rIns="0" bIns="0" rtlCol="0" anchor="ctr"/>
          <a:lstStyle/>
          <a:p>
            <a:pPr indent="0" marL="0">
              <a:buNone/>
            </a:pPr>
            <a:r>
              <a:rPr lang="en-US" sz="1250" dirty="0">
                <a:solidFill>
                  <a:srgbClr val="52514E"/>
                </a:solidFill>
                <a:latin typeface="Calibri" pitchFamily="34" charset="0"/>
                <a:ea typeface="Calibri" pitchFamily="34" charset="-122"/>
                <a:cs typeface="Calibri" pitchFamily="34" charset="-120"/>
              </a:rPr>
              <a:t>Berbeda dengan domain adaptation, kami tidak perlu pasangan citra siang malam atau anotasi tambahan</a:t>
            </a:r>
            <a:endParaRPr lang="en-US" sz="1250" dirty="0"/>
          </a:p>
        </p:txBody>
      </p:sp>
      <p:sp>
        <p:nvSpPr>
          <p:cNvPr id="19" name="Shape 17"/>
          <p:cNvSpPr/>
          <p:nvPr/>
        </p:nvSpPr>
        <p:spPr>
          <a:xfrm>
            <a:off x="6309360" y="3611880"/>
            <a:ext cx="5394960" cy="1737360"/>
          </a:xfrm>
          <a:prstGeom prst="roundRect">
            <a:avLst>
              <a:gd name="adj" fmla="val 4211"/>
            </a:avLst>
          </a:prstGeom>
          <a:solidFill>
            <a:srgbClr val="F2F4F8"/>
          </a:solidFill>
          <a:ln w="12700">
            <a:solidFill>
              <a:srgbClr val="F2F4F8"/>
            </a:solidFill>
            <a:prstDash val="solid"/>
          </a:ln>
        </p:spPr>
      </p:sp>
      <p:sp>
        <p:nvSpPr>
          <p:cNvPr id="20" name="Shape 18"/>
          <p:cNvSpPr/>
          <p:nvPr/>
        </p:nvSpPr>
        <p:spPr>
          <a:xfrm>
            <a:off x="6601968" y="3886200"/>
            <a:ext cx="384048" cy="384048"/>
          </a:xfrm>
          <a:prstGeom prst="ellipse">
            <a:avLst/>
          </a:prstGeom>
          <a:solidFill>
            <a:srgbClr val="EB6834"/>
          </a:solidFill>
          <a:ln w="12700">
            <a:solidFill>
              <a:srgbClr val="EB6834"/>
            </a:solidFill>
            <a:prstDash val="solid"/>
          </a:ln>
        </p:spPr>
      </p:sp>
      <p:sp>
        <p:nvSpPr>
          <p:cNvPr id="21" name="Text 19"/>
          <p:cNvSpPr/>
          <p:nvPr/>
        </p:nvSpPr>
        <p:spPr>
          <a:xfrm>
            <a:off x="6601968" y="388620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2" name="Text 20"/>
          <p:cNvSpPr/>
          <p:nvPr/>
        </p:nvSpPr>
        <p:spPr>
          <a:xfrm>
            <a:off x="7178040" y="3867912"/>
            <a:ext cx="4297680" cy="365760"/>
          </a:xfrm>
          <a:prstGeom prst="rect">
            <a:avLst/>
          </a:prstGeom>
          <a:noFill/>
          <a:ln/>
        </p:spPr>
        <p:txBody>
          <a:bodyPr wrap="square" lIns="0" tIns="0" rIns="0" bIns="0" rtlCol="0" anchor="ctr"/>
          <a:lstStyle/>
          <a:p>
            <a:pPr indent="0" marL="0">
              <a:buNone/>
            </a:pPr>
            <a:r>
              <a:rPr lang="en-US" sz="1600" b="1" dirty="0">
                <a:solidFill>
                  <a:srgbClr val="0E1E3C"/>
                </a:solidFill>
                <a:latin typeface="Cambria" pitchFamily="34" charset="0"/>
                <a:ea typeface="Cambria" pitchFamily="34" charset="-122"/>
                <a:cs typeface="Cambria" pitchFamily="34" charset="-120"/>
              </a:rPr>
              <a:t>Sudah terbukti untuk edge</a:t>
            </a:r>
            <a:endParaRPr lang="en-US" sz="1600" dirty="0"/>
          </a:p>
        </p:txBody>
      </p:sp>
      <p:sp>
        <p:nvSpPr>
          <p:cNvPr id="23" name="Text 21"/>
          <p:cNvSpPr/>
          <p:nvPr/>
        </p:nvSpPr>
        <p:spPr>
          <a:xfrm>
            <a:off x="6629400" y="4361688"/>
            <a:ext cx="4754880" cy="868680"/>
          </a:xfrm>
          <a:prstGeom prst="rect">
            <a:avLst/>
          </a:prstGeom>
          <a:noFill/>
          <a:ln/>
        </p:spPr>
        <p:txBody>
          <a:bodyPr wrap="square" lIns="0" tIns="0" rIns="0" bIns="0" rtlCol="0" anchor="ctr"/>
          <a:lstStyle/>
          <a:p>
            <a:pPr indent="0" marL="0">
              <a:buNone/>
            </a:pPr>
            <a:r>
              <a:rPr lang="en-US" sz="1250" dirty="0">
                <a:solidFill>
                  <a:srgbClr val="52514E"/>
                </a:solidFill>
                <a:latin typeface="Calibri" pitchFamily="34" charset="0"/>
                <a:ea typeface="Calibri" pitchFamily="34" charset="-122"/>
                <a:cs typeface="Calibri" pitchFamily="34" charset="-120"/>
              </a:rPr>
              <a:t>Model hasil distilasi lebih tahan terhadap kuantisasi INT8 dan pruning, jadi cocok untuk pipeline deployment nyata</a:t>
            </a:r>
            <a:endParaRPr lang="en-US" sz="1250" dirty="0"/>
          </a:p>
        </p:txBody>
      </p:sp>
      <p:sp>
        <p:nvSpPr>
          <p:cNvPr id="24" name="Text 22"/>
          <p:cNvSpPr/>
          <p:nvPr/>
        </p:nvSpPr>
        <p:spPr>
          <a:xfrm>
            <a:off x="11430000" y="6355080"/>
            <a:ext cx="411480" cy="274320"/>
          </a:xfrm>
          <a:prstGeom prst="rect">
            <a:avLst/>
          </a:prstGeom>
          <a:noFill/>
          <a:ln/>
        </p:spPr>
        <p:txBody>
          <a:bodyPr wrap="square" lIns="0" tIns="0" rIns="0" bIns="0" rtlCol="0" anchor="ctr"/>
          <a:lstStyle/>
          <a:p>
            <a:pPr algn="r" indent="0" marL="0">
              <a:buNone/>
            </a:pPr>
            <a:r>
              <a:rPr lang="en-US" sz="1000" dirty="0">
                <a:solidFill>
                  <a:srgbClr val="898781"/>
                </a:solidFill>
                <a:latin typeface="Calibri" pitchFamily="34" charset="0"/>
                <a:ea typeface="Calibri" pitchFamily="34" charset="-122"/>
                <a:cs typeface="Calibri"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10896"/>
            <a:ext cx="8229600" cy="256032"/>
          </a:xfrm>
          <a:prstGeom prst="rect">
            <a:avLst/>
          </a:prstGeom>
          <a:noFill/>
          <a:ln/>
        </p:spPr>
        <p:txBody>
          <a:bodyPr wrap="square" lIns="0" tIns="0" rIns="0" bIns="0" rtlCol="0" anchor="ctr"/>
          <a:lstStyle/>
          <a:p>
            <a:pPr indent="0" marL="0">
              <a:buNone/>
            </a:pPr>
            <a:r>
              <a:rPr lang="en-US" sz="1100" b="1" spc="160" kern="0" dirty="0">
                <a:solidFill>
                  <a:srgbClr val="EB6834"/>
                </a:solidFill>
                <a:latin typeface="Calibri" pitchFamily="34" charset="0"/>
                <a:ea typeface="Calibri" pitchFamily="34" charset="-122"/>
                <a:cs typeface="Calibri" pitchFamily="34" charset="-120"/>
              </a:rPr>
              <a:t>MENJAWAB PERTANYAAN YANG WAJAR</a:t>
            </a:r>
            <a:endParaRPr lang="en-US" sz="1100" dirty="0"/>
          </a:p>
        </p:txBody>
      </p:sp>
      <p:sp>
        <p:nvSpPr>
          <p:cNvPr id="3" name="Text 1"/>
          <p:cNvSpPr/>
          <p:nvPr/>
        </p:nvSpPr>
        <p:spPr>
          <a:xfrm>
            <a:off x="548640" y="566928"/>
            <a:ext cx="11064240" cy="658368"/>
          </a:xfrm>
          <a:prstGeom prst="rect">
            <a:avLst/>
          </a:prstGeom>
          <a:noFill/>
          <a:ln/>
        </p:spPr>
        <p:txBody>
          <a:bodyPr wrap="square" lIns="0" tIns="0" rIns="0" bIns="0" rtlCol="0" anchor="t"/>
          <a:lstStyle/>
          <a:p>
            <a:pPr indent="0" marL="0">
              <a:buNone/>
            </a:pPr>
            <a:r>
              <a:rPr lang="en-US" sz="3000" b="1" dirty="0">
                <a:solidFill>
                  <a:srgbClr val="0E1E3C"/>
                </a:solidFill>
                <a:latin typeface="Cambria" pitchFamily="34" charset="0"/>
                <a:ea typeface="Cambria" pitchFamily="34" charset="-122"/>
                <a:cs typeface="Cambria" pitchFamily="34" charset="-120"/>
              </a:rPr>
              <a:t>Apakah Knowledge Distillation sudah ketinggalan zaman?</a:t>
            </a:r>
            <a:endParaRPr lang="en-US" sz="3000" dirty="0"/>
          </a:p>
        </p:txBody>
      </p:sp>
      <p:sp>
        <p:nvSpPr>
          <p:cNvPr id="4" name="Shape 2"/>
          <p:cNvSpPr/>
          <p:nvPr/>
        </p:nvSpPr>
        <p:spPr>
          <a:xfrm>
            <a:off x="548640" y="1600200"/>
            <a:ext cx="11064240" cy="685800"/>
          </a:xfrm>
          <a:prstGeom prst="roundRect">
            <a:avLst>
              <a:gd name="adj" fmla="val 10667"/>
            </a:avLst>
          </a:prstGeom>
          <a:solidFill>
            <a:srgbClr val="F2F4F8"/>
          </a:solidFill>
          <a:ln w="12700">
            <a:solidFill>
              <a:srgbClr val="F2F4F8"/>
            </a:solidFill>
            <a:prstDash val="solid"/>
          </a:ln>
        </p:spPr>
      </p:sp>
      <p:sp>
        <p:nvSpPr>
          <p:cNvPr id="5" name="Text 3"/>
          <p:cNvSpPr/>
          <p:nvPr/>
        </p:nvSpPr>
        <p:spPr>
          <a:xfrm>
            <a:off x="868680" y="1737360"/>
            <a:ext cx="10424160" cy="457200"/>
          </a:xfrm>
          <a:prstGeom prst="rect">
            <a:avLst/>
          </a:prstGeom>
          <a:noFill/>
          <a:ln/>
        </p:spPr>
        <p:txBody>
          <a:bodyPr wrap="square" lIns="0" tIns="0" rIns="0" bIns="0" rtlCol="0" anchor="ctr"/>
          <a:lstStyle/>
          <a:p>
            <a:pPr indent="0" marL="0">
              <a:buNone/>
            </a:pPr>
            <a:r>
              <a:rPr lang="en-US" sz="1500" b="1" dirty="0">
                <a:solidFill>
                  <a:srgbClr val="0E1E3C"/>
                </a:solidFill>
                <a:latin typeface="Calibri" pitchFamily="34" charset="0"/>
                <a:ea typeface="Calibri" pitchFamily="34" charset="-122"/>
                <a:cs typeface="Calibri" pitchFamily="34" charset="-120"/>
              </a:rPr>
              <a:t>Justru sebaliknya. KD hari ini adalah mekanisme standar di balik hampir semua model kecil yang dipakai produksi.</a:t>
            </a:r>
            <a:endParaRPr lang="en-US" sz="1500" dirty="0"/>
          </a:p>
        </p:txBody>
      </p:sp>
      <p:sp>
        <p:nvSpPr>
          <p:cNvPr id="6" name="Shape 4"/>
          <p:cNvSpPr/>
          <p:nvPr/>
        </p:nvSpPr>
        <p:spPr>
          <a:xfrm>
            <a:off x="621792" y="2642616"/>
            <a:ext cx="256032" cy="256032"/>
          </a:xfrm>
          <a:prstGeom prst="ellipse">
            <a:avLst/>
          </a:prstGeom>
          <a:solidFill>
            <a:srgbClr val="2A78D6"/>
          </a:solidFill>
          <a:ln w="12700">
            <a:solidFill>
              <a:srgbClr val="2A78D6"/>
            </a:solidFill>
            <a:prstDash val="solid"/>
          </a:ln>
        </p:spPr>
      </p:sp>
      <p:sp>
        <p:nvSpPr>
          <p:cNvPr id="7" name="Text 5"/>
          <p:cNvSpPr/>
          <p:nvPr/>
        </p:nvSpPr>
        <p:spPr>
          <a:xfrm>
            <a:off x="1051560" y="2569464"/>
            <a:ext cx="3200400" cy="457200"/>
          </a:xfrm>
          <a:prstGeom prst="rect">
            <a:avLst/>
          </a:prstGeom>
          <a:noFill/>
          <a:ln/>
        </p:spPr>
        <p:txBody>
          <a:bodyPr wrap="square" lIns="0" tIns="0" rIns="0" bIns="0" rtlCol="0" anchor="ctr"/>
          <a:lstStyle/>
          <a:p>
            <a:pPr indent="0" marL="0">
              <a:buNone/>
            </a:pPr>
            <a:r>
              <a:rPr lang="en-US" sz="1350" b="1" dirty="0">
                <a:solidFill>
                  <a:srgbClr val="0E1E3C"/>
                </a:solidFill>
                <a:latin typeface="Cambria" pitchFamily="34" charset="0"/>
                <a:ea typeface="Cambria" pitchFamily="34" charset="-122"/>
                <a:cs typeface="Cambria" pitchFamily="34" charset="-120"/>
              </a:rPr>
              <a:t>Survei terbaru 2025 dan 2026</a:t>
            </a:r>
            <a:endParaRPr lang="en-US" sz="1350" dirty="0"/>
          </a:p>
        </p:txBody>
      </p:sp>
      <p:sp>
        <p:nvSpPr>
          <p:cNvPr id="8" name="Text 6"/>
          <p:cNvSpPr/>
          <p:nvPr/>
        </p:nvSpPr>
        <p:spPr>
          <a:xfrm>
            <a:off x="4389120" y="2560320"/>
            <a:ext cx="7315200" cy="777240"/>
          </a:xfrm>
          <a:prstGeom prst="rect">
            <a:avLst/>
          </a:prstGeom>
          <a:noFill/>
          <a:ln/>
        </p:spPr>
        <p:txBody>
          <a:bodyPr wrap="square" lIns="0" tIns="0" rIns="0" bIns="0" rtlCol="0" anchor="ctr"/>
          <a:lstStyle/>
          <a:p>
            <a:pPr indent="0" marL="0">
              <a:buNone/>
            </a:pPr>
            <a:r>
              <a:rPr lang="en-US" sz="1150" dirty="0">
                <a:solidFill>
                  <a:srgbClr val="52514E"/>
                </a:solidFill>
                <a:latin typeface="Calibri" pitchFamily="34" charset="0"/>
                <a:ea typeface="Calibri" pitchFamily="34" charset="-122"/>
                <a:cs typeface="Calibri" pitchFamily="34" charset="-120"/>
              </a:rPr>
              <a:t>A Comprehensive Survey on Knowledge Distillation (2025) dan KD in Object Detection: A Survey from CNN to Transformer (Sensors, 2026) menyatakan bidang ini masih jauh dari selesai</a:t>
            </a:r>
            <a:endParaRPr lang="en-US" sz="1150" dirty="0"/>
          </a:p>
        </p:txBody>
      </p:sp>
      <p:sp>
        <p:nvSpPr>
          <p:cNvPr id="9" name="Shape 7"/>
          <p:cNvSpPr/>
          <p:nvPr/>
        </p:nvSpPr>
        <p:spPr>
          <a:xfrm>
            <a:off x="621792" y="3575304"/>
            <a:ext cx="256032" cy="256032"/>
          </a:xfrm>
          <a:prstGeom prst="ellipse">
            <a:avLst/>
          </a:prstGeom>
          <a:solidFill>
            <a:srgbClr val="2A78D6"/>
          </a:solidFill>
          <a:ln w="12700">
            <a:solidFill>
              <a:srgbClr val="2A78D6"/>
            </a:solidFill>
            <a:prstDash val="solid"/>
          </a:ln>
        </p:spPr>
      </p:sp>
      <p:sp>
        <p:nvSpPr>
          <p:cNvPr id="10" name="Text 8"/>
          <p:cNvSpPr/>
          <p:nvPr/>
        </p:nvSpPr>
        <p:spPr>
          <a:xfrm>
            <a:off x="1051560" y="3502152"/>
            <a:ext cx="3200400" cy="457200"/>
          </a:xfrm>
          <a:prstGeom prst="rect">
            <a:avLst/>
          </a:prstGeom>
          <a:noFill/>
          <a:ln/>
        </p:spPr>
        <p:txBody>
          <a:bodyPr wrap="square" lIns="0" tIns="0" rIns="0" bIns="0" rtlCol="0" anchor="ctr"/>
          <a:lstStyle/>
          <a:p>
            <a:pPr indent="0" marL="0">
              <a:buNone/>
            </a:pPr>
            <a:r>
              <a:rPr lang="en-US" sz="1350" b="1" dirty="0">
                <a:solidFill>
                  <a:srgbClr val="0E1E3C"/>
                </a:solidFill>
                <a:latin typeface="Cambria" pitchFamily="34" charset="0"/>
                <a:ea typeface="Cambria" pitchFamily="34" charset="-122"/>
                <a:cs typeface="Cambria" pitchFamily="34" charset="-120"/>
              </a:rPr>
              <a:t>Masih terbit di CVPR dan IEEE 2025</a:t>
            </a:r>
            <a:endParaRPr lang="en-US" sz="1350" dirty="0"/>
          </a:p>
        </p:txBody>
      </p:sp>
      <p:sp>
        <p:nvSpPr>
          <p:cNvPr id="11" name="Text 9"/>
          <p:cNvSpPr/>
          <p:nvPr/>
        </p:nvSpPr>
        <p:spPr>
          <a:xfrm>
            <a:off x="4389120" y="3493008"/>
            <a:ext cx="7315200" cy="777240"/>
          </a:xfrm>
          <a:prstGeom prst="rect">
            <a:avLst/>
          </a:prstGeom>
          <a:noFill/>
          <a:ln/>
        </p:spPr>
        <p:txBody>
          <a:bodyPr wrap="square" lIns="0" tIns="0" rIns="0" bIns="0" rtlCol="0" anchor="ctr"/>
          <a:lstStyle/>
          <a:p>
            <a:pPr indent="0" marL="0">
              <a:buNone/>
            </a:pPr>
            <a:r>
              <a:rPr lang="en-US" sz="1150" dirty="0">
                <a:solidFill>
                  <a:srgbClr val="52514E"/>
                </a:solidFill>
                <a:latin typeface="Calibri" pitchFamily="34" charset="0"/>
                <a:ea typeface="Calibri" pitchFamily="34" charset="-122"/>
                <a:cs typeface="Calibri" pitchFamily="34" charset="-120"/>
              </a:rPr>
              <a:t>Compressing Multi-Task Model for Autonomous Driving via Pruning and KD (CVPR 2025), MonoTAKD (CVPR 2025), Self-Distilling Introspective Data (IEEE T-ITS 2025), Event-Aware Distilled DETR (IEEE IV 2025)</a:t>
            </a:r>
            <a:endParaRPr lang="en-US" sz="1150" dirty="0"/>
          </a:p>
        </p:txBody>
      </p:sp>
      <p:sp>
        <p:nvSpPr>
          <p:cNvPr id="12" name="Shape 10"/>
          <p:cNvSpPr/>
          <p:nvPr/>
        </p:nvSpPr>
        <p:spPr>
          <a:xfrm>
            <a:off x="621792" y="4507992"/>
            <a:ext cx="256032" cy="256032"/>
          </a:xfrm>
          <a:prstGeom prst="ellipse">
            <a:avLst/>
          </a:prstGeom>
          <a:solidFill>
            <a:srgbClr val="2A78D6"/>
          </a:solidFill>
          <a:ln w="12700">
            <a:solidFill>
              <a:srgbClr val="2A78D6"/>
            </a:solidFill>
            <a:prstDash val="solid"/>
          </a:ln>
        </p:spPr>
      </p:sp>
      <p:sp>
        <p:nvSpPr>
          <p:cNvPr id="13" name="Text 11"/>
          <p:cNvSpPr/>
          <p:nvPr/>
        </p:nvSpPr>
        <p:spPr>
          <a:xfrm>
            <a:off x="1051560" y="4434840"/>
            <a:ext cx="3200400" cy="457200"/>
          </a:xfrm>
          <a:prstGeom prst="rect">
            <a:avLst/>
          </a:prstGeom>
          <a:noFill/>
          <a:ln/>
        </p:spPr>
        <p:txBody>
          <a:bodyPr wrap="square" lIns="0" tIns="0" rIns="0" bIns="0" rtlCol="0" anchor="ctr"/>
          <a:lstStyle/>
          <a:p>
            <a:pPr indent="0" marL="0">
              <a:buNone/>
            </a:pPr>
            <a:r>
              <a:rPr lang="en-US" sz="1350" b="1" dirty="0">
                <a:solidFill>
                  <a:srgbClr val="0E1E3C"/>
                </a:solidFill>
                <a:latin typeface="Cambria" pitchFamily="34" charset="0"/>
                <a:ea typeface="Cambria" pitchFamily="34" charset="-122"/>
                <a:cs typeface="Cambria" pitchFamily="34" charset="-120"/>
              </a:rPr>
              <a:t>Jadi tulang punggung era model besar</a:t>
            </a:r>
            <a:endParaRPr lang="en-US" sz="1350" dirty="0"/>
          </a:p>
        </p:txBody>
      </p:sp>
      <p:sp>
        <p:nvSpPr>
          <p:cNvPr id="14" name="Text 12"/>
          <p:cNvSpPr/>
          <p:nvPr/>
        </p:nvSpPr>
        <p:spPr>
          <a:xfrm>
            <a:off x="4389120" y="4425696"/>
            <a:ext cx="7315200" cy="777240"/>
          </a:xfrm>
          <a:prstGeom prst="rect">
            <a:avLst/>
          </a:prstGeom>
          <a:noFill/>
          <a:ln/>
        </p:spPr>
        <p:txBody>
          <a:bodyPr wrap="square" lIns="0" tIns="0" rIns="0" bIns="0" rtlCol="0" anchor="ctr"/>
          <a:lstStyle/>
          <a:p>
            <a:pPr indent="0" marL="0">
              <a:buNone/>
            </a:pPr>
            <a:r>
              <a:rPr lang="en-US" sz="1150" dirty="0">
                <a:solidFill>
                  <a:srgbClr val="52514E"/>
                </a:solidFill>
                <a:latin typeface="Calibri" pitchFamily="34" charset="0"/>
                <a:ea typeface="Calibri" pitchFamily="34" charset="-122"/>
                <a:cs typeface="Calibri" pitchFamily="34" charset="-120"/>
              </a:rPr>
              <a:t>Model kecil yang dipakai industri sekarang umumnya hasil distilasi dari model besar. Metodenya tidak mati, dia pindah ke skala yang lebih besar</a:t>
            </a:r>
            <a:endParaRPr lang="en-US" sz="1150" dirty="0"/>
          </a:p>
        </p:txBody>
      </p:sp>
      <p:sp>
        <p:nvSpPr>
          <p:cNvPr id="15" name="Shape 13"/>
          <p:cNvSpPr/>
          <p:nvPr/>
        </p:nvSpPr>
        <p:spPr>
          <a:xfrm>
            <a:off x="621792" y="5440680"/>
            <a:ext cx="256032" cy="256032"/>
          </a:xfrm>
          <a:prstGeom prst="ellipse">
            <a:avLst/>
          </a:prstGeom>
          <a:solidFill>
            <a:srgbClr val="2A78D6"/>
          </a:solidFill>
          <a:ln w="12700">
            <a:solidFill>
              <a:srgbClr val="2A78D6"/>
            </a:solidFill>
            <a:prstDash val="solid"/>
          </a:ln>
        </p:spPr>
      </p:sp>
      <p:sp>
        <p:nvSpPr>
          <p:cNvPr id="16" name="Text 14"/>
          <p:cNvSpPr/>
          <p:nvPr/>
        </p:nvSpPr>
        <p:spPr>
          <a:xfrm>
            <a:off x="1051560" y="5367528"/>
            <a:ext cx="3200400" cy="457200"/>
          </a:xfrm>
          <a:prstGeom prst="rect">
            <a:avLst/>
          </a:prstGeom>
          <a:noFill/>
          <a:ln/>
        </p:spPr>
        <p:txBody>
          <a:bodyPr wrap="square" lIns="0" tIns="0" rIns="0" bIns="0" rtlCol="0" anchor="ctr"/>
          <a:lstStyle/>
          <a:p>
            <a:pPr indent="0" marL="0">
              <a:buNone/>
            </a:pPr>
            <a:r>
              <a:rPr lang="en-US" sz="1350" b="1" dirty="0">
                <a:solidFill>
                  <a:srgbClr val="0E1E3C"/>
                </a:solidFill>
                <a:latin typeface="Cambria" pitchFamily="34" charset="0"/>
                <a:ea typeface="Cambria" pitchFamily="34" charset="-122"/>
                <a:cs typeface="Cambria" pitchFamily="34" charset="-120"/>
              </a:rPr>
              <a:t>Khusus low light dan edge, masih baru</a:t>
            </a:r>
            <a:endParaRPr lang="en-US" sz="1350" dirty="0"/>
          </a:p>
        </p:txBody>
      </p:sp>
      <p:sp>
        <p:nvSpPr>
          <p:cNvPr id="17" name="Text 15"/>
          <p:cNvSpPr/>
          <p:nvPr/>
        </p:nvSpPr>
        <p:spPr>
          <a:xfrm>
            <a:off x="4389120" y="5358384"/>
            <a:ext cx="7315200" cy="777240"/>
          </a:xfrm>
          <a:prstGeom prst="rect">
            <a:avLst/>
          </a:prstGeom>
          <a:noFill/>
          <a:ln/>
        </p:spPr>
        <p:txBody>
          <a:bodyPr wrap="square" lIns="0" tIns="0" rIns="0" bIns="0" rtlCol="0" anchor="ctr"/>
          <a:lstStyle/>
          <a:p>
            <a:pPr indent="0" marL="0">
              <a:buNone/>
            </a:pPr>
            <a:r>
              <a:rPr lang="en-US" sz="1150" dirty="0">
                <a:solidFill>
                  <a:srgbClr val="52514E"/>
                </a:solidFill>
                <a:latin typeface="Calibri" pitchFamily="34" charset="0"/>
                <a:ea typeface="Calibri" pitchFamily="34" charset="-122"/>
                <a:cs typeface="Calibri" pitchFamily="34" charset="-120"/>
              </a:rPr>
              <a:t>LKD-YOLOv8 (Sensors 2025) dan Sun et al. (2025) tentang deployment model low light baru terbit tahun lalu</a:t>
            </a:r>
            <a:endParaRPr lang="en-US" sz="1150" dirty="0"/>
          </a:p>
        </p:txBody>
      </p:sp>
      <p:sp>
        <p:nvSpPr>
          <p:cNvPr id="18" name="Text 16"/>
          <p:cNvSpPr/>
          <p:nvPr/>
        </p:nvSpPr>
        <p:spPr>
          <a:xfrm>
            <a:off x="11430000" y="6355080"/>
            <a:ext cx="411480" cy="274320"/>
          </a:xfrm>
          <a:prstGeom prst="rect">
            <a:avLst/>
          </a:prstGeom>
          <a:noFill/>
          <a:ln/>
        </p:spPr>
        <p:txBody>
          <a:bodyPr wrap="square" lIns="0" tIns="0" rIns="0" bIns="0" rtlCol="0" anchor="ctr"/>
          <a:lstStyle/>
          <a:p>
            <a:pPr algn="r" indent="0" marL="0">
              <a:buNone/>
            </a:pPr>
            <a:r>
              <a:rPr lang="en-US" sz="1000" dirty="0">
                <a:solidFill>
                  <a:srgbClr val="898781"/>
                </a:solidFill>
                <a:latin typeface="Calibri" pitchFamily="34" charset="0"/>
                <a:ea typeface="Calibri" pitchFamily="34" charset="-122"/>
                <a:cs typeface="Calibri"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10896"/>
            <a:ext cx="8229600" cy="256032"/>
          </a:xfrm>
          <a:prstGeom prst="rect">
            <a:avLst/>
          </a:prstGeom>
          <a:noFill/>
          <a:ln/>
        </p:spPr>
        <p:txBody>
          <a:bodyPr wrap="square" lIns="0" tIns="0" rIns="0" bIns="0" rtlCol="0" anchor="ctr"/>
          <a:lstStyle/>
          <a:p>
            <a:pPr indent="0" marL="0">
              <a:buNone/>
            </a:pPr>
            <a:r>
              <a:rPr lang="en-US" sz="1100" b="1" spc="160" kern="0" dirty="0">
                <a:solidFill>
                  <a:srgbClr val="EB6834"/>
                </a:solidFill>
                <a:latin typeface="Calibri" pitchFamily="34" charset="0"/>
                <a:ea typeface="Calibri" pitchFamily="34" charset="-122"/>
                <a:cs typeface="Calibri" pitchFamily="34" charset="-120"/>
              </a:rPr>
              <a:t>POSITIONING</a:t>
            </a:r>
            <a:endParaRPr lang="en-US" sz="1100" dirty="0"/>
          </a:p>
        </p:txBody>
      </p:sp>
      <p:sp>
        <p:nvSpPr>
          <p:cNvPr id="3" name="Text 1"/>
          <p:cNvSpPr/>
          <p:nvPr/>
        </p:nvSpPr>
        <p:spPr>
          <a:xfrm>
            <a:off x="548640" y="566928"/>
            <a:ext cx="11064240" cy="658368"/>
          </a:xfrm>
          <a:prstGeom prst="rect">
            <a:avLst/>
          </a:prstGeom>
          <a:noFill/>
          <a:ln/>
        </p:spPr>
        <p:txBody>
          <a:bodyPr wrap="square" lIns="0" tIns="0" rIns="0" bIns="0" rtlCol="0" anchor="t"/>
          <a:lstStyle/>
          <a:p>
            <a:pPr indent="0" marL="0">
              <a:buNone/>
            </a:pPr>
            <a:r>
              <a:rPr lang="en-US" sz="3000" b="1" dirty="0">
                <a:solidFill>
                  <a:srgbClr val="0E1E3C"/>
                </a:solidFill>
                <a:latin typeface="Cambria" pitchFamily="34" charset="0"/>
                <a:ea typeface="Cambria" pitchFamily="34" charset="-122"/>
                <a:cs typeface="Cambria" pitchFamily="34" charset="-120"/>
              </a:rPr>
              <a:t>Tapi kami jujur: tidak semua bagian KD masih menarik</a:t>
            </a:r>
            <a:endParaRPr lang="en-US" sz="3000" dirty="0"/>
          </a:p>
        </p:txBody>
      </p:sp>
      <p:sp>
        <p:nvSpPr>
          <p:cNvPr id="4" name="Shape 2"/>
          <p:cNvSpPr/>
          <p:nvPr/>
        </p:nvSpPr>
        <p:spPr>
          <a:xfrm>
            <a:off x="548640" y="1645920"/>
            <a:ext cx="5394960" cy="3154680"/>
          </a:xfrm>
          <a:prstGeom prst="roundRect">
            <a:avLst>
              <a:gd name="adj" fmla="val 2319"/>
            </a:avLst>
          </a:prstGeom>
          <a:solidFill>
            <a:srgbClr val="F2F4F8"/>
          </a:solidFill>
          <a:ln w="12700">
            <a:solidFill>
              <a:srgbClr val="F2F4F8"/>
            </a:solidFill>
            <a:prstDash val="solid"/>
          </a:ln>
        </p:spPr>
      </p:sp>
      <p:sp>
        <p:nvSpPr>
          <p:cNvPr id="5" name="Text 3"/>
          <p:cNvSpPr/>
          <p:nvPr/>
        </p:nvSpPr>
        <p:spPr>
          <a:xfrm>
            <a:off x="868680" y="1874520"/>
            <a:ext cx="4572000" cy="411480"/>
          </a:xfrm>
          <a:prstGeom prst="rect">
            <a:avLst/>
          </a:prstGeom>
          <a:noFill/>
          <a:ln/>
        </p:spPr>
        <p:txBody>
          <a:bodyPr wrap="square" lIns="0" tIns="0" rIns="0" bIns="0" rtlCol="0" anchor="ctr"/>
          <a:lstStyle/>
          <a:p>
            <a:pPr indent="0" marL="0">
              <a:buNone/>
            </a:pPr>
            <a:r>
              <a:rPr lang="en-US" sz="1900" b="1" dirty="0">
                <a:solidFill>
                  <a:srgbClr val="898781"/>
                </a:solidFill>
                <a:latin typeface="Cambria" pitchFamily="34" charset="0"/>
                <a:ea typeface="Cambria" pitchFamily="34" charset="-122"/>
                <a:cs typeface="Cambria" pitchFamily="34" charset="-120"/>
              </a:rPr>
              <a:t>Sudah jenuh</a:t>
            </a:r>
            <a:endParaRPr lang="en-US" sz="1900" dirty="0"/>
          </a:p>
        </p:txBody>
      </p:sp>
      <p:sp>
        <p:nvSpPr>
          <p:cNvPr id="6" name="Text 4"/>
          <p:cNvSpPr/>
          <p:nvPr/>
        </p:nvSpPr>
        <p:spPr>
          <a:xfrm>
            <a:off x="868680" y="2395728"/>
            <a:ext cx="4754880" cy="2926080"/>
          </a:xfrm>
          <a:prstGeom prst="rect">
            <a:avLst/>
          </a:prstGeom>
          <a:noFill/>
          <a:ln/>
        </p:spPr>
        <p:txBody>
          <a:bodyPr wrap="square" lIns="0" tIns="0" rIns="0" bIns="0" rtlCol="0" anchor="t"/>
          <a:lstStyle/>
          <a:p>
            <a:pPr marL="342900" indent="-342900">
              <a:spcAft>
                <a:spcPts val="1200"/>
              </a:spcAft>
              <a:buSzPct val="100000"/>
              <a:buChar char="•"/>
            </a:pPr>
            <a:r>
              <a:rPr lang="en-US" sz="1300" dirty="0">
                <a:solidFill>
                  <a:srgbClr val="52514E"/>
                </a:solidFill>
                <a:latin typeface="Calibri" pitchFamily="34" charset="0"/>
                <a:ea typeface="Calibri" pitchFamily="34" charset="-122"/>
                <a:cs typeface="Calibri" pitchFamily="34" charset="-120"/>
              </a:rPr>
              <a:t>Distilasi generik model besar ke model kecil di benchmark standar seperti COCO</a:t>
            </a:r>
            <a:endParaRPr lang="en-US" sz="1300" dirty="0"/>
          </a:p>
          <a:p>
            <a:pPr marL="342900" indent="-342900">
              <a:spcAft>
                <a:spcPts val="1200"/>
              </a:spcAft>
              <a:buSzPct val="100000"/>
              <a:buChar char="•"/>
            </a:pPr>
            <a:r>
              <a:rPr lang="en-US" sz="1300" dirty="0">
                <a:solidFill>
                  <a:srgbClr val="52514E"/>
                </a:solidFill>
                <a:latin typeface="Calibri" pitchFamily="34" charset="0"/>
                <a:ea typeface="Calibri" pitchFamily="34" charset="-122"/>
                <a:cs typeface="Calibri" pitchFamily="34" charset="-120"/>
              </a:rPr>
              <a:t>Menambahkan satu loss term baru lalu melaporkan kenaikan mAP sepersekian persen</a:t>
            </a:r>
            <a:endParaRPr lang="en-US" sz="1300" dirty="0"/>
          </a:p>
          <a:p>
            <a:pPr marL="342900" indent="-342900">
              <a:spcAft>
                <a:spcPts val="1200"/>
              </a:spcAft>
              <a:buSzPct val="100000"/>
              <a:buChar char="•"/>
            </a:pPr>
            <a:r>
              <a:rPr lang="en-US" sz="1300" dirty="0">
                <a:solidFill>
                  <a:srgbClr val="52514E"/>
                </a:solidFill>
                <a:latin typeface="Calibri" pitchFamily="34" charset="0"/>
                <a:ea typeface="Calibri" pitchFamily="34" charset="-122"/>
                <a:cs typeface="Calibri" pitchFamily="34" charset="-120"/>
              </a:rPr>
              <a:t>Klaim novelty hanya karena ganti dataset atau ganti backbone</a:t>
            </a:r>
            <a:endParaRPr lang="en-US" sz="1300" dirty="0"/>
          </a:p>
        </p:txBody>
      </p:sp>
      <p:sp>
        <p:nvSpPr>
          <p:cNvPr id="7" name="Shape 5"/>
          <p:cNvSpPr/>
          <p:nvPr/>
        </p:nvSpPr>
        <p:spPr>
          <a:xfrm>
            <a:off x="6217920" y="1645920"/>
            <a:ext cx="5394960" cy="3154680"/>
          </a:xfrm>
          <a:prstGeom prst="roundRect">
            <a:avLst>
              <a:gd name="adj" fmla="val 2319"/>
            </a:avLst>
          </a:prstGeom>
          <a:solidFill>
            <a:srgbClr val="0E1E3C"/>
          </a:solidFill>
          <a:ln w="12700">
            <a:solidFill>
              <a:srgbClr val="0E1E3C"/>
            </a:solidFill>
            <a:prstDash val="solid"/>
          </a:ln>
        </p:spPr>
      </p:sp>
      <p:sp>
        <p:nvSpPr>
          <p:cNvPr id="8" name="Text 6"/>
          <p:cNvSpPr/>
          <p:nvPr/>
        </p:nvSpPr>
        <p:spPr>
          <a:xfrm>
            <a:off x="6537960" y="1874520"/>
            <a:ext cx="4572000" cy="411480"/>
          </a:xfrm>
          <a:prstGeom prst="rect">
            <a:avLst/>
          </a:prstGeom>
          <a:noFill/>
          <a:ln/>
        </p:spPr>
        <p:txBody>
          <a:bodyPr wrap="square" lIns="0" tIns="0" rIns="0" bIns="0" rtlCol="0" anchor="ctr"/>
          <a:lstStyle/>
          <a:p>
            <a:pPr indent="0" marL="0">
              <a:buNone/>
            </a:pPr>
            <a:r>
              <a:rPr lang="en-US" sz="1900" b="1" dirty="0">
                <a:solidFill>
                  <a:srgbClr val="EB6834"/>
                </a:solidFill>
                <a:latin typeface="Cambria" pitchFamily="34" charset="0"/>
                <a:ea typeface="Cambria" pitchFamily="34" charset="-122"/>
                <a:cs typeface="Cambria" pitchFamily="34" charset="-120"/>
              </a:rPr>
              <a:t>Masih terbuka</a:t>
            </a:r>
            <a:endParaRPr lang="en-US" sz="1900" dirty="0"/>
          </a:p>
        </p:txBody>
      </p:sp>
      <p:sp>
        <p:nvSpPr>
          <p:cNvPr id="9" name="Text 7"/>
          <p:cNvSpPr/>
          <p:nvPr/>
        </p:nvSpPr>
        <p:spPr>
          <a:xfrm>
            <a:off x="6537960" y="2395728"/>
            <a:ext cx="4754880" cy="2926080"/>
          </a:xfrm>
          <a:prstGeom prst="rect">
            <a:avLst/>
          </a:prstGeom>
          <a:noFill/>
          <a:ln/>
        </p:spPr>
        <p:txBody>
          <a:bodyPr wrap="square" lIns="0" tIns="0" rIns="0" bIns="0" rtlCol="0" anchor="t"/>
          <a:lstStyle/>
          <a:p>
            <a:pPr marL="342900" indent="-342900">
              <a:spcAft>
                <a:spcPts val="1200"/>
              </a:spcAft>
              <a:buSzPct val="100000"/>
              <a:buChar char="•"/>
            </a:pPr>
            <a:r>
              <a:rPr lang="en-US" sz="1300" dirty="0">
                <a:solidFill>
                  <a:srgbClr val="FFFFFF"/>
                </a:solidFill>
                <a:latin typeface="Calibri" pitchFamily="34" charset="0"/>
                <a:ea typeface="Calibri" pitchFamily="34" charset="-122"/>
                <a:cs typeface="Calibri" pitchFamily="34" charset="-120"/>
              </a:rPr>
              <a:t>Distilasi di bawah pergeseran domain, misalnya perubahan kondisi cahaya</a:t>
            </a:r>
            <a:endParaRPr lang="en-US" sz="1300" dirty="0"/>
          </a:p>
          <a:p>
            <a:pPr marL="342900" indent="-342900">
              <a:spcAft>
                <a:spcPts val="1200"/>
              </a:spcAft>
              <a:buSzPct val="100000"/>
              <a:buChar char="•"/>
            </a:pPr>
            <a:r>
              <a:rPr lang="en-US" sz="1300" dirty="0">
                <a:solidFill>
                  <a:srgbClr val="FFFFFF"/>
                </a:solidFill>
                <a:latin typeface="Calibri" pitchFamily="34" charset="0"/>
                <a:ea typeface="Calibri" pitchFamily="34" charset="-122"/>
                <a:cs typeface="Calibri" pitchFamily="34" charset="-120"/>
              </a:rPr>
              <a:t>Apa yang sebenarnya ditransfer saat guru sendiri ikut menurun kualitasnya</a:t>
            </a:r>
            <a:endParaRPr lang="en-US" sz="1300" dirty="0"/>
          </a:p>
          <a:p>
            <a:pPr marL="342900" indent="-342900">
              <a:spcAft>
                <a:spcPts val="1200"/>
              </a:spcAft>
              <a:buSzPct val="100000"/>
              <a:buChar char="•"/>
            </a:pPr>
            <a:r>
              <a:rPr lang="en-US" sz="1300" dirty="0">
                <a:solidFill>
                  <a:srgbClr val="FFFFFF"/>
                </a:solidFill>
                <a:latin typeface="Calibri" pitchFamily="34" charset="0"/>
                <a:ea typeface="Calibri" pitchFamily="34" charset="-122"/>
                <a:cs typeface="Calibri" pitchFamily="34" charset="-120"/>
              </a:rPr>
              <a:t>Distilasi yang dievaluasi per kondisi lingkungan, bukan satu angka rata rata</a:t>
            </a:r>
            <a:endParaRPr lang="en-US" sz="1300" dirty="0"/>
          </a:p>
          <a:p>
            <a:pPr marL="342900" indent="-342900">
              <a:spcAft>
                <a:spcPts val="1200"/>
              </a:spcAft>
              <a:buSzPct val="100000"/>
              <a:buChar char="•"/>
            </a:pPr>
            <a:r>
              <a:rPr lang="en-US" sz="1300" dirty="0">
                <a:solidFill>
                  <a:srgbClr val="FFFFFF"/>
                </a:solidFill>
                <a:latin typeface="Calibri" pitchFamily="34" charset="0"/>
                <a:ea typeface="Calibri" pitchFamily="34" charset="-122"/>
                <a:cs typeface="Calibri" pitchFamily="34" charset="-120"/>
              </a:rPr>
              <a:t>Reproducibility, karena mayoritas paper YOLO hanya melaporkan satu kali training</a:t>
            </a:r>
            <a:endParaRPr lang="en-US" sz="1300" dirty="0"/>
          </a:p>
        </p:txBody>
      </p:sp>
      <p:sp>
        <p:nvSpPr>
          <p:cNvPr id="10" name="Text 8"/>
          <p:cNvSpPr/>
          <p:nvPr/>
        </p:nvSpPr>
        <p:spPr>
          <a:xfrm>
            <a:off x="548640" y="5074920"/>
            <a:ext cx="11064240" cy="411480"/>
          </a:xfrm>
          <a:prstGeom prst="rect">
            <a:avLst/>
          </a:prstGeom>
          <a:noFill/>
          <a:ln/>
        </p:spPr>
        <p:txBody>
          <a:bodyPr wrap="square" lIns="0" tIns="0" rIns="0" bIns="0" rtlCol="0" anchor="ctr"/>
          <a:lstStyle/>
          <a:p>
            <a:pPr indent="0" marL="0">
              <a:buNone/>
            </a:pPr>
            <a:r>
              <a:rPr lang="en-US" sz="1500" b="1" i="1" dirty="0">
                <a:solidFill>
                  <a:srgbClr val="0E1E3C"/>
                </a:solidFill>
                <a:latin typeface="Calibri" pitchFamily="34" charset="0"/>
                <a:ea typeface="Calibri" pitchFamily="34" charset="-122"/>
                <a:cs typeface="Calibri" pitchFamily="34" charset="-120"/>
              </a:rPr>
              <a:t>Penelitian kami berdiri di kolom kanan, bukan kolom kiri.</a:t>
            </a:r>
            <a:endParaRPr lang="en-US" sz="1500" dirty="0"/>
          </a:p>
        </p:txBody>
      </p:sp>
      <p:sp>
        <p:nvSpPr>
          <p:cNvPr id="11" name="Text 9"/>
          <p:cNvSpPr/>
          <p:nvPr/>
        </p:nvSpPr>
        <p:spPr>
          <a:xfrm>
            <a:off x="11430000" y="6355080"/>
            <a:ext cx="411480" cy="274320"/>
          </a:xfrm>
          <a:prstGeom prst="rect">
            <a:avLst/>
          </a:prstGeom>
          <a:noFill/>
          <a:ln/>
        </p:spPr>
        <p:txBody>
          <a:bodyPr wrap="square" lIns="0" tIns="0" rIns="0" bIns="0" rtlCol="0" anchor="ctr"/>
          <a:lstStyle/>
          <a:p>
            <a:pPr algn="r" indent="0" marL="0">
              <a:buNone/>
            </a:pPr>
            <a:r>
              <a:rPr lang="en-US" sz="1000" dirty="0">
                <a:solidFill>
                  <a:srgbClr val="898781"/>
                </a:solidFill>
                <a:latin typeface="Calibri" pitchFamily="34" charset="0"/>
                <a:ea typeface="Calibri" pitchFamily="34" charset="-122"/>
                <a:cs typeface="Calibri" pitchFamily="34" charset="-120"/>
              </a:rPr>
              <a:t>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10896"/>
            <a:ext cx="8229600" cy="256032"/>
          </a:xfrm>
          <a:prstGeom prst="rect">
            <a:avLst/>
          </a:prstGeom>
          <a:noFill/>
          <a:ln/>
        </p:spPr>
        <p:txBody>
          <a:bodyPr wrap="square" lIns="0" tIns="0" rIns="0" bIns="0" rtlCol="0" anchor="ctr"/>
          <a:lstStyle/>
          <a:p>
            <a:pPr indent="0" marL="0">
              <a:buNone/>
            </a:pPr>
            <a:r>
              <a:rPr lang="en-US" sz="1100" b="1" spc="160" kern="0" dirty="0">
                <a:solidFill>
                  <a:srgbClr val="EB6834"/>
                </a:solidFill>
                <a:latin typeface="Calibri" pitchFamily="34" charset="0"/>
                <a:ea typeface="Calibri" pitchFamily="34" charset="-122"/>
                <a:cs typeface="Calibri" pitchFamily="34" charset="-120"/>
              </a:rPr>
              <a:t>RESEARCH GAP</a:t>
            </a:r>
            <a:endParaRPr lang="en-US" sz="1100" dirty="0"/>
          </a:p>
        </p:txBody>
      </p:sp>
      <p:sp>
        <p:nvSpPr>
          <p:cNvPr id="3" name="Text 1"/>
          <p:cNvSpPr/>
          <p:nvPr/>
        </p:nvSpPr>
        <p:spPr>
          <a:xfrm>
            <a:off x="548640" y="566928"/>
            <a:ext cx="11064240" cy="658368"/>
          </a:xfrm>
          <a:prstGeom prst="rect">
            <a:avLst/>
          </a:prstGeom>
          <a:noFill/>
          <a:ln/>
        </p:spPr>
        <p:txBody>
          <a:bodyPr wrap="square" lIns="0" tIns="0" rIns="0" bIns="0" rtlCol="0" anchor="t"/>
          <a:lstStyle/>
          <a:p>
            <a:pPr indent="0" marL="0">
              <a:buNone/>
            </a:pPr>
            <a:r>
              <a:rPr lang="en-US" sz="3000" b="1" dirty="0">
                <a:solidFill>
                  <a:srgbClr val="0E1E3C"/>
                </a:solidFill>
                <a:latin typeface="Cambria" pitchFamily="34" charset="0"/>
                <a:ea typeface="Cambria" pitchFamily="34" charset="-122"/>
                <a:cs typeface="Cambria" pitchFamily="34" charset="-120"/>
              </a:rPr>
              <a:t>Celah yang kami isi</a:t>
            </a:r>
            <a:endParaRPr lang="en-US" sz="3000" dirty="0"/>
          </a:p>
        </p:txBody>
      </p:sp>
      <p:sp>
        <p:nvSpPr>
          <p:cNvPr id="4" name="Shape 2"/>
          <p:cNvSpPr/>
          <p:nvPr/>
        </p:nvSpPr>
        <p:spPr>
          <a:xfrm>
            <a:off x="548640" y="1554480"/>
            <a:ext cx="11064240" cy="1234440"/>
          </a:xfrm>
          <a:prstGeom prst="roundRect">
            <a:avLst>
              <a:gd name="adj" fmla="val 5926"/>
            </a:avLst>
          </a:prstGeom>
          <a:solidFill>
            <a:srgbClr val="0E1E3C"/>
          </a:solidFill>
          <a:ln w="12700">
            <a:solidFill>
              <a:srgbClr val="0E1E3C"/>
            </a:solidFill>
            <a:prstDash val="solid"/>
          </a:ln>
        </p:spPr>
      </p:sp>
      <p:sp>
        <p:nvSpPr>
          <p:cNvPr id="5" name="Text 3"/>
          <p:cNvSpPr/>
          <p:nvPr/>
        </p:nvSpPr>
        <p:spPr>
          <a:xfrm>
            <a:off x="914400" y="1755648"/>
            <a:ext cx="10332720" cy="868680"/>
          </a:xfrm>
          <a:prstGeom prst="rect">
            <a:avLst/>
          </a:prstGeom>
          <a:noFill/>
          <a:ln/>
        </p:spPr>
        <p:txBody>
          <a:bodyPr wrap="square" lIns="0" tIns="0" rIns="0" bIns="0" rtlCol="0" anchor="ctr"/>
          <a:lstStyle/>
          <a:p>
            <a:pPr indent="0" marL="0">
              <a:lnSpc>
                <a:spcPts val="2400"/>
              </a:lnSpc>
              <a:buNone/>
            </a:pPr>
            <a:r>
              <a:rPr lang="en-US" sz="1550" dirty="0">
                <a:solidFill>
                  <a:srgbClr val="FFFFFF"/>
                </a:solidFill>
                <a:latin typeface="Calibri" pitchFamily="34" charset="0"/>
                <a:ea typeface="Calibri" pitchFamily="34" charset="-122"/>
                <a:cs typeface="Calibri" pitchFamily="34" charset="-120"/>
              </a:rPr>
              <a:t>Semua paper yang kami baca melaporkan satu angka mAP gabungan. Tidak ada yang menjadikan besarnya penurunan siang ke malam sebagai metrik yang dioptimasi dan dilaporkan untuk detektor ringan.</a:t>
            </a:r>
            <a:endParaRPr lang="en-US" sz="1550" dirty="0"/>
          </a:p>
        </p:txBody>
      </p:sp>
      <p:sp>
        <p:nvSpPr>
          <p:cNvPr id="6" name="Shape 4"/>
          <p:cNvSpPr/>
          <p:nvPr/>
        </p:nvSpPr>
        <p:spPr>
          <a:xfrm>
            <a:off x="548640" y="2971800"/>
            <a:ext cx="11064240" cy="868680"/>
          </a:xfrm>
          <a:prstGeom prst="roundRect">
            <a:avLst>
              <a:gd name="adj" fmla="val 8421"/>
            </a:avLst>
          </a:prstGeom>
          <a:solidFill>
            <a:srgbClr val="F2F4F8"/>
          </a:solidFill>
          <a:ln w="12700">
            <a:solidFill>
              <a:srgbClr val="F2F4F8"/>
            </a:solidFill>
            <a:prstDash val="solid"/>
          </a:ln>
        </p:spPr>
      </p:sp>
      <p:sp>
        <p:nvSpPr>
          <p:cNvPr id="7" name="Text 5"/>
          <p:cNvSpPr/>
          <p:nvPr/>
        </p:nvSpPr>
        <p:spPr>
          <a:xfrm>
            <a:off x="868680" y="3246120"/>
            <a:ext cx="914400" cy="365760"/>
          </a:xfrm>
          <a:prstGeom prst="rect">
            <a:avLst/>
          </a:prstGeom>
          <a:noFill/>
          <a:ln/>
        </p:spPr>
        <p:txBody>
          <a:bodyPr wrap="square" lIns="0" tIns="0" rIns="0" bIns="0" rtlCol="0" anchor="ctr"/>
          <a:lstStyle/>
          <a:p>
            <a:pPr indent="0" marL="0">
              <a:buNone/>
            </a:pPr>
            <a:r>
              <a:rPr lang="en-US" sz="1500" b="1" dirty="0">
                <a:solidFill>
                  <a:srgbClr val="EB6834"/>
                </a:solidFill>
                <a:latin typeface="Cambria" pitchFamily="34" charset="0"/>
                <a:ea typeface="Cambria" pitchFamily="34" charset="-122"/>
                <a:cs typeface="Cambria" pitchFamily="34" charset="-120"/>
              </a:rPr>
              <a:t>RQ 1</a:t>
            </a:r>
            <a:endParaRPr lang="en-US" sz="1500" dirty="0"/>
          </a:p>
        </p:txBody>
      </p:sp>
      <p:sp>
        <p:nvSpPr>
          <p:cNvPr id="8" name="Text 6"/>
          <p:cNvSpPr/>
          <p:nvPr/>
        </p:nvSpPr>
        <p:spPr>
          <a:xfrm>
            <a:off x="1920240" y="3172968"/>
            <a:ext cx="9418320" cy="548640"/>
          </a:xfrm>
          <a:prstGeom prst="rect">
            <a:avLst/>
          </a:prstGeom>
          <a:noFill/>
          <a:ln/>
        </p:spPr>
        <p:txBody>
          <a:bodyPr wrap="square" lIns="0" tIns="0" rIns="0" bIns="0" rtlCol="0" anchor="ctr"/>
          <a:lstStyle/>
          <a:p>
            <a:pPr indent="0" marL="0">
              <a:buNone/>
            </a:pPr>
            <a:r>
              <a:rPr lang="en-US" sz="1350" dirty="0">
                <a:solidFill>
                  <a:srgbClr val="0B0B0B"/>
                </a:solidFill>
                <a:latin typeface="Calibri" pitchFamily="34" charset="0"/>
                <a:ea typeface="Calibri" pitchFamily="34" charset="-122"/>
                <a:cs typeface="Calibri" pitchFamily="34" charset="-120"/>
              </a:rPr>
              <a:t>Apakah knowledge distillation dapat memperkecil penurunan performa siang ke malam pada detektor ringan, dan seberapa besar?</a:t>
            </a:r>
            <a:endParaRPr lang="en-US" sz="1350" dirty="0"/>
          </a:p>
        </p:txBody>
      </p:sp>
      <p:sp>
        <p:nvSpPr>
          <p:cNvPr id="9" name="Shape 7"/>
          <p:cNvSpPr/>
          <p:nvPr/>
        </p:nvSpPr>
        <p:spPr>
          <a:xfrm>
            <a:off x="548640" y="3977640"/>
            <a:ext cx="11064240" cy="868680"/>
          </a:xfrm>
          <a:prstGeom prst="roundRect">
            <a:avLst>
              <a:gd name="adj" fmla="val 8421"/>
            </a:avLst>
          </a:prstGeom>
          <a:solidFill>
            <a:srgbClr val="F2F4F8"/>
          </a:solidFill>
          <a:ln w="12700">
            <a:solidFill>
              <a:srgbClr val="F2F4F8"/>
            </a:solidFill>
            <a:prstDash val="solid"/>
          </a:ln>
        </p:spPr>
      </p:sp>
      <p:sp>
        <p:nvSpPr>
          <p:cNvPr id="10" name="Text 8"/>
          <p:cNvSpPr/>
          <p:nvPr/>
        </p:nvSpPr>
        <p:spPr>
          <a:xfrm>
            <a:off x="868680" y="4251960"/>
            <a:ext cx="914400" cy="365760"/>
          </a:xfrm>
          <a:prstGeom prst="rect">
            <a:avLst/>
          </a:prstGeom>
          <a:noFill/>
          <a:ln/>
        </p:spPr>
        <p:txBody>
          <a:bodyPr wrap="square" lIns="0" tIns="0" rIns="0" bIns="0" rtlCol="0" anchor="ctr"/>
          <a:lstStyle/>
          <a:p>
            <a:pPr indent="0" marL="0">
              <a:buNone/>
            </a:pPr>
            <a:r>
              <a:rPr lang="en-US" sz="1500" b="1" dirty="0">
                <a:solidFill>
                  <a:srgbClr val="EB6834"/>
                </a:solidFill>
                <a:latin typeface="Cambria" pitchFamily="34" charset="0"/>
                <a:ea typeface="Cambria" pitchFamily="34" charset="-122"/>
                <a:cs typeface="Cambria" pitchFamily="34" charset="-120"/>
              </a:rPr>
              <a:t>RQ 2</a:t>
            </a:r>
            <a:endParaRPr lang="en-US" sz="1500" dirty="0"/>
          </a:p>
        </p:txBody>
      </p:sp>
      <p:sp>
        <p:nvSpPr>
          <p:cNvPr id="11" name="Text 9"/>
          <p:cNvSpPr/>
          <p:nvPr/>
        </p:nvSpPr>
        <p:spPr>
          <a:xfrm>
            <a:off x="1920240" y="4178808"/>
            <a:ext cx="9418320" cy="548640"/>
          </a:xfrm>
          <a:prstGeom prst="rect">
            <a:avLst/>
          </a:prstGeom>
          <a:noFill/>
          <a:ln/>
        </p:spPr>
        <p:txBody>
          <a:bodyPr wrap="square" lIns="0" tIns="0" rIns="0" bIns="0" rtlCol="0" anchor="ctr"/>
          <a:lstStyle/>
          <a:p>
            <a:pPr indent="0" marL="0">
              <a:buNone/>
            </a:pPr>
            <a:r>
              <a:rPr lang="en-US" sz="1350" dirty="0">
                <a:solidFill>
                  <a:srgbClr val="0B0B0B"/>
                </a:solidFill>
                <a:latin typeface="Calibri" pitchFamily="34" charset="0"/>
                <a:ea typeface="Calibri" pitchFamily="34" charset="-122"/>
                <a:cs typeface="Calibri" pitchFamily="34" charset="-120"/>
              </a:rPr>
              <a:t>Komponen distilasi mana yang benar benar menyumbang ketahanan terhadap kondisi gelap?</a:t>
            </a:r>
            <a:endParaRPr lang="en-US" sz="1350" dirty="0"/>
          </a:p>
        </p:txBody>
      </p:sp>
      <p:sp>
        <p:nvSpPr>
          <p:cNvPr id="12" name="Shape 10"/>
          <p:cNvSpPr/>
          <p:nvPr/>
        </p:nvSpPr>
        <p:spPr>
          <a:xfrm>
            <a:off x="548640" y="4983480"/>
            <a:ext cx="11064240" cy="868680"/>
          </a:xfrm>
          <a:prstGeom prst="roundRect">
            <a:avLst>
              <a:gd name="adj" fmla="val 8421"/>
            </a:avLst>
          </a:prstGeom>
          <a:solidFill>
            <a:srgbClr val="F2F4F8"/>
          </a:solidFill>
          <a:ln w="12700">
            <a:solidFill>
              <a:srgbClr val="F2F4F8"/>
            </a:solidFill>
            <a:prstDash val="solid"/>
          </a:ln>
        </p:spPr>
      </p:sp>
      <p:sp>
        <p:nvSpPr>
          <p:cNvPr id="13" name="Text 11"/>
          <p:cNvSpPr/>
          <p:nvPr/>
        </p:nvSpPr>
        <p:spPr>
          <a:xfrm>
            <a:off x="868680" y="5257800"/>
            <a:ext cx="914400" cy="365760"/>
          </a:xfrm>
          <a:prstGeom prst="rect">
            <a:avLst/>
          </a:prstGeom>
          <a:noFill/>
          <a:ln/>
        </p:spPr>
        <p:txBody>
          <a:bodyPr wrap="square" lIns="0" tIns="0" rIns="0" bIns="0" rtlCol="0" anchor="ctr"/>
          <a:lstStyle/>
          <a:p>
            <a:pPr indent="0" marL="0">
              <a:buNone/>
            </a:pPr>
            <a:r>
              <a:rPr lang="en-US" sz="1500" b="1" dirty="0">
                <a:solidFill>
                  <a:srgbClr val="EB6834"/>
                </a:solidFill>
                <a:latin typeface="Cambria" pitchFamily="34" charset="0"/>
                <a:ea typeface="Cambria" pitchFamily="34" charset="-122"/>
                <a:cs typeface="Cambria" pitchFamily="34" charset="-120"/>
              </a:rPr>
              <a:t>RQ 3</a:t>
            </a:r>
            <a:endParaRPr lang="en-US" sz="1500" dirty="0"/>
          </a:p>
        </p:txBody>
      </p:sp>
      <p:sp>
        <p:nvSpPr>
          <p:cNvPr id="14" name="Text 12"/>
          <p:cNvSpPr/>
          <p:nvPr/>
        </p:nvSpPr>
        <p:spPr>
          <a:xfrm>
            <a:off x="1920240" y="5184648"/>
            <a:ext cx="9418320" cy="548640"/>
          </a:xfrm>
          <a:prstGeom prst="rect">
            <a:avLst/>
          </a:prstGeom>
          <a:noFill/>
          <a:ln/>
        </p:spPr>
        <p:txBody>
          <a:bodyPr wrap="square" lIns="0" tIns="0" rIns="0" bIns="0" rtlCol="0" anchor="ctr"/>
          <a:lstStyle/>
          <a:p>
            <a:pPr indent="0" marL="0">
              <a:buNone/>
            </a:pPr>
            <a:r>
              <a:rPr lang="en-US" sz="1350" dirty="0">
                <a:solidFill>
                  <a:srgbClr val="0B0B0B"/>
                </a:solidFill>
                <a:latin typeface="Calibri" pitchFamily="34" charset="0"/>
                <a:ea typeface="Calibri" pitchFamily="34" charset="-122"/>
                <a:cs typeface="Calibri" pitchFamily="34" charset="-120"/>
              </a:rPr>
              <a:t>Apakah perbaikannya konsisten antar training run, atau hanya kebetulan satu run?</a:t>
            </a:r>
            <a:endParaRPr lang="en-US" sz="1350" dirty="0"/>
          </a:p>
        </p:txBody>
      </p:sp>
      <p:sp>
        <p:nvSpPr>
          <p:cNvPr id="15" name="Text 13"/>
          <p:cNvSpPr/>
          <p:nvPr/>
        </p:nvSpPr>
        <p:spPr>
          <a:xfrm>
            <a:off x="548640" y="6053328"/>
            <a:ext cx="11064240" cy="411480"/>
          </a:xfrm>
          <a:prstGeom prst="rect">
            <a:avLst/>
          </a:prstGeom>
          <a:noFill/>
          <a:ln/>
        </p:spPr>
        <p:txBody>
          <a:bodyPr wrap="square" lIns="0" tIns="0" rIns="0" bIns="0" rtlCol="0" anchor="ctr"/>
          <a:lstStyle/>
          <a:p>
            <a:pPr indent="0" marL="0">
              <a:buNone/>
            </a:pPr>
            <a:r>
              <a:rPr lang="en-US" sz="1400" i="1" dirty="0">
                <a:solidFill>
                  <a:srgbClr val="0E1E3C"/>
                </a:solidFill>
                <a:latin typeface="Calibri" pitchFamily="34" charset="0"/>
                <a:ea typeface="Calibri" pitchFamily="34" charset="-122"/>
                <a:cs typeface="Calibri" pitchFamily="34" charset="-120"/>
              </a:rPr>
              <a:t>Tujuan: membangun student ringan yang penurunannya saat gelap lebih kecil daripada baseline maupun gurunya sendiri.</a:t>
            </a:r>
            <a:endParaRPr lang="en-US" sz="1400" dirty="0"/>
          </a:p>
        </p:txBody>
      </p:sp>
      <p:sp>
        <p:nvSpPr>
          <p:cNvPr id="16" name="Text 14"/>
          <p:cNvSpPr/>
          <p:nvPr/>
        </p:nvSpPr>
        <p:spPr>
          <a:xfrm>
            <a:off x="11430000" y="6355080"/>
            <a:ext cx="411480" cy="274320"/>
          </a:xfrm>
          <a:prstGeom prst="rect">
            <a:avLst/>
          </a:prstGeom>
          <a:noFill/>
          <a:ln/>
        </p:spPr>
        <p:txBody>
          <a:bodyPr wrap="square" lIns="0" tIns="0" rIns="0" bIns="0" rtlCol="0" anchor="ctr"/>
          <a:lstStyle/>
          <a:p>
            <a:pPr algn="r" indent="0" marL="0">
              <a:buNone/>
            </a:pPr>
            <a:r>
              <a:rPr lang="en-US" sz="1000" dirty="0">
                <a:solidFill>
                  <a:srgbClr val="898781"/>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10896"/>
            <a:ext cx="8229600" cy="256032"/>
          </a:xfrm>
          <a:prstGeom prst="rect">
            <a:avLst/>
          </a:prstGeom>
          <a:noFill/>
          <a:ln/>
        </p:spPr>
        <p:txBody>
          <a:bodyPr wrap="square" lIns="0" tIns="0" rIns="0" bIns="0" rtlCol="0" anchor="ctr"/>
          <a:lstStyle/>
          <a:p>
            <a:pPr indent="0" marL="0">
              <a:buNone/>
            </a:pPr>
            <a:r>
              <a:rPr lang="en-US" sz="1100" b="1" spc="160" kern="0" dirty="0">
                <a:solidFill>
                  <a:srgbClr val="EB6834"/>
                </a:solidFill>
                <a:latin typeface="Calibri" pitchFamily="34" charset="0"/>
                <a:ea typeface="Calibri" pitchFamily="34" charset="-122"/>
                <a:cs typeface="Calibri" pitchFamily="34" charset="-120"/>
              </a:rPr>
              <a:t>METODOLOGI</a:t>
            </a:r>
            <a:endParaRPr lang="en-US" sz="1100" dirty="0"/>
          </a:p>
        </p:txBody>
      </p:sp>
      <p:sp>
        <p:nvSpPr>
          <p:cNvPr id="3" name="Text 1"/>
          <p:cNvSpPr/>
          <p:nvPr/>
        </p:nvSpPr>
        <p:spPr>
          <a:xfrm>
            <a:off x="548640" y="566928"/>
            <a:ext cx="11064240" cy="658368"/>
          </a:xfrm>
          <a:prstGeom prst="rect">
            <a:avLst/>
          </a:prstGeom>
          <a:noFill/>
          <a:ln/>
        </p:spPr>
        <p:txBody>
          <a:bodyPr wrap="square" lIns="0" tIns="0" rIns="0" bIns="0" rtlCol="0" anchor="t"/>
          <a:lstStyle/>
          <a:p>
            <a:pPr indent="0" marL="0">
              <a:buNone/>
            </a:pPr>
            <a:r>
              <a:rPr lang="en-US" sz="3000" b="1" dirty="0">
                <a:solidFill>
                  <a:srgbClr val="0E1E3C"/>
                </a:solidFill>
                <a:latin typeface="Cambria" pitchFamily="34" charset="0"/>
                <a:ea typeface="Cambria" pitchFamily="34" charset="-122"/>
                <a:cs typeface="Cambria" pitchFamily="34" charset="-120"/>
              </a:rPr>
              <a:t>Dataset dan pembagian data</a:t>
            </a:r>
            <a:endParaRPr lang="en-US" sz="3000" dirty="0"/>
          </a:p>
        </p:txBody>
      </p:sp>
      <p:sp>
        <p:nvSpPr>
          <p:cNvPr id="4" name="Text 2"/>
          <p:cNvSpPr/>
          <p:nvPr/>
        </p:nvSpPr>
        <p:spPr>
          <a:xfrm>
            <a:off x="548640" y="1554480"/>
            <a:ext cx="11064240" cy="640080"/>
          </a:xfrm>
          <a:prstGeom prst="rect">
            <a:avLst/>
          </a:prstGeom>
          <a:noFill/>
          <a:ln/>
        </p:spPr>
        <p:txBody>
          <a:bodyPr wrap="square" lIns="0" tIns="0" rIns="0" bIns="0" rtlCol="0" anchor="ctr"/>
          <a:lstStyle/>
          <a:p>
            <a:pPr indent="0" marL="0">
              <a:buNone/>
            </a:pPr>
            <a:r>
              <a:rPr lang="en-US" sz="1400" dirty="0">
                <a:solidFill>
                  <a:srgbClr val="52514E"/>
                </a:solidFill>
                <a:latin typeface="Calibri" pitchFamily="34" charset="0"/>
                <a:ea typeface="Calibri" pitchFamily="34" charset="-122"/>
                <a:cs typeface="Calibri" pitchFamily="34" charset="-120"/>
              </a:rPr>
              <a:t>BDD100K, dataset mengemudi nyata dengan variasi cuaca, lokasi, dan waktu. Kami filter hanya untuk kategori waktu siang dan malam, lalu disamakan jumlahnya supaya perbandingan adil.</a:t>
            </a:r>
            <a:endParaRPr lang="en-US" sz="14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48640" y="2331720"/>
          <a:ext cx="6675120" cy="914400"/>
        </p:xfrm>
        <a:graphic>
          <a:graphicData uri="http://schemas.openxmlformats.org/drawingml/2006/table">
            <a:tbl>
              <a:tblPr/>
              <a:tblGrid>
                <a:gridCol w="2011680"/>
                <a:gridCol w="1554480"/>
                <a:gridCol w="1554480"/>
                <a:gridCol w="1554480"/>
              </a:tblGrid>
              <a:tr h="384048">
                <a:tc>
                  <a:txBody>
                    <a:bodyPr/>
                    <a:lstStyle/>
                    <a:p>
                      <a:pPr algn="l" indent="0" marL="0">
                        <a:buNone/>
                      </a:pPr>
                      <a:r>
                        <a:rPr lang="en-US" sz="1350" b="1" dirty="0">
                          <a:solidFill>
                            <a:srgbClr val="FFFFFF"/>
                          </a:solidFill>
                          <a:latin typeface="Calibri" pitchFamily="34" charset="0"/>
                          <a:ea typeface="Calibri" pitchFamily="34" charset="-122"/>
                          <a:cs typeface="Calibri" pitchFamily="34" charset="-120"/>
                        </a:rPr>
                        <a:t>Split</a:t>
                      </a:r>
                      <a:endParaRPr lang="en-US" sz="135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0E1E3C"/>
                    </a:solidFill>
                  </a:tcPr>
                </a:tc>
                <a:tc>
                  <a:txBody>
                    <a:bodyPr/>
                    <a:lstStyle/>
                    <a:p>
                      <a:pPr algn="ctr" indent="0" marL="0">
                        <a:buNone/>
                      </a:pPr>
                      <a:r>
                        <a:rPr lang="en-US" sz="1350" b="1" dirty="0">
                          <a:solidFill>
                            <a:srgbClr val="FFFFFF"/>
                          </a:solidFill>
                          <a:latin typeface="Calibri" pitchFamily="34" charset="0"/>
                          <a:ea typeface="Calibri" pitchFamily="34" charset="-122"/>
                          <a:cs typeface="Calibri" pitchFamily="34" charset="-120"/>
                        </a:rPr>
                        <a:t>Siang</a:t>
                      </a:r>
                      <a:endParaRPr lang="en-US" sz="135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0E1E3C"/>
                    </a:solidFill>
                  </a:tcPr>
                </a:tc>
                <a:tc>
                  <a:txBody>
                    <a:bodyPr/>
                    <a:lstStyle/>
                    <a:p>
                      <a:pPr algn="ctr" indent="0" marL="0">
                        <a:buNone/>
                      </a:pPr>
                      <a:r>
                        <a:rPr lang="en-US" sz="1350" b="1" dirty="0">
                          <a:solidFill>
                            <a:srgbClr val="FFFFFF"/>
                          </a:solidFill>
                          <a:latin typeface="Calibri" pitchFamily="34" charset="0"/>
                          <a:ea typeface="Calibri" pitchFamily="34" charset="-122"/>
                          <a:cs typeface="Calibri" pitchFamily="34" charset="-120"/>
                        </a:rPr>
                        <a:t>Malam</a:t>
                      </a:r>
                      <a:endParaRPr lang="en-US" sz="135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0E1E3C"/>
                    </a:solidFill>
                  </a:tcPr>
                </a:tc>
                <a:tc>
                  <a:txBody>
                    <a:bodyPr/>
                    <a:lstStyle/>
                    <a:p>
                      <a:pPr algn="ctr" indent="0" marL="0">
                        <a:buNone/>
                      </a:pPr>
                      <a:r>
                        <a:rPr lang="en-US" sz="1350" b="1" dirty="0">
                          <a:solidFill>
                            <a:srgbClr val="FFFFFF"/>
                          </a:solidFill>
                          <a:latin typeface="Calibri" pitchFamily="34" charset="0"/>
                          <a:ea typeface="Calibri" pitchFamily="34" charset="-122"/>
                          <a:cs typeface="Calibri" pitchFamily="34" charset="-120"/>
                        </a:rPr>
                        <a:t>Total</a:t>
                      </a:r>
                      <a:endParaRPr lang="en-US" sz="135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0E1E3C"/>
                    </a:solidFill>
                  </a:tcPr>
                </a:tc>
              </a:tr>
              <a:tr h="384048">
                <a:tc>
                  <a:txBody>
                    <a:bodyPr/>
                    <a:lstStyle/>
                    <a:p>
                      <a:pPr algn="l" indent="0" marL="0">
                        <a:buNone/>
                      </a:pPr>
                      <a:r>
                        <a:rPr lang="en-US" sz="1350" dirty="0">
                          <a:solidFill>
                            <a:srgbClr val="0B0B0B"/>
                          </a:solidFill>
                          <a:latin typeface="Calibri" pitchFamily="34" charset="0"/>
                          <a:ea typeface="Calibri" pitchFamily="34" charset="-122"/>
                          <a:cs typeface="Calibri" pitchFamily="34" charset="-120"/>
                        </a:rPr>
                        <a:t>Training</a:t>
                      </a:r>
                      <a:endParaRPr lang="en-US" sz="135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FFFFF"/>
                    </a:solidFill>
                  </a:tcPr>
                </a:tc>
                <a:tc>
                  <a:txBody>
                    <a:bodyPr/>
                    <a:lstStyle/>
                    <a:p>
                      <a:pPr algn="ctr" indent="0" marL="0">
                        <a:buNone/>
                      </a:pPr>
                      <a:r>
                        <a:rPr lang="en-US" sz="1350" dirty="0">
                          <a:solidFill>
                            <a:srgbClr val="0B0B0B"/>
                          </a:solidFill>
                          <a:latin typeface="Calibri" pitchFamily="34" charset="0"/>
                          <a:ea typeface="Calibri" pitchFamily="34" charset="-122"/>
                          <a:cs typeface="Calibri" pitchFamily="34" charset="-120"/>
                        </a:rPr>
                        <a:t>8.000</a:t>
                      </a:r>
                      <a:endParaRPr lang="en-US" sz="135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FFFFF"/>
                    </a:solidFill>
                  </a:tcPr>
                </a:tc>
                <a:tc>
                  <a:txBody>
                    <a:bodyPr/>
                    <a:lstStyle/>
                    <a:p>
                      <a:pPr algn="ctr" indent="0" marL="0">
                        <a:buNone/>
                      </a:pPr>
                      <a:r>
                        <a:rPr lang="en-US" sz="1350" dirty="0">
                          <a:solidFill>
                            <a:srgbClr val="0B0B0B"/>
                          </a:solidFill>
                          <a:latin typeface="Calibri" pitchFamily="34" charset="0"/>
                          <a:ea typeface="Calibri" pitchFamily="34" charset="-122"/>
                          <a:cs typeface="Calibri" pitchFamily="34" charset="-120"/>
                        </a:rPr>
                        <a:t>8.000</a:t>
                      </a:r>
                      <a:endParaRPr lang="en-US" sz="135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FFFFF"/>
                    </a:solidFill>
                  </a:tcPr>
                </a:tc>
                <a:tc>
                  <a:txBody>
                    <a:bodyPr/>
                    <a:lstStyle/>
                    <a:p>
                      <a:pPr algn="ctr" indent="0" marL="0">
                        <a:buNone/>
                      </a:pPr>
                      <a:r>
                        <a:rPr lang="en-US" sz="1350" dirty="0">
                          <a:solidFill>
                            <a:srgbClr val="0B0B0B"/>
                          </a:solidFill>
                          <a:latin typeface="Calibri" pitchFamily="34" charset="0"/>
                          <a:ea typeface="Calibri" pitchFamily="34" charset="-122"/>
                          <a:cs typeface="Calibri" pitchFamily="34" charset="-120"/>
                        </a:rPr>
                        <a:t>16.000</a:t>
                      </a:r>
                      <a:endParaRPr lang="en-US" sz="135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FFFFF"/>
                    </a:solidFill>
                  </a:tcPr>
                </a:tc>
              </a:tr>
              <a:tr h="384048">
                <a:tc>
                  <a:txBody>
                    <a:bodyPr/>
                    <a:lstStyle/>
                    <a:p>
                      <a:pPr algn="l" indent="0" marL="0">
                        <a:buNone/>
                      </a:pPr>
                      <a:r>
                        <a:rPr lang="en-US" sz="1350" dirty="0">
                          <a:solidFill>
                            <a:srgbClr val="0B0B0B"/>
                          </a:solidFill>
                          <a:latin typeface="Calibri" pitchFamily="34" charset="0"/>
                          <a:ea typeface="Calibri" pitchFamily="34" charset="-122"/>
                          <a:cs typeface="Calibri" pitchFamily="34" charset="-120"/>
                        </a:rPr>
                        <a:t>Validation</a:t>
                      </a:r>
                      <a:endParaRPr lang="en-US" sz="135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FFFFF"/>
                    </a:solidFill>
                  </a:tcPr>
                </a:tc>
                <a:tc>
                  <a:txBody>
                    <a:bodyPr/>
                    <a:lstStyle/>
                    <a:p>
                      <a:pPr algn="ctr" indent="0" marL="0">
                        <a:buNone/>
                      </a:pPr>
                      <a:r>
                        <a:rPr lang="en-US" sz="1350" dirty="0">
                          <a:solidFill>
                            <a:srgbClr val="0B0B0B"/>
                          </a:solidFill>
                          <a:latin typeface="Calibri" pitchFamily="34" charset="0"/>
                          <a:ea typeface="Calibri" pitchFamily="34" charset="-122"/>
                          <a:cs typeface="Calibri" pitchFamily="34" charset="-120"/>
                        </a:rPr>
                        <a:t>2.000</a:t>
                      </a:r>
                      <a:endParaRPr lang="en-US" sz="135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FFFFF"/>
                    </a:solidFill>
                  </a:tcPr>
                </a:tc>
                <a:tc>
                  <a:txBody>
                    <a:bodyPr/>
                    <a:lstStyle/>
                    <a:p>
                      <a:pPr algn="ctr" indent="0" marL="0">
                        <a:buNone/>
                      </a:pPr>
                      <a:r>
                        <a:rPr lang="en-US" sz="1350" dirty="0">
                          <a:solidFill>
                            <a:srgbClr val="0B0B0B"/>
                          </a:solidFill>
                          <a:latin typeface="Calibri" pitchFamily="34" charset="0"/>
                          <a:ea typeface="Calibri" pitchFamily="34" charset="-122"/>
                          <a:cs typeface="Calibri" pitchFamily="34" charset="-120"/>
                        </a:rPr>
                        <a:t>2.000</a:t>
                      </a:r>
                      <a:endParaRPr lang="en-US" sz="135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FFFFF"/>
                    </a:solidFill>
                  </a:tcPr>
                </a:tc>
                <a:tc>
                  <a:txBody>
                    <a:bodyPr/>
                    <a:lstStyle/>
                    <a:p>
                      <a:pPr algn="ctr" indent="0" marL="0">
                        <a:buNone/>
                      </a:pPr>
                      <a:r>
                        <a:rPr lang="en-US" sz="1350" dirty="0">
                          <a:solidFill>
                            <a:srgbClr val="0B0B0B"/>
                          </a:solidFill>
                          <a:latin typeface="Calibri" pitchFamily="34" charset="0"/>
                          <a:ea typeface="Calibri" pitchFamily="34" charset="-122"/>
                          <a:cs typeface="Calibri" pitchFamily="34" charset="-120"/>
                        </a:rPr>
                        <a:t>4.000</a:t>
                      </a:r>
                      <a:endParaRPr lang="en-US" sz="135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FFFFF"/>
                    </a:solidFill>
                  </a:tcPr>
                </a:tc>
              </a:tr>
              <a:tr h="384048">
                <a:tc>
                  <a:txBody>
                    <a:bodyPr/>
                    <a:lstStyle/>
                    <a:p>
                      <a:pPr algn="l" indent="0" marL="0">
                        <a:buNone/>
                      </a:pPr>
                      <a:r>
                        <a:rPr lang="en-US" sz="1350" dirty="0">
                          <a:solidFill>
                            <a:srgbClr val="0B0B0B"/>
                          </a:solidFill>
                          <a:latin typeface="Calibri" pitchFamily="34" charset="0"/>
                          <a:ea typeface="Calibri" pitchFamily="34" charset="-122"/>
                          <a:cs typeface="Calibri" pitchFamily="34" charset="-120"/>
                        </a:rPr>
                        <a:t>Testing</a:t>
                      </a:r>
                      <a:endParaRPr lang="en-US" sz="135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FFFFF"/>
                    </a:solidFill>
                  </a:tcPr>
                </a:tc>
                <a:tc>
                  <a:txBody>
                    <a:bodyPr/>
                    <a:lstStyle/>
                    <a:p>
                      <a:pPr algn="ctr" indent="0" marL="0">
                        <a:buNone/>
                      </a:pPr>
                      <a:r>
                        <a:rPr lang="en-US" sz="1350" dirty="0">
                          <a:solidFill>
                            <a:srgbClr val="0B0B0B"/>
                          </a:solidFill>
                          <a:latin typeface="Calibri" pitchFamily="34" charset="0"/>
                          <a:ea typeface="Calibri" pitchFamily="34" charset="-122"/>
                          <a:cs typeface="Calibri" pitchFamily="34" charset="-120"/>
                        </a:rPr>
                        <a:t>2.000</a:t>
                      </a:r>
                      <a:endParaRPr lang="en-US" sz="135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FFFFF"/>
                    </a:solidFill>
                  </a:tcPr>
                </a:tc>
                <a:tc>
                  <a:txBody>
                    <a:bodyPr/>
                    <a:lstStyle/>
                    <a:p>
                      <a:pPr algn="ctr" indent="0" marL="0">
                        <a:buNone/>
                      </a:pPr>
                      <a:r>
                        <a:rPr lang="en-US" sz="1350" dirty="0">
                          <a:solidFill>
                            <a:srgbClr val="0B0B0B"/>
                          </a:solidFill>
                          <a:latin typeface="Calibri" pitchFamily="34" charset="0"/>
                          <a:ea typeface="Calibri" pitchFamily="34" charset="-122"/>
                          <a:cs typeface="Calibri" pitchFamily="34" charset="-120"/>
                        </a:rPr>
                        <a:t>2.000</a:t>
                      </a:r>
                      <a:endParaRPr lang="en-US" sz="135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FFFFF"/>
                    </a:solidFill>
                  </a:tcPr>
                </a:tc>
                <a:tc>
                  <a:txBody>
                    <a:bodyPr/>
                    <a:lstStyle/>
                    <a:p>
                      <a:pPr algn="ctr" indent="0" marL="0">
                        <a:buNone/>
                      </a:pPr>
                      <a:r>
                        <a:rPr lang="en-US" sz="1350" dirty="0">
                          <a:solidFill>
                            <a:srgbClr val="0B0B0B"/>
                          </a:solidFill>
                          <a:latin typeface="Calibri" pitchFamily="34" charset="0"/>
                          <a:ea typeface="Calibri" pitchFamily="34" charset="-122"/>
                          <a:cs typeface="Calibri" pitchFamily="34" charset="-120"/>
                        </a:rPr>
                        <a:t>4.000</a:t>
                      </a:r>
                      <a:endParaRPr lang="en-US" sz="135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FFFFF"/>
                    </a:solidFill>
                  </a:tcPr>
                </a:tc>
              </a:tr>
              <a:tr h="384048">
                <a:tc>
                  <a:txBody>
                    <a:bodyPr/>
                    <a:lstStyle/>
                    <a:p>
                      <a:pPr algn="l" indent="0" marL="0">
                        <a:buNone/>
                      </a:pPr>
                      <a:r>
                        <a:rPr lang="en-US" sz="1350" b="1" dirty="0">
                          <a:solidFill>
                            <a:srgbClr val="0B0B0B"/>
                          </a:solidFill>
                          <a:latin typeface="Calibri" pitchFamily="34" charset="0"/>
                          <a:ea typeface="Calibri" pitchFamily="34" charset="-122"/>
                          <a:cs typeface="Calibri" pitchFamily="34" charset="-120"/>
                        </a:rPr>
                        <a:t>Total</a:t>
                      </a:r>
                      <a:endParaRPr lang="en-US" sz="135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2F4F8"/>
                    </a:solidFill>
                  </a:tcPr>
                </a:tc>
                <a:tc>
                  <a:txBody>
                    <a:bodyPr/>
                    <a:lstStyle/>
                    <a:p>
                      <a:pPr algn="ctr" indent="0" marL="0">
                        <a:buNone/>
                      </a:pPr>
                      <a:r>
                        <a:rPr lang="en-US" sz="1350" b="1" dirty="0">
                          <a:solidFill>
                            <a:srgbClr val="0B0B0B"/>
                          </a:solidFill>
                          <a:latin typeface="Calibri" pitchFamily="34" charset="0"/>
                          <a:ea typeface="Calibri" pitchFamily="34" charset="-122"/>
                          <a:cs typeface="Calibri" pitchFamily="34" charset="-120"/>
                        </a:rPr>
                        <a:t>12.000</a:t>
                      </a:r>
                      <a:endParaRPr lang="en-US" sz="135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2F4F8"/>
                    </a:solidFill>
                  </a:tcPr>
                </a:tc>
                <a:tc>
                  <a:txBody>
                    <a:bodyPr/>
                    <a:lstStyle/>
                    <a:p>
                      <a:pPr algn="ctr" indent="0" marL="0">
                        <a:buNone/>
                      </a:pPr>
                      <a:r>
                        <a:rPr lang="en-US" sz="1350" b="1" dirty="0">
                          <a:solidFill>
                            <a:srgbClr val="0B0B0B"/>
                          </a:solidFill>
                          <a:latin typeface="Calibri" pitchFamily="34" charset="0"/>
                          <a:ea typeface="Calibri" pitchFamily="34" charset="-122"/>
                          <a:cs typeface="Calibri" pitchFamily="34" charset="-120"/>
                        </a:rPr>
                        <a:t>12.000</a:t>
                      </a:r>
                      <a:endParaRPr lang="en-US" sz="135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2F4F8"/>
                    </a:solidFill>
                  </a:tcPr>
                </a:tc>
                <a:tc>
                  <a:txBody>
                    <a:bodyPr/>
                    <a:lstStyle/>
                    <a:p>
                      <a:pPr algn="ctr" indent="0" marL="0">
                        <a:buNone/>
                      </a:pPr>
                      <a:r>
                        <a:rPr lang="en-US" sz="1350" b="1" dirty="0">
                          <a:solidFill>
                            <a:srgbClr val="0B0B0B"/>
                          </a:solidFill>
                          <a:latin typeface="Calibri" pitchFamily="34" charset="0"/>
                          <a:ea typeface="Calibri" pitchFamily="34" charset="-122"/>
                          <a:cs typeface="Calibri" pitchFamily="34" charset="-120"/>
                        </a:rPr>
                        <a:t>24.000</a:t>
                      </a:r>
                      <a:endParaRPr lang="en-US" sz="135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2F4F8"/>
                    </a:solidFill>
                  </a:tcPr>
                </a:tc>
              </a:tr>
            </a:tbl>
          </a:graphicData>
        </a:graphic>
      </p:graphicFrame>
      <p:sp>
        <p:nvSpPr>
          <p:cNvPr id="6" name="Shape 3"/>
          <p:cNvSpPr/>
          <p:nvPr/>
        </p:nvSpPr>
        <p:spPr>
          <a:xfrm>
            <a:off x="7589520" y="2331720"/>
            <a:ext cx="4023360" cy="1920240"/>
          </a:xfrm>
          <a:prstGeom prst="roundRect">
            <a:avLst>
              <a:gd name="adj" fmla="val 3810"/>
            </a:avLst>
          </a:prstGeom>
          <a:solidFill>
            <a:srgbClr val="F2F4F8"/>
          </a:solidFill>
          <a:ln w="12700">
            <a:solidFill>
              <a:srgbClr val="F2F4F8"/>
            </a:solidFill>
            <a:prstDash val="solid"/>
          </a:ln>
        </p:spPr>
      </p:sp>
      <p:sp>
        <p:nvSpPr>
          <p:cNvPr id="7" name="Text 4"/>
          <p:cNvSpPr/>
          <p:nvPr/>
        </p:nvSpPr>
        <p:spPr>
          <a:xfrm>
            <a:off x="7909560" y="2514600"/>
            <a:ext cx="3474720" cy="457200"/>
          </a:xfrm>
          <a:prstGeom prst="rect">
            <a:avLst/>
          </a:prstGeom>
          <a:noFill/>
          <a:ln/>
        </p:spPr>
        <p:txBody>
          <a:bodyPr wrap="square" lIns="0" tIns="0" rIns="0" bIns="0" rtlCol="0" anchor="ctr"/>
          <a:lstStyle/>
          <a:p>
            <a:pPr indent="0" marL="0">
              <a:buNone/>
            </a:pPr>
            <a:r>
              <a:rPr lang="en-US" sz="2400" b="1" dirty="0">
                <a:solidFill>
                  <a:srgbClr val="0E1E3C"/>
                </a:solidFill>
                <a:latin typeface="Cambria" pitchFamily="34" charset="0"/>
                <a:ea typeface="Cambria" pitchFamily="34" charset="-122"/>
                <a:cs typeface="Cambria" pitchFamily="34" charset="-120"/>
              </a:rPr>
              <a:t>9 kelas</a:t>
            </a:r>
            <a:endParaRPr lang="en-US" sz="2400" dirty="0"/>
          </a:p>
        </p:txBody>
      </p:sp>
      <p:sp>
        <p:nvSpPr>
          <p:cNvPr id="8" name="Text 5"/>
          <p:cNvSpPr/>
          <p:nvPr/>
        </p:nvSpPr>
        <p:spPr>
          <a:xfrm>
            <a:off x="7909560" y="3017520"/>
            <a:ext cx="3474720" cy="822960"/>
          </a:xfrm>
          <a:prstGeom prst="rect">
            <a:avLst/>
          </a:prstGeom>
          <a:noFill/>
          <a:ln/>
        </p:spPr>
        <p:txBody>
          <a:bodyPr wrap="square" lIns="0" tIns="0" rIns="0" bIns="0" rtlCol="0" anchor="ctr"/>
          <a:lstStyle/>
          <a:p>
            <a:pPr indent="0" marL="0">
              <a:buNone/>
            </a:pPr>
            <a:r>
              <a:rPr lang="en-US" sz="1200" dirty="0">
                <a:solidFill>
                  <a:srgbClr val="52514E"/>
                </a:solidFill>
                <a:latin typeface="Calibri" pitchFamily="34" charset="0"/>
                <a:ea typeface="Calibri" pitchFamily="34" charset="-122"/>
                <a:cs typeface="Calibri" pitchFamily="34" charset="-120"/>
              </a:rPr>
              <a:t>bike, bus, car, motor, person, rider, traffic light, traffic sign, truck</a:t>
            </a:r>
            <a:endParaRPr lang="en-US" sz="1200" dirty="0"/>
          </a:p>
        </p:txBody>
      </p:sp>
      <p:sp>
        <p:nvSpPr>
          <p:cNvPr id="9" name="Shape 6"/>
          <p:cNvSpPr/>
          <p:nvPr/>
        </p:nvSpPr>
        <p:spPr>
          <a:xfrm>
            <a:off x="548640" y="4526280"/>
            <a:ext cx="11064240" cy="1371600"/>
          </a:xfrm>
          <a:prstGeom prst="roundRect">
            <a:avLst>
              <a:gd name="adj" fmla="val 5333"/>
            </a:avLst>
          </a:prstGeom>
          <a:solidFill>
            <a:srgbClr val="0E1E3C"/>
          </a:solidFill>
          <a:ln w="12700">
            <a:solidFill>
              <a:srgbClr val="0E1E3C"/>
            </a:solidFill>
            <a:prstDash val="solid"/>
          </a:ln>
        </p:spPr>
      </p:sp>
      <p:sp>
        <p:nvSpPr>
          <p:cNvPr id="10" name="Text 7"/>
          <p:cNvSpPr/>
          <p:nvPr/>
        </p:nvSpPr>
        <p:spPr>
          <a:xfrm>
            <a:off x="914400" y="4681728"/>
            <a:ext cx="5486400" cy="320040"/>
          </a:xfrm>
          <a:prstGeom prst="rect">
            <a:avLst/>
          </a:prstGeom>
          <a:noFill/>
          <a:ln/>
        </p:spPr>
        <p:txBody>
          <a:bodyPr wrap="square" lIns="0" tIns="0" rIns="0" bIns="0" rtlCol="0" anchor="ctr"/>
          <a:lstStyle/>
          <a:p>
            <a:pPr indent="0" marL="0">
              <a:buNone/>
            </a:pPr>
            <a:r>
              <a:rPr lang="en-US" sz="1200" b="1" spc="100" kern="0" dirty="0">
                <a:solidFill>
                  <a:srgbClr val="EB6834"/>
                </a:solidFill>
                <a:latin typeface="Calibri" pitchFamily="34" charset="0"/>
                <a:ea typeface="Calibri" pitchFamily="34" charset="-122"/>
                <a:cs typeface="Calibri" pitchFamily="34" charset="-120"/>
              </a:rPr>
              <a:t>Catatan penting untuk validitas</a:t>
            </a:r>
            <a:endParaRPr lang="en-US" sz="1200" dirty="0"/>
          </a:p>
        </p:txBody>
      </p:sp>
      <p:sp>
        <p:nvSpPr>
          <p:cNvPr id="11" name="Text 8"/>
          <p:cNvSpPr/>
          <p:nvPr/>
        </p:nvSpPr>
        <p:spPr>
          <a:xfrm>
            <a:off x="914400" y="5029200"/>
            <a:ext cx="10332720" cy="77724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Kelas train kami keluarkan karena hanya punya 25 gambar training dan 3 instance pada test set. Rasio ketidakseimbangannya 791 kali terhadap kelas car, sehingga nilai AP nya tidak bermakna secara statistik dan justru mengacaukan rata rata.</a:t>
            </a:r>
            <a:endParaRPr lang="en-US" sz="1300" dirty="0"/>
          </a:p>
        </p:txBody>
      </p:sp>
      <p:sp>
        <p:nvSpPr>
          <p:cNvPr id="12" name="Text 9"/>
          <p:cNvSpPr/>
          <p:nvPr/>
        </p:nvSpPr>
        <p:spPr>
          <a:xfrm>
            <a:off x="11430000" y="6355080"/>
            <a:ext cx="411480" cy="274320"/>
          </a:xfrm>
          <a:prstGeom prst="rect">
            <a:avLst/>
          </a:prstGeom>
          <a:noFill/>
          <a:ln/>
        </p:spPr>
        <p:txBody>
          <a:bodyPr wrap="square" lIns="0" tIns="0" rIns="0" bIns="0" rtlCol="0" anchor="ctr"/>
          <a:lstStyle/>
          <a:p>
            <a:pPr algn="r" indent="0" marL="0">
              <a:buNone/>
            </a:pPr>
            <a:r>
              <a:rPr lang="en-US" sz="1000" dirty="0">
                <a:solidFill>
                  <a:srgbClr val="898781"/>
                </a:solidFill>
                <a:latin typeface="Calibri" pitchFamily="34" charset="0"/>
                <a:ea typeface="Calibri" pitchFamily="34" charset="-122"/>
                <a:cs typeface="Calibri" pitchFamily="34" charset="-120"/>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10896"/>
            <a:ext cx="8229600" cy="256032"/>
          </a:xfrm>
          <a:prstGeom prst="rect">
            <a:avLst/>
          </a:prstGeom>
          <a:noFill/>
          <a:ln/>
        </p:spPr>
        <p:txBody>
          <a:bodyPr wrap="square" lIns="0" tIns="0" rIns="0" bIns="0" rtlCol="0" anchor="ctr"/>
          <a:lstStyle/>
          <a:p>
            <a:pPr indent="0" marL="0">
              <a:buNone/>
            </a:pPr>
            <a:r>
              <a:rPr lang="en-US" sz="1100" b="1" spc="160" kern="0" dirty="0">
                <a:solidFill>
                  <a:srgbClr val="EB6834"/>
                </a:solidFill>
                <a:latin typeface="Calibri" pitchFamily="34" charset="0"/>
                <a:ea typeface="Calibri" pitchFamily="34" charset="-122"/>
                <a:cs typeface="Calibri" pitchFamily="34" charset="-120"/>
              </a:rPr>
              <a:t>METODOLOGI</a:t>
            </a:r>
            <a:endParaRPr lang="en-US" sz="1100" dirty="0"/>
          </a:p>
        </p:txBody>
      </p:sp>
      <p:sp>
        <p:nvSpPr>
          <p:cNvPr id="3" name="Text 1"/>
          <p:cNvSpPr/>
          <p:nvPr/>
        </p:nvSpPr>
        <p:spPr>
          <a:xfrm>
            <a:off x="548640" y="566928"/>
            <a:ext cx="11064240" cy="658368"/>
          </a:xfrm>
          <a:prstGeom prst="rect">
            <a:avLst/>
          </a:prstGeom>
          <a:noFill/>
          <a:ln/>
        </p:spPr>
        <p:txBody>
          <a:bodyPr wrap="square" lIns="0" tIns="0" rIns="0" bIns="0" rtlCol="0" anchor="t"/>
          <a:lstStyle/>
          <a:p>
            <a:pPr indent="0" marL="0">
              <a:buNone/>
            </a:pPr>
            <a:r>
              <a:rPr lang="en-US" sz="3000" b="1" dirty="0">
                <a:solidFill>
                  <a:srgbClr val="0E1E3C"/>
                </a:solidFill>
                <a:latin typeface="Cambria" pitchFamily="34" charset="0"/>
                <a:ea typeface="Cambria" pitchFamily="34" charset="-122"/>
                <a:cs typeface="Cambria" pitchFamily="34" charset="-120"/>
              </a:rPr>
              <a:t>Arsitektur distilasi yang kami bangun</a:t>
            </a:r>
            <a:endParaRPr lang="en-US" sz="3000" dirty="0"/>
          </a:p>
        </p:txBody>
      </p:sp>
      <p:sp>
        <p:nvSpPr>
          <p:cNvPr id="4" name="Shape 2"/>
          <p:cNvSpPr/>
          <p:nvPr/>
        </p:nvSpPr>
        <p:spPr>
          <a:xfrm>
            <a:off x="548640" y="1600200"/>
            <a:ext cx="3200400" cy="1051560"/>
          </a:xfrm>
          <a:prstGeom prst="roundRect">
            <a:avLst>
              <a:gd name="adj" fmla="val 6957"/>
            </a:avLst>
          </a:prstGeom>
          <a:solidFill>
            <a:srgbClr val="F2F4F8"/>
          </a:solidFill>
          <a:ln w="12700">
            <a:solidFill>
              <a:srgbClr val="F2F4F8"/>
            </a:solidFill>
            <a:prstDash val="solid"/>
          </a:ln>
        </p:spPr>
      </p:sp>
      <p:sp>
        <p:nvSpPr>
          <p:cNvPr id="5" name="Text 3"/>
          <p:cNvSpPr/>
          <p:nvPr/>
        </p:nvSpPr>
        <p:spPr>
          <a:xfrm>
            <a:off x="777240" y="1755648"/>
            <a:ext cx="2834640" cy="320040"/>
          </a:xfrm>
          <a:prstGeom prst="rect">
            <a:avLst/>
          </a:prstGeom>
          <a:noFill/>
          <a:ln/>
        </p:spPr>
        <p:txBody>
          <a:bodyPr wrap="square" lIns="0" tIns="0" rIns="0" bIns="0" rtlCol="0" anchor="ctr"/>
          <a:lstStyle/>
          <a:p>
            <a:pPr indent="0" marL="0">
              <a:buNone/>
            </a:pPr>
            <a:r>
              <a:rPr lang="en-US" sz="1450" b="1" dirty="0">
                <a:solidFill>
                  <a:srgbClr val="0E1E3C"/>
                </a:solidFill>
                <a:latin typeface="Cambria" pitchFamily="34" charset="0"/>
                <a:ea typeface="Cambria" pitchFamily="34" charset="-122"/>
                <a:cs typeface="Cambria" pitchFamily="34" charset="-120"/>
              </a:rPr>
              <a:t>Teacher YOLOv8l</a:t>
            </a:r>
            <a:endParaRPr lang="en-US" sz="1450" dirty="0"/>
          </a:p>
        </p:txBody>
      </p:sp>
      <p:sp>
        <p:nvSpPr>
          <p:cNvPr id="6" name="Text 4"/>
          <p:cNvSpPr/>
          <p:nvPr/>
        </p:nvSpPr>
        <p:spPr>
          <a:xfrm>
            <a:off x="777240" y="2103120"/>
            <a:ext cx="2834640" cy="320040"/>
          </a:xfrm>
          <a:prstGeom prst="rect">
            <a:avLst/>
          </a:prstGeom>
          <a:noFill/>
          <a:ln/>
        </p:spPr>
        <p:txBody>
          <a:bodyPr wrap="square" lIns="0" tIns="0" rIns="0" bIns="0" rtlCol="0" anchor="ctr"/>
          <a:lstStyle/>
          <a:p>
            <a:pPr indent="0" marL="0">
              <a:buNone/>
            </a:pPr>
            <a:r>
              <a:rPr lang="en-US" sz="1150" dirty="0">
                <a:solidFill>
                  <a:srgbClr val="52514E"/>
                </a:solidFill>
                <a:latin typeface="Calibri" pitchFamily="34" charset="0"/>
                <a:ea typeface="Calibri" pitchFamily="34" charset="-122"/>
                <a:cs typeface="Calibri" pitchFamily="34" charset="-120"/>
              </a:rPr>
              <a:t>frozen, tidak ikut belajar</a:t>
            </a:r>
            <a:endParaRPr lang="en-US" sz="1150" dirty="0"/>
          </a:p>
        </p:txBody>
      </p:sp>
      <p:sp>
        <p:nvSpPr>
          <p:cNvPr id="7" name="Shape 5"/>
          <p:cNvSpPr/>
          <p:nvPr/>
        </p:nvSpPr>
        <p:spPr>
          <a:xfrm>
            <a:off x="548640" y="4434840"/>
            <a:ext cx="3200400" cy="1051560"/>
          </a:xfrm>
          <a:prstGeom prst="roundRect">
            <a:avLst>
              <a:gd name="adj" fmla="val 6957"/>
            </a:avLst>
          </a:prstGeom>
          <a:solidFill>
            <a:srgbClr val="0E1E3C"/>
          </a:solidFill>
          <a:ln w="12700">
            <a:solidFill>
              <a:srgbClr val="0E1E3C"/>
            </a:solidFill>
            <a:prstDash val="solid"/>
          </a:ln>
        </p:spPr>
      </p:sp>
      <p:sp>
        <p:nvSpPr>
          <p:cNvPr id="8" name="Text 6"/>
          <p:cNvSpPr/>
          <p:nvPr/>
        </p:nvSpPr>
        <p:spPr>
          <a:xfrm>
            <a:off x="777240" y="4590288"/>
            <a:ext cx="2834640" cy="320040"/>
          </a:xfrm>
          <a:prstGeom prst="rect">
            <a:avLst/>
          </a:prstGeom>
          <a:noFill/>
          <a:ln/>
        </p:spPr>
        <p:txBody>
          <a:bodyPr wrap="square" lIns="0" tIns="0" rIns="0" bIns="0" rtlCol="0" anchor="ctr"/>
          <a:lstStyle/>
          <a:p>
            <a:pPr indent="0" marL="0">
              <a:buNone/>
            </a:pPr>
            <a:r>
              <a:rPr lang="en-US" sz="1450" b="1" dirty="0">
                <a:solidFill>
                  <a:srgbClr val="FFFFFF"/>
                </a:solidFill>
                <a:latin typeface="Cambria" pitchFamily="34" charset="0"/>
                <a:ea typeface="Cambria" pitchFamily="34" charset="-122"/>
                <a:cs typeface="Cambria" pitchFamily="34" charset="-120"/>
              </a:rPr>
              <a:t>Student YOLOv8s</a:t>
            </a:r>
            <a:endParaRPr lang="en-US" sz="1450" dirty="0"/>
          </a:p>
        </p:txBody>
      </p:sp>
      <p:sp>
        <p:nvSpPr>
          <p:cNvPr id="9" name="Text 7"/>
          <p:cNvSpPr/>
          <p:nvPr/>
        </p:nvSpPr>
        <p:spPr>
          <a:xfrm>
            <a:off x="777240" y="4937760"/>
            <a:ext cx="2834640" cy="365760"/>
          </a:xfrm>
          <a:prstGeom prst="rect">
            <a:avLst/>
          </a:prstGeom>
          <a:noFill/>
          <a:ln/>
        </p:spPr>
        <p:txBody>
          <a:bodyPr wrap="square" lIns="0" tIns="0" rIns="0" bIns="0" rtlCol="0" anchor="ctr"/>
          <a:lstStyle/>
          <a:p>
            <a:pPr indent="0" marL="0">
              <a:buNone/>
            </a:pPr>
            <a:r>
              <a:rPr lang="en-US" sz="1150" dirty="0">
                <a:solidFill>
                  <a:srgbClr val="CADCFC"/>
                </a:solidFill>
                <a:latin typeface="Calibri" pitchFamily="34" charset="0"/>
                <a:ea typeface="Calibri" pitchFamily="34" charset="-122"/>
                <a:cs typeface="Calibri" pitchFamily="34" charset="-120"/>
              </a:rPr>
              <a:t>yang dilatih dan dikirim ke kendaraan</a:t>
            </a:r>
            <a:endParaRPr lang="en-US" sz="1150" dirty="0"/>
          </a:p>
        </p:txBody>
      </p:sp>
      <p:sp>
        <p:nvSpPr>
          <p:cNvPr id="10" name="Shape 8"/>
          <p:cNvSpPr/>
          <p:nvPr/>
        </p:nvSpPr>
        <p:spPr>
          <a:xfrm>
            <a:off x="4206240" y="1600200"/>
            <a:ext cx="7406640" cy="1143000"/>
          </a:xfrm>
          <a:prstGeom prst="roundRect">
            <a:avLst>
              <a:gd name="adj" fmla="val 6400"/>
            </a:avLst>
          </a:prstGeom>
          <a:solidFill>
            <a:srgbClr val="F2F4F8"/>
          </a:solidFill>
          <a:ln w="12700">
            <a:solidFill>
              <a:srgbClr val="F2F4F8"/>
            </a:solidFill>
            <a:prstDash val="solid"/>
          </a:ln>
        </p:spPr>
      </p:sp>
      <p:sp>
        <p:nvSpPr>
          <p:cNvPr id="11" name="Shape 9"/>
          <p:cNvSpPr/>
          <p:nvPr/>
        </p:nvSpPr>
        <p:spPr>
          <a:xfrm>
            <a:off x="4480560" y="1920240"/>
            <a:ext cx="384048" cy="384048"/>
          </a:xfrm>
          <a:prstGeom prst="ellipse">
            <a:avLst/>
          </a:prstGeom>
          <a:solidFill>
            <a:srgbClr val="2A78D6"/>
          </a:solidFill>
          <a:ln w="12700">
            <a:solidFill>
              <a:srgbClr val="2A78D6"/>
            </a:solidFill>
            <a:prstDash val="solid"/>
          </a:ln>
        </p:spPr>
      </p:sp>
      <p:sp>
        <p:nvSpPr>
          <p:cNvPr id="12" name="Text 10"/>
          <p:cNvSpPr/>
          <p:nvPr/>
        </p:nvSpPr>
        <p:spPr>
          <a:xfrm>
            <a:off x="4480560" y="192024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3" name="Text 11"/>
          <p:cNvSpPr/>
          <p:nvPr/>
        </p:nvSpPr>
        <p:spPr>
          <a:xfrm>
            <a:off x="5029200" y="1755648"/>
            <a:ext cx="6309360" cy="320040"/>
          </a:xfrm>
          <a:prstGeom prst="rect">
            <a:avLst/>
          </a:prstGeom>
          <a:noFill/>
          <a:ln/>
        </p:spPr>
        <p:txBody>
          <a:bodyPr wrap="square" lIns="0" tIns="0" rIns="0" bIns="0" rtlCol="0" anchor="ctr"/>
          <a:lstStyle/>
          <a:p>
            <a:pPr indent="0" marL="0">
              <a:buNone/>
            </a:pPr>
            <a:r>
              <a:rPr lang="en-US" sz="1500" b="1" dirty="0">
                <a:solidFill>
                  <a:srgbClr val="0E1E3C"/>
                </a:solidFill>
                <a:latin typeface="Cambria" pitchFamily="34" charset="0"/>
                <a:ea typeface="Cambria" pitchFamily="34" charset="-122"/>
                <a:cs typeface="Cambria" pitchFamily="34" charset="-120"/>
              </a:rPr>
              <a:t>Feature distillation</a:t>
            </a:r>
            <a:endParaRPr lang="en-US" sz="1500" dirty="0"/>
          </a:p>
        </p:txBody>
      </p:sp>
      <p:sp>
        <p:nvSpPr>
          <p:cNvPr id="14" name="Text 12"/>
          <p:cNvSpPr/>
          <p:nvPr/>
        </p:nvSpPr>
        <p:spPr>
          <a:xfrm>
            <a:off x="5029200" y="2103120"/>
            <a:ext cx="6309360" cy="548640"/>
          </a:xfrm>
          <a:prstGeom prst="rect">
            <a:avLst/>
          </a:prstGeom>
          <a:noFill/>
          <a:ln/>
        </p:spPr>
        <p:txBody>
          <a:bodyPr wrap="square" lIns="0" tIns="0" rIns="0" bIns="0" rtlCol="0" anchor="ctr"/>
          <a:lstStyle/>
          <a:p>
            <a:pPr indent="0" marL="0">
              <a:buNone/>
            </a:pPr>
            <a:r>
              <a:rPr lang="en-US" sz="1200" dirty="0">
                <a:solidFill>
                  <a:srgbClr val="52514E"/>
                </a:solidFill>
                <a:latin typeface="Calibri" pitchFamily="34" charset="0"/>
                <a:ea typeface="Calibri" pitchFamily="34" charset="-122"/>
                <a:cs typeface="Calibri" pitchFamily="34" charset="-120"/>
              </a:rPr>
              <a:t>Layer 15, 18, 21 pada neck (P3, P4, P5). Student meniru di mana guru menaruh perhatian secara spasial</a:t>
            </a:r>
            <a:endParaRPr lang="en-US" sz="1200" dirty="0"/>
          </a:p>
        </p:txBody>
      </p:sp>
      <p:sp>
        <p:nvSpPr>
          <p:cNvPr id="15" name="Shape 13"/>
          <p:cNvSpPr/>
          <p:nvPr/>
        </p:nvSpPr>
        <p:spPr>
          <a:xfrm>
            <a:off x="4206240" y="2926080"/>
            <a:ext cx="7406640" cy="1143000"/>
          </a:xfrm>
          <a:prstGeom prst="roundRect">
            <a:avLst>
              <a:gd name="adj" fmla="val 6400"/>
            </a:avLst>
          </a:prstGeom>
          <a:solidFill>
            <a:srgbClr val="F2F4F8"/>
          </a:solidFill>
          <a:ln w="12700">
            <a:solidFill>
              <a:srgbClr val="F2F4F8"/>
            </a:solidFill>
            <a:prstDash val="solid"/>
          </a:ln>
        </p:spPr>
      </p:sp>
      <p:sp>
        <p:nvSpPr>
          <p:cNvPr id="16" name="Shape 14"/>
          <p:cNvSpPr/>
          <p:nvPr/>
        </p:nvSpPr>
        <p:spPr>
          <a:xfrm>
            <a:off x="4480560" y="3246120"/>
            <a:ext cx="384048" cy="384048"/>
          </a:xfrm>
          <a:prstGeom prst="ellipse">
            <a:avLst/>
          </a:prstGeom>
          <a:solidFill>
            <a:srgbClr val="EB6834"/>
          </a:solidFill>
          <a:ln w="12700">
            <a:solidFill>
              <a:srgbClr val="EB6834"/>
            </a:solidFill>
            <a:prstDash val="solid"/>
          </a:ln>
        </p:spPr>
      </p:sp>
      <p:sp>
        <p:nvSpPr>
          <p:cNvPr id="17" name="Text 15"/>
          <p:cNvSpPr/>
          <p:nvPr/>
        </p:nvSpPr>
        <p:spPr>
          <a:xfrm>
            <a:off x="4480560" y="324612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8" name="Text 16"/>
          <p:cNvSpPr/>
          <p:nvPr/>
        </p:nvSpPr>
        <p:spPr>
          <a:xfrm>
            <a:off x="5029200" y="3081528"/>
            <a:ext cx="6309360" cy="320040"/>
          </a:xfrm>
          <a:prstGeom prst="rect">
            <a:avLst/>
          </a:prstGeom>
          <a:noFill/>
          <a:ln/>
        </p:spPr>
        <p:txBody>
          <a:bodyPr wrap="square" lIns="0" tIns="0" rIns="0" bIns="0" rtlCol="0" anchor="ctr"/>
          <a:lstStyle/>
          <a:p>
            <a:pPr indent="0" marL="0">
              <a:buNone/>
            </a:pPr>
            <a:r>
              <a:rPr lang="en-US" sz="1500" b="1" dirty="0">
                <a:solidFill>
                  <a:srgbClr val="0E1E3C"/>
                </a:solidFill>
                <a:latin typeface="Cambria" pitchFamily="34" charset="0"/>
                <a:ea typeface="Cambria" pitchFamily="34" charset="-122"/>
                <a:cs typeface="Cambria" pitchFamily="34" charset="-120"/>
              </a:rPr>
              <a:t>Response distillation</a:t>
            </a:r>
            <a:endParaRPr lang="en-US" sz="1500" dirty="0"/>
          </a:p>
        </p:txBody>
      </p:sp>
      <p:sp>
        <p:nvSpPr>
          <p:cNvPr id="19" name="Text 17"/>
          <p:cNvSpPr/>
          <p:nvPr/>
        </p:nvSpPr>
        <p:spPr>
          <a:xfrm>
            <a:off x="5029200" y="3429000"/>
            <a:ext cx="6309360" cy="548640"/>
          </a:xfrm>
          <a:prstGeom prst="rect">
            <a:avLst/>
          </a:prstGeom>
          <a:noFill/>
          <a:ln/>
        </p:spPr>
        <p:txBody>
          <a:bodyPr wrap="square" lIns="0" tIns="0" rIns="0" bIns="0" rtlCol="0" anchor="ctr"/>
          <a:lstStyle/>
          <a:p>
            <a:pPr indent="0" marL="0">
              <a:buNone/>
            </a:pPr>
            <a:r>
              <a:rPr lang="en-US" sz="1200" dirty="0">
                <a:solidFill>
                  <a:srgbClr val="52514E"/>
                </a:solidFill>
                <a:latin typeface="Calibri" pitchFamily="34" charset="0"/>
                <a:ea typeface="Calibri" pitchFamily="34" charset="-122"/>
                <a:cs typeface="Calibri" pitchFamily="34" charset="-120"/>
              </a:rPr>
              <a:t>KL divergence pada class logits dengan temperature, sehingga keyakinan lunak guru ikut tertransfer</a:t>
            </a:r>
            <a:endParaRPr lang="en-US" sz="1200" dirty="0"/>
          </a:p>
        </p:txBody>
      </p:sp>
      <p:sp>
        <p:nvSpPr>
          <p:cNvPr id="20" name="Shape 18"/>
          <p:cNvSpPr/>
          <p:nvPr/>
        </p:nvSpPr>
        <p:spPr>
          <a:xfrm>
            <a:off x="4206240" y="4251960"/>
            <a:ext cx="7406640" cy="1143000"/>
          </a:xfrm>
          <a:prstGeom prst="roundRect">
            <a:avLst>
              <a:gd name="adj" fmla="val 6400"/>
            </a:avLst>
          </a:prstGeom>
          <a:solidFill>
            <a:srgbClr val="F2F4F8"/>
          </a:solidFill>
          <a:ln w="12700">
            <a:solidFill>
              <a:srgbClr val="F2F4F8"/>
            </a:solidFill>
            <a:prstDash val="solid"/>
          </a:ln>
        </p:spPr>
      </p:sp>
      <p:sp>
        <p:nvSpPr>
          <p:cNvPr id="21" name="Shape 19"/>
          <p:cNvSpPr/>
          <p:nvPr/>
        </p:nvSpPr>
        <p:spPr>
          <a:xfrm>
            <a:off x="4480560" y="4572000"/>
            <a:ext cx="384048" cy="384048"/>
          </a:xfrm>
          <a:prstGeom prst="ellipse">
            <a:avLst/>
          </a:prstGeom>
          <a:solidFill>
            <a:srgbClr val="2A78D6"/>
          </a:solidFill>
          <a:ln w="12700">
            <a:solidFill>
              <a:srgbClr val="2A78D6"/>
            </a:solidFill>
            <a:prstDash val="solid"/>
          </a:ln>
        </p:spPr>
      </p:sp>
      <p:sp>
        <p:nvSpPr>
          <p:cNvPr id="22" name="Text 20"/>
          <p:cNvSpPr/>
          <p:nvPr/>
        </p:nvSpPr>
        <p:spPr>
          <a:xfrm>
            <a:off x="4480560" y="457200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3" name="Text 21"/>
          <p:cNvSpPr/>
          <p:nvPr/>
        </p:nvSpPr>
        <p:spPr>
          <a:xfrm>
            <a:off x="5029200" y="4407408"/>
            <a:ext cx="6309360" cy="320040"/>
          </a:xfrm>
          <a:prstGeom prst="rect">
            <a:avLst/>
          </a:prstGeom>
          <a:noFill/>
          <a:ln/>
        </p:spPr>
        <p:txBody>
          <a:bodyPr wrap="square" lIns="0" tIns="0" rIns="0" bIns="0" rtlCol="0" anchor="ctr"/>
          <a:lstStyle/>
          <a:p>
            <a:pPr indent="0" marL="0">
              <a:buNone/>
            </a:pPr>
            <a:r>
              <a:rPr lang="en-US" sz="1500" b="1" dirty="0">
                <a:solidFill>
                  <a:srgbClr val="0E1E3C"/>
                </a:solidFill>
                <a:latin typeface="Cambria" pitchFamily="34" charset="0"/>
                <a:ea typeface="Cambria" pitchFamily="34" charset="-122"/>
                <a:cs typeface="Cambria" pitchFamily="34" charset="-120"/>
              </a:rPr>
              <a:t>Localization distillation</a:t>
            </a:r>
            <a:endParaRPr lang="en-US" sz="1500" dirty="0"/>
          </a:p>
        </p:txBody>
      </p:sp>
      <p:sp>
        <p:nvSpPr>
          <p:cNvPr id="24" name="Text 22"/>
          <p:cNvSpPr/>
          <p:nvPr/>
        </p:nvSpPr>
        <p:spPr>
          <a:xfrm>
            <a:off x="5029200" y="4754880"/>
            <a:ext cx="6309360" cy="548640"/>
          </a:xfrm>
          <a:prstGeom prst="rect">
            <a:avLst/>
          </a:prstGeom>
          <a:noFill/>
          <a:ln/>
        </p:spPr>
        <p:txBody>
          <a:bodyPr wrap="square" lIns="0" tIns="0" rIns="0" bIns="0" rtlCol="0" anchor="ctr"/>
          <a:lstStyle/>
          <a:p>
            <a:pPr indent="0" marL="0">
              <a:buNone/>
            </a:pPr>
            <a:r>
              <a:rPr lang="en-US" sz="1200" dirty="0">
                <a:solidFill>
                  <a:srgbClr val="52514E"/>
                </a:solidFill>
                <a:latin typeface="Calibri" pitchFamily="34" charset="0"/>
                <a:ea typeface="Calibri" pitchFamily="34" charset="-122"/>
                <a:cs typeface="Calibri" pitchFamily="34" charset="-120"/>
              </a:rPr>
              <a:t>KL divergence pada distribusi DFL bounding box, penting saat tepi objek kabur di malam hari</a:t>
            </a:r>
            <a:endParaRPr lang="en-US" sz="1200" dirty="0"/>
          </a:p>
        </p:txBody>
      </p:sp>
      <p:sp>
        <p:nvSpPr>
          <p:cNvPr id="25" name="Shape 23"/>
          <p:cNvSpPr/>
          <p:nvPr/>
        </p:nvSpPr>
        <p:spPr>
          <a:xfrm>
            <a:off x="2148840" y="2651760"/>
            <a:ext cx="0" cy="1783080"/>
          </a:xfrm>
          <a:prstGeom prst="line">
            <a:avLst/>
          </a:prstGeom>
          <a:noFill/>
          <a:ln w="19050">
            <a:solidFill>
              <a:srgbClr val="898781"/>
            </a:solidFill>
            <a:prstDash val="solid"/>
            <a:tailEnd type="triangle"/>
          </a:ln>
        </p:spPr>
      </p:sp>
      <p:sp>
        <p:nvSpPr>
          <p:cNvPr id="26" name="Text 24"/>
          <p:cNvSpPr/>
          <p:nvPr/>
        </p:nvSpPr>
        <p:spPr>
          <a:xfrm>
            <a:off x="566928" y="3127248"/>
            <a:ext cx="1463040" cy="640080"/>
          </a:xfrm>
          <a:prstGeom prst="rect">
            <a:avLst/>
          </a:prstGeom>
          <a:noFill/>
          <a:ln/>
        </p:spPr>
        <p:txBody>
          <a:bodyPr wrap="square" lIns="0" tIns="0" rIns="0" bIns="0" rtlCol="0" anchor="ctr"/>
          <a:lstStyle/>
          <a:p>
            <a:pPr algn="r" indent="0" marL="0">
              <a:buNone/>
            </a:pPr>
            <a:r>
              <a:rPr lang="en-US" sz="1100" dirty="0">
                <a:solidFill>
                  <a:srgbClr val="898781"/>
                </a:solidFill>
                <a:latin typeface="Calibri" pitchFamily="34" charset="0"/>
                <a:ea typeface="Calibri" pitchFamily="34" charset="-122"/>
                <a:cs typeface="Calibri" pitchFamily="34" charset="-120"/>
              </a:rPr>
              <a:t>transfer</a:t>
            </a:r>
            <a:endParaRPr lang="en-US" sz="1100" dirty="0"/>
          </a:p>
          <a:p>
            <a:pPr algn="r" indent="0" marL="0">
              <a:buNone/>
            </a:pPr>
            <a:r>
              <a:rPr lang="en-US" sz="1100" dirty="0">
                <a:solidFill>
                  <a:srgbClr val="898781"/>
                </a:solidFill>
                <a:latin typeface="Calibri" pitchFamily="34" charset="0"/>
                <a:ea typeface="Calibri" pitchFamily="34" charset="-122"/>
                <a:cs typeface="Calibri" pitchFamily="34" charset="-120"/>
              </a:rPr>
              <a:t>pengetahuan</a:t>
            </a:r>
            <a:endParaRPr lang="en-US" sz="1100" dirty="0"/>
          </a:p>
        </p:txBody>
      </p:sp>
      <p:sp>
        <p:nvSpPr>
          <p:cNvPr id="27" name="Text 25"/>
          <p:cNvSpPr/>
          <p:nvPr/>
        </p:nvSpPr>
        <p:spPr>
          <a:xfrm>
            <a:off x="11430000" y="6355080"/>
            <a:ext cx="411480" cy="274320"/>
          </a:xfrm>
          <a:prstGeom prst="rect">
            <a:avLst/>
          </a:prstGeom>
          <a:noFill/>
          <a:ln/>
        </p:spPr>
        <p:txBody>
          <a:bodyPr wrap="square" lIns="0" tIns="0" rIns="0" bIns="0" rtlCol="0" anchor="ctr"/>
          <a:lstStyle/>
          <a:p>
            <a:pPr algn="r" indent="0" marL="0">
              <a:buNone/>
            </a:pPr>
            <a:r>
              <a:rPr lang="en-US" sz="1000" dirty="0">
                <a:solidFill>
                  <a:srgbClr val="898781"/>
                </a:solidFill>
                <a:latin typeface="Calibri" pitchFamily="34" charset="0"/>
                <a:ea typeface="Calibri" pitchFamily="34" charset="-122"/>
                <a:cs typeface="Calibri" pitchFamily="34" charset="-120"/>
              </a:rPr>
              <a:t>12</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10896"/>
            <a:ext cx="8229600" cy="256032"/>
          </a:xfrm>
          <a:prstGeom prst="rect">
            <a:avLst/>
          </a:prstGeom>
          <a:noFill/>
          <a:ln/>
        </p:spPr>
        <p:txBody>
          <a:bodyPr wrap="square" lIns="0" tIns="0" rIns="0" bIns="0" rtlCol="0" anchor="ctr"/>
          <a:lstStyle/>
          <a:p>
            <a:pPr indent="0" marL="0">
              <a:buNone/>
            </a:pPr>
            <a:r>
              <a:rPr lang="en-US" sz="1100" b="1" spc="160" kern="0" dirty="0">
                <a:solidFill>
                  <a:srgbClr val="EB6834"/>
                </a:solidFill>
                <a:latin typeface="Calibri" pitchFamily="34" charset="0"/>
                <a:ea typeface="Calibri" pitchFamily="34" charset="-122"/>
                <a:cs typeface="Calibri" pitchFamily="34" charset="-120"/>
              </a:rPr>
              <a:t>METODOLOGI</a:t>
            </a:r>
            <a:endParaRPr lang="en-US" sz="1100" dirty="0"/>
          </a:p>
        </p:txBody>
      </p:sp>
      <p:sp>
        <p:nvSpPr>
          <p:cNvPr id="3" name="Text 1"/>
          <p:cNvSpPr/>
          <p:nvPr/>
        </p:nvSpPr>
        <p:spPr>
          <a:xfrm>
            <a:off x="548640" y="566928"/>
            <a:ext cx="11064240" cy="658368"/>
          </a:xfrm>
          <a:prstGeom prst="rect">
            <a:avLst/>
          </a:prstGeom>
          <a:noFill/>
          <a:ln/>
        </p:spPr>
        <p:txBody>
          <a:bodyPr wrap="square" lIns="0" tIns="0" rIns="0" bIns="0" rtlCol="0" anchor="t"/>
          <a:lstStyle/>
          <a:p>
            <a:pPr indent="0" marL="0">
              <a:buNone/>
            </a:pPr>
            <a:r>
              <a:rPr lang="en-US" sz="3000" b="1" dirty="0">
                <a:solidFill>
                  <a:srgbClr val="0E1E3C"/>
                </a:solidFill>
                <a:latin typeface="Cambria" pitchFamily="34" charset="0"/>
                <a:ea typeface="Cambria" pitchFamily="34" charset="-122"/>
                <a:cs typeface="Cambria" pitchFamily="34" charset="-120"/>
              </a:rPr>
              <a:t>Fungsi objektif</a:t>
            </a:r>
            <a:endParaRPr lang="en-US" sz="3000" dirty="0"/>
          </a:p>
        </p:txBody>
      </p:sp>
      <p:sp>
        <p:nvSpPr>
          <p:cNvPr id="4" name="Shape 2"/>
          <p:cNvSpPr/>
          <p:nvPr/>
        </p:nvSpPr>
        <p:spPr>
          <a:xfrm>
            <a:off x="548640" y="1600200"/>
            <a:ext cx="11064240" cy="1051560"/>
          </a:xfrm>
          <a:prstGeom prst="roundRect">
            <a:avLst>
              <a:gd name="adj" fmla="val 6957"/>
            </a:avLst>
          </a:prstGeom>
          <a:solidFill>
            <a:srgbClr val="0E1E3C"/>
          </a:solidFill>
          <a:ln w="12700">
            <a:solidFill>
              <a:srgbClr val="0E1E3C"/>
            </a:solidFill>
            <a:prstDash val="solid"/>
          </a:ln>
        </p:spPr>
      </p:sp>
      <p:sp>
        <p:nvSpPr>
          <p:cNvPr id="5" name="Text 3"/>
          <p:cNvSpPr/>
          <p:nvPr/>
        </p:nvSpPr>
        <p:spPr>
          <a:xfrm>
            <a:off x="548640" y="1828800"/>
            <a:ext cx="11064240" cy="594360"/>
          </a:xfrm>
          <a:prstGeom prst="rect">
            <a:avLst/>
          </a:prstGeom>
          <a:noFill/>
          <a:ln/>
        </p:spPr>
        <p:txBody>
          <a:bodyPr wrap="square" lIns="0" tIns="0" rIns="0" bIns="0" rtlCol="0" anchor="ctr"/>
          <a:lstStyle/>
          <a:p>
            <a:pPr algn="ctr" indent="0" marL="0">
              <a:buNone/>
            </a:pPr>
            <a:r>
              <a:rPr lang="en-US" sz="2200" b="1" dirty="0">
                <a:solidFill>
                  <a:srgbClr val="FFFFFF"/>
                </a:solidFill>
                <a:latin typeface="Courier New" pitchFamily="34" charset="0"/>
                <a:ea typeface="Courier New" pitchFamily="34" charset="-122"/>
                <a:cs typeface="Courier New" pitchFamily="34" charset="-120"/>
              </a:rPr>
              <a:t>L_total  =  alpha x L_task  +  beta x L_response  +  gamma x L_feature</a:t>
            </a:r>
            <a:endParaRPr lang="en-US" sz="2200" dirty="0"/>
          </a:p>
        </p:txBody>
      </p:sp>
      <p:sp>
        <p:nvSpPr>
          <p:cNvPr id="6" name="Shape 4"/>
          <p:cNvSpPr/>
          <p:nvPr/>
        </p:nvSpPr>
        <p:spPr>
          <a:xfrm>
            <a:off x="548640" y="2834640"/>
            <a:ext cx="11064240" cy="914400"/>
          </a:xfrm>
          <a:prstGeom prst="roundRect">
            <a:avLst>
              <a:gd name="adj" fmla="val 8000"/>
            </a:avLst>
          </a:prstGeom>
          <a:solidFill>
            <a:srgbClr val="F2F4F8"/>
          </a:solidFill>
          <a:ln w="12700">
            <a:solidFill>
              <a:srgbClr val="F2F4F8"/>
            </a:solidFill>
            <a:prstDash val="solid"/>
          </a:ln>
        </p:spPr>
      </p:sp>
      <p:sp>
        <p:nvSpPr>
          <p:cNvPr id="7" name="Text 5"/>
          <p:cNvSpPr/>
          <p:nvPr/>
        </p:nvSpPr>
        <p:spPr>
          <a:xfrm>
            <a:off x="868680" y="3108960"/>
            <a:ext cx="2011680" cy="365760"/>
          </a:xfrm>
          <a:prstGeom prst="rect">
            <a:avLst/>
          </a:prstGeom>
          <a:noFill/>
          <a:ln/>
        </p:spPr>
        <p:txBody>
          <a:bodyPr wrap="square" lIns="0" tIns="0" rIns="0" bIns="0" rtlCol="0" anchor="ctr"/>
          <a:lstStyle/>
          <a:p>
            <a:pPr indent="0" marL="0">
              <a:buNone/>
            </a:pPr>
            <a:r>
              <a:rPr lang="en-US" sz="1500" b="1" dirty="0">
                <a:solidFill>
                  <a:srgbClr val="EB6834"/>
                </a:solidFill>
                <a:latin typeface="Courier New" pitchFamily="34" charset="0"/>
                <a:ea typeface="Courier New" pitchFamily="34" charset="-122"/>
                <a:cs typeface="Courier New" pitchFamily="34" charset="-120"/>
              </a:rPr>
              <a:t>L_task</a:t>
            </a:r>
            <a:endParaRPr lang="en-US" sz="1500" dirty="0"/>
          </a:p>
        </p:txBody>
      </p:sp>
      <p:sp>
        <p:nvSpPr>
          <p:cNvPr id="8" name="Text 6"/>
          <p:cNvSpPr/>
          <p:nvPr/>
        </p:nvSpPr>
        <p:spPr>
          <a:xfrm>
            <a:off x="3017520" y="3017520"/>
            <a:ext cx="8321040" cy="594360"/>
          </a:xfrm>
          <a:prstGeom prst="rect">
            <a:avLst/>
          </a:prstGeom>
          <a:noFill/>
          <a:ln/>
        </p:spPr>
        <p:txBody>
          <a:bodyPr wrap="square" lIns="0" tIns="0" rIns="0" bIns="0" rtlCol="0" anchor="ctr"/>
          <a:lstStyle/>
          <a:p>
            <a:pPr indent="0" marL="0">
              <a:buNone/>
            </a:pPr>
            <a:r>
              <a:rPr lang="en-US" sz="1300" dirty="0">
                <a:solidFill>
                  <a:srgbClr val="0B0B0B"/>
                </a:solidFill>
                <a:latin typeface="Calibri" pitchFamily="34" charset="0"/>
                <a:ea typeface="Calibri" pitchFamily="34" charset="-122"/>
                <a:cs typeface="Calibri" pitchFamily="34" charset="-120"/>
              </a:rPr>
              <a:t>Loss YOLOv8 standar terhadap ground truth. Ini jangkar kebenaran, supaya student tidak ikut salah kalau gurunya salah</a:t>
            </a:r>
            <a:endParaRPr lang="en-US" sz="1300" dirty="0"/>
          </a:p>
        </p:txBody>
      </p:sp>
      <p:sp>
        <p:nvSpPr>
          <p:cNvPr id="9" name="Shape 7"/>
          <p:cNvSpPr/>
          <p:nvPr/>
        </p:nvSpPr>
        <p:spPr>
          <a:xfrm>
            <a:off x="548640" y="3886200"/>
            <a:ext cx="11064240" cy="914400"/>
          </a:xfrm>
          <a:prstGeom prst="roundRect">
            <a:avLst>
              <a:gd name="adj" fmla="val 8000"/>
            </a:avLst>
          </a:prstGeom>
          <a:solidFill>
            <a:srgbClr val="F2F4F8"/>
          </a:solidFill>
          <a:ln w="12700">
            <a:solidFill>
              <a:srgbClr val="F2F4F8"/>
            </a:solidFill>
            <a:prstDash val="solid"/>
          </a:ln>
        </p:spPr>
      </p:sp>
      <p:sp>
        <p:nvSpPr>
          <p:cNvPr id="10" name="Text 8"/>
          <p:cNvSpPr/>
          <p:nvPr/>
        </p:nvSpPr>
        <p:spPr>
          <a:xfrm>
            <a:off x="868680" y="4160520"/>
            <a:ext cx="2011680" cy="365760"/>
          </a:xfrm>
          <a:prstGeom prst="rect">
            <a:avLst/>
          </a:prstGeom>
          <a:noFill/>
          <a:ln/>
        </p:spPr>
        <p:txBody>
          <a:bodyPr wrap="square" lIns="0" tIns="0" rIns="0" bIns="0" rtlCol="0" anchor="ctr"/>
          <a:lstStyle/>
          <a:p>
            <a:pPr indent="0" marL="0">
              <a:buNone/>
            </a:pPr>
            <a:r>
              <a:rPr lang="en-US" sz="1500" b="1" dirty="0">
                <a:solidFill>
                  <a:srgbClr val="EB6834"/>
                </a:solidFill>
                <a:latin typeface="Courier New" pitchFamily="34" charset="0"/>
                <a:ea typeface="Courier New" pitchFamily="34" charset="-122"/>
                <a:cs typeface="Courier New" pitchFamily="34" charset="-120"/>
              </a:rPr>
              <a:t>L_response</a:t>
            </a:r>
            <a:endParaRPr lang="en-US" sz="1500" dirty="0"/>
          </a:p>
        </p:txBody>
      </p:sp>
      <p:sp>
        <p:nvSpPr>
          <p:cNvPr id="11" name="Text 9"/>
          <p:cNvSpPr/>
          <p:nvPr/>
        </p:nvSpPr>
        <p:spPr>
          <a:xfrm>
            <a:off x="3017520" y="4069080"/>
            <a:ext cx="8321040" cy="594360"/>
          </a:xfrm>
          <a:prstGeom prst="rect">
            <a:avLst/>
          </a:prstGeom>
          <a:noFill/>
          <a:ln/>
        </p:spPr>
        <p:txBody>
          <a:bodyPr wrap="square" lIns="0" tIns="0" rIns="0" bIns="0" rtlCol="0" anchor="ctr"/>
          <a:lstStyle/>
          <a:p>
            <a:pPr indent="0" marL="0">
              <a:buNone/>
            </a:pPr>
            <a:r>
              <a:rPr lang="en-US" sz="1300" dirty="0">
                <a:solidFill>
                  <a:srgbClr val="0B0B0B"/>
                </a:solidFill>
                <a:latin typeface="Calibri" pitchFamily="34" charset="0"/>
                <a:ea typeface="Calibri" pitchFamily="34" charset="-122"/>
                <a:cs typeface="Calibri" pitchFamily="34" charset="-120"/>
              </a:rPr>
              <a:t>KL divergence pada class logits dan distribusi DFL, dihitung dengan temperature supaya sinyal kelas minoritas tidak tenggelam</a:t>
            </a:r>
            <a:endParaRPr lang="en-US" sz="1300" dirty="0"/>
          </a:p>
        </p:txBody>
      </p:sp>
      <p:sp>
        <p:nvSpPr>
          <p:cNvPr id="12" name="Shape 10"/>
          <p:cNvSpPr/>
          <p:nvPr/>
        </p:nvSpPr>
        <p:spPr>
          <a:xfrm>
            <a:off x="548640" y="4937760"/>
            <a:ext cx="11064240" cy="914400"/>
          </a:xfrm>
          <a:prstGeom prst="roundRect">
            <a:avLst>
              <a:gd name="adj" fmla="val 8000"/>
            </a:avLst>
          </a:prstGeom>
          <a:solidFill>
            <a:srgbClr val="F2F4F8"/>
          </a:solidFill>
          <a:ln w="12700">
            <a:solidFill>
              <a:srgbClr val="F2F4F8"/>
            </a:solidFill>
            <a:prstDash val="solid"/>
          </a:ln>
        </p:spPr>
      </p:sp>
      <p:sp>
        <p:nvSpPr>
          <p:cNvPr id="13" name="Text 11"/>
          <p:cNvSpPr/>
          <p:nvPr/>
        </p:nvSpPr>
        <p:spPr>
          <a:xfrm>
            <a:off x="868680" y="5212080"/>
            <a:ext cx="2011680" cy="365760"/>
          </a:xfrm>
          <a:prstGeom prst="rect">
            <a:avLst/>
          </a:prstGeom>
          <a:noFill/>
          <a:ln/>
        </p:spPr>
        <p:txBody>
          <a:bodyPr wrap="square" lIns="0" tIns="0" rIns="0" bIns="0" rtlCol="0" anchor="ctr"/>
          <a:lstStyle/>
          <a:p>
            <a:pPr indent="0" marL="0">
              <a:buNone/>
            </a:pPr>
            <a:r>
              <a:rPr lang="en-US" sz="1500" b="1" dirty="0">
                <a:solidFill>
                  <a:srgbClr val="EB6834"/>
                </a:solidFill>
                <a:latin typeface="Courier New" pitchFamily="34" charset="0"/>
                <a:ea typeface="Courier New" pitchFamily="34" charset="-122"/>
                <a:cs typeface="Courier New" pitchFamily="34" charset="-120"/>
              </a:rPr>
              <a:t>L_feature</a:t>
            </a:r>
            <a:endParaRPr lang="en-US" sz="1500" dirty="0"/>
          </a:p>
        </p:txBody>
      </p:sp>
      <p:sp>
        <p:nvSpPr>
          <p:cNvPr id="14" name="Text 12"/>
          <p:cNvSpPr/>
          <p:nvPr/>
        </p:nvSpPr>
        <p:spPr>
          <a:xfrm>
            <a:off x="3017520" y="5120640"/>
            <a:ext cx="8321040" cy="594360"/>
          </a:xfrm>
          <a:prstGeom prst="rect">
            <a:avLst/>
          </a:prstGeom>
          <a:noFill/>
          <a:ln/>
        </p:spPr>
        <p:txBody>
          <a:bodyPr wrap="square" lIns="0" tIns="0" rIns="0" bIns="0" rtlCol="0" anchor="ctr"/>
          <a:lstStyle/>
          <a:p>
            <a:pPr indent="0" marL="0">
              <a:buNone/>
            </a:pPr>
            <a:r>
              <a:rPr lang="en-US" sz="1300" dirty="0">
                <a:solidFill>
                  <a:srgbClr val="0B0B0B"/>
                </a:solidFill>
                <a:latin typeface="Calibri" pitchFamily="34" charset="0"/>
                <a:ea typeface="Calibri" pitchFamily="34" charset="-122"/>
                <a:cs typeface="Calibri" pitchFamily="34" charset="-120"/>
              </a:rPr>
              <a:t>Channel-wise distillation pada tiga level neck, membandingkan pola perhatian spasial guru dan student</a:t>
            </a:r>
            <a:endParaRPr lang="en-US" sz="1300" dirty="0"/>
          </a:p>
        </p:txBody>
      </p:sp>
      <p:sp>
        <p:nvSpPr>
          <p:cNvPr id="15" name="Text 13"/>
          <p:cNvSpPr/>
          <p:nvPr/>
        </p:nvSpPr>
        <p:spPr>
          <a:xfrm>
            <a:off x="548640" y="6053328"/>
            <a:ext cx="11064240" cy="411480"/>
          </a:xfrm>
          <a:prstGeom prst="rect">
            <a:avLst/>
          </a:prstGeom>
          <a:noFill/>
          <a:ln/>
        </p:spPr>
        <p:txBody>
          <a:bodyPr wrap="square" lIns="0" tIns="0" rIns="0" bIns="0" rtlCol="0" anchor="ctr"/>
          <a:lstStyle/>
          <a:p>
            <a:pPr indent="0" marL="0">
              <a:buNone/>
            </a:pPr>
            <a:r>
              <a:rPr lang="en-US" sz="1300" i="1" dirty="0">
                <a:solidFill>
                  <a:srgbClr val="52514E"/>
                </a:solidFill>
                <a:latin typeface="Calibri" pitchFamily="34" charset="0"/>
                <a:ea typeface="Calibri" pitchFamily="34" charset="-122"/>
                <a:cs typeface="Calibri" pitchFamily="34" charset="-120"/>
              </a:rPr>
              <a:t>Bobot pada konfigurasi final: alpha 0,7 dan gamma 0,03, sedangkan beta tidak konstan lagi. Penjelasannya di slide berikutnya.</a:t>
            </a:r>
            <a:endParaRPr lang="en-US" sz="1300" dirty="0"/>
          </a:p>
        </p:txBody>
      </p:sp>
      <p:sp>
        <p:nvSpPr>
          <p:cNvPr id="16" name="Text 14"/>
          <p:cNvSpPr/>
          <p:nvPr/>
        </p:nvSpPr>
        <p:spPr>
          <a:xfrm>
            <a:off x="11430000" y="6355080"/>
            <a:ext cx="411480" cy="274320"/>
          </a:xfrm>
          <a:prstGeom prst="rect">
            <a:avLst/>
          </a:prstGeom>
          <a:noFill/>
          <a:ln/>
        </p:spPr>
        <p:txBody>
          <a:bodyPr wrap="square" lIns="0" tIns="0" rIns="0" bIns="0" rtlCol="0" anchor="ctr"/>
          <a:lstStyle/>
          <a:p>
            <a:pPr algn="r" indent="0" marL="0">
              <a:buNone/>
            </a:pPr>
            <a:r>
              <a:rPr lang="en-US" sz="1000" dirty="0">
                <a:solidFill>
                  <a:srgbClr val="898781"/>
                </a:solidFill>
                <a:latin typeface="Calibri" pitchFamily="34" charset="0"/>
                <a:ea typeface="Calibri" pitchFamily="34" charset="-122"/>
                <a:cs typeface="Calibri" pitchFamily="34" charset="-120"/>
              </a:rPr>
              <a:t>13</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10896"/>
            <a:ext cx="8229600" cy="256032"/>
          </a:xfrm>
          <a:prstGeom prst="rect">
            <a:avLst/>
          </a:prstGeom>
          <a:noFill/>
          <a:ln/>
        </p:spPr>
        <p:txBody>
          <a:bodyPr wrap="square" lIns="0" tIns="0" rIns="0" bIns="0" rtlCol="0" anchor="ctr"/>
          <a:lstStyle/>
          <a:p>
            <a:pPr indent="0" marL="0">
              <a:buNone/>
            </a:pPr>
            <a:r>
              <a:rPr lang="en-US" sz="1100" b="1" spc="160" kern="0" dirty="0">
                <a:solidFill>
                  <a:srgbClr val="EB6834"/>
                </a:solidFill>
                <a:latin typeface="Calibri" pitchFamily="34" charset="0"/>
                <a:ea typeface="Calibri" pitchFamily="34" charset="-122"/>
                <a:cs typeface="Calibri" pitchFamily="34" charset="-120"/>
              </a:rPr>
              <a:t>KONTRIBUSI METODE</a:t>
            </a:r>
            <a:endParaRPr lang="en-US" sz="1100" dirty="0"/>
          </a:p>
        </p:txBody>
      </p:sp>
      <p:sp>
        <p:nvSpPr>
          <p:cNvPr id="3" name="Text 1"/>
          <p:cNvSpPr/>
          <p:nvPr/>
        </p:nvSpPr>
        <p:spPr>
          <a:xfrm>
            <a:off x="548640" y="566928"/>
            <a:ext cx="11064240" cy="658368"/>
          </a:xfrm>
          <a:prstGeom prst="rect">
            <a:avLst/>
          </a:prstGeom>
          <a:noFill/>
          <a:ln/>
        </p:spPr>
        <p:txBody>
          <a:bodyPr wrap="square" lIns="0" tIns="0" rIns="0" bIns="0" rtlCol="0" anchor="t"/>
          <a:lstStyle/>
          <a:p>
            <a:pPr indent="0" marL="0">
              <a:buNone/>
            </a:pPr>
            <a:r>
              <a:rPr lang="en-US" sz="3000" b="1" dirty="0">
                <a:solidFill>
                  <a:srgbClr val="0E1E3C"/>
                </a:solidFill>
                <a:latin typeface="Cambria" pitchFamily="34" charset="0"/>
                <a:ea typeface="Cambria" pitchFamily="34" charset="-122"/>
                <a:cs typeface="Cambria" pitchFamily="34" charset="-120"/>
              </a:rPr>
              <a:t>Apa yang membedakan metode kami dari KD standar</a:t>
            </a:r>
            <a:endParaRPr lang="en-US" sz="30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48640" y="1828800"/>
          <a:ext cx="11064240" cy="914400"/>
        </p:xfrm>
        <a:graphic>
          <a:graphicData uri="http://schemas.openxmlformats.org/drawingml/2006/table">
            <a:tbl>
              <a:tblPr/>
              <a:tblGrid>
                <a:gridCol w="1920240"/>
                <a:gridCol w="2834640"/>
                <a:gridCol w="3017520"/>
                <a:gridCol w="3291840"/>
              </a:tblGrid>
              <a:tr h="566928">
                <a:tc>
                  <a:txBody>
                    <a:bodyPr/>
                    <a:lstStyle/>
                    <a:p>
                      <a:pPr algn="l" indent="0" marL="0">
                        <a:buNone/>
                      </a:pPr>
                      <a:r>
                        <a:rPr lang="en-US" sz="1250" b="1" dirty="0">
                          <a:solidFill>
                            <a:srgbClr val="FFFFFF"/>
                          </a:solidFill>
                          <a:latin typeface="Calibri" pitchFamily="34" charset="0"/>
                          <a:ea typeface="Calibri" pitchFamily="34" charset="-122"/>
                          <a:cs typeface="Calibri" pitchFamily="34" charset="-120"/>
                        </a:rPr>
                        <a:t>Aspek</a:t>
                      </a:r>
                      <a:endParaRPr lang="en-US" sz="125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0E1E3C"/>
                    </a:solidFill>
                  </a:tcPr>
                </a:tc>
                <a:tc>
                  <a:txBody>
                    <a:bodyPr/>
                    <a:lstStyle/>
                    <a:p>
                      <a:pPr algn="l" indent="0" marL="0">
                        <a:buNone/>
                      </a:pPr>
                      <a:r>
                        <a:rPr lang="en-US" sz="1250" b="1" dirty="0">
                          <a:solidFill>
                            <a:srgbClr val="FFFFFF"/>
                          </a:solidFill>
                          <a:latin typeface="Calibri" pitchFamily="34" charset="0"/>
                          <a:ea typeface="Calibri" pitchFamily="34" charset="-122"/>
                          <a:cs typeface="Calibri" pitchFamily="34" charset="-120"/>
                        </a:rPr>
                        <a:t>KD standar</a:t>
                      </a:r>
                      <a:endParaRPr lang="en-US" sz="125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0E1E3C"/>
                    </a:solidFill>
                  </a:tcPr>
                </a:tc>
                <a:tc>
                  <a:txBody>
                    <a:bodyPr/>
                    <a:lstStyle/>
                    <a:p>
                      <a:pPr algn="l" indent="0" marL="0">
                        <a:buNone/>
                      </a:pPr>
                      <a:r>
                        <a:rPr lang="en-US" sz="1250" b="1" dirty="0">
                          <a:solidFill>
                            <a:srgbClr val="FFFFFF"/>
                          </a:solidFill>
                          <a:latin typeface="Calibri" pitchFamily="34" charset="0"/>
                          <a:ea typeface="Calibri" pitchFamily="34" charset="-122"/>
                          <a:cs typeface="Calibri" pitchFamily="34" charset="-120"/>
                        </a:rPr>
                        <a:t>Metode kami</a:t>
                      </a:r>
                      <a:endParaRPr lang="en-US" sz="125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0E1E3C"/>
                    </a:solidFill>
                  </a:tcPr>
                </a:tc>
                <a:tc>
                  <a:txBody>
                    <a:bodyPr/>
                    <a:lstStyle/>
                    <a:p>
                      <a:pPr algn="l" indent="0" marL="0">
                        <a:buNone/>
                      </a:pPr>
                      <a:r>
                        <a:rPr lang="en-US" sz="1250" b="1" dirty="0">
                          <a:solidFill>
                            <a:srgbClr val="FFFFFF"/>
                          </a:solidFill>
                          <a:latin typeface="Calibri" pitchFamily="34" charset="0"/>
                          <a:ea typeface="Calibri" pitchFamily="34" charset="-122"/>
                          <a:cs typeface="Calibri" pitchFamily="34" charset="-120"/>
                        </a:rPr>
                        <a:t>Alasan</a:t>
                      </a:r>
                      <a:endParaRPr lang="en-US" sz="125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0E1E3C"/>
                    </a:solidFill>
                  </a:tcPr>
                </a:tc>
              </a:tr>
              <a:tr h="566928">
                <a:tc>
                  <a:txBody>
                    <a:bodyPr/>
                    <a:lstStyle/>
                    <a:p>
                      <a:pPr algn="l" indent="0" marL="0">
                        <a:buNone/>
                      </a:pPr>
                      <a:r>
                        <a:rPr lang="en-US" sz="1200" dirty="0">
                          <a:solidFill>
                            <a:srgbClr val="52514E"/>
                          </a:solidFill>
                          <a:latin typeface="Calibri" pitchFamily="34" charset="0"/>
                          <a:ea typeface="Calibri" pitchFamily="34" charset="-122"/>
                          <a:cs typeface="Calibri" pitchFamily="34" charset="-120"/>
                        </a:rPr>
                        <a:t>Pemilihan anchor</a:t>
                      </a:r>
                      <a:endParaRPr lang="en-US" sz="120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FFFFF"/>
                    </a:solidFill>
                  </a:tcPr>
                </a:tc>
                <a:tc>
                  <a:txBody>
                    <a:bodyPr/>
                    <a:lstStyle/>
                    <a:p>
                      <a:pPr algn="l" indent="0" marL="0">
                        <a:buNone/>
                      </a:pPr>
                      <a:r>
                        <a:rPr lang="en-US" sz="1200" dirty="0">
                          <a:solidFill>
                            <a:srgbClr val="52514E"/>
                          </a:solidFill>
                          <a:latin typeface="Calibri" pitchFamily="34" charset="0"/>
                          <a:ea typeface="Calibri" pitchFamily="34" charset="-122"/>
                          <a:cs typeface="Calibri" pitchFamily="34" charset="-120"/>
                        </a:rPr>
                        <a:t>Hard threshold, anchor di bawah ambang dibuang</a:t>
                      </a:r>
                      <a:endParaRPr lang="en-US" sz="120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FFFFF"/>
                    </a:solidFill>
                  </a:tcPr>
                </a:tc>
                <a:tc>
                  <a:txBody>
                    <a:bodyPr/>
                    <a:lstStyle/>
                    <a:p>
                      <a:pPr algn="l" indent="0" marL="0">
                        <a:buNone/>
                      </a:pPr>
                      <a:r>
                        <a:rPr lang="en-US" sz="1200" dirty="0">
                          <a:solidFill>
                            <a:srgbClr val="0E1E3C"/>
                          </a:solidFill>
                          <a:latin typeface="Calibri" pitchFamily="34" charset="0"/>
                          <a:ea typeface="Calibri" pitchFamily="34" charset="-122"/>
                          <a:cs typeface="Calibri" pitchFamily="34" charset="-120"/>
                        </a:rPr>
                        <a:t>Soft weighting, bobot kontinu akar dari confidence guru</a:t>
                      </a:r>
                      <a:endParaRPr lang="en-US" sz="120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EEF3FB"/>
                    </a:solidFill>
                  </a:tcPr>
                </a:tc>
                <a:tc>
                  <a:txBody>
                    <a:bodyPr/>
                    <a:lstStyle/>
                    <a:p>
                      <a:pPr algn="l" indent="0" marL="0">
                        <a:buNone/>
                      </a:pPr>
                      <a:r>
                        <a:rPr lang="en-US" sz="1200" dirty="0">
                          <a:solidFill>
                            <a:srgbClr val="52514E"/>
                          </a:solidFill>
                          <a:latin typeface="Calibri" pitchFamily="34" charset="0"/>
                          <a:ea typeface="Calibri" pitchFamily="34" charset="-122"/>
                          <a:cs typeface="Calibri" pitchFamily="34" charset="-120"/>
                        </a:rPr>
                        <a:t>Objek samar di malam hari justru yang paling butuh bimbingan, jangan dibuang</a:t>
                      </a:r>
                      <a:endParaRPr lang="en-US" sz="120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FFFFF"/>
                    </a:solidFill>
                  </a:tcPr>
                </a:tc>
              </a:tr>
              <a:tr h="566928">
                <a:tc>
                  <a:txBody>
                    <a:bodyPr/>
                    <a:lstStyle/>
                    <a:p>
                      <a:pPr algn="l" indent="0" marL="0">
                        <a:buNone/>
                      </a:pPr>
                      <a:r>
                        <a:rPr lang="en-US" sz="1200" dirty="0">
                          <a:solidFill>
                            <a:srgbClr val="52514E"/>
                          </a:solidFill>
                          <a:latin typeface="Calibri" pitchFamily="34" charset="0"/>
                          <a:ea typeface="Calibri" pitchFamily="34" charset="-122"/>
                          <a:cs typeface="Calibri" pitchFamily="34" charset="-120"/>
                        </a:rPr>
                        <a:t>Bobot distilasi</a:t>
                      </a:r>
                      <a:endParaRPr lang="en-US" sz="120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FFFFF"/>
                    </a:solidFill>
                  </a:tcPr>
                </a:tc>
                <a:tc>
                  <a:txBody>
                    <a:bodyPr/>
                    <a:lstStyle/>
                    <a:p>
                      <a:pPr algn="l" indent="0" marL="0">
                        <a:buNone/>
                      </a:pPr>
                      <a:r>
                        <a:rPr lang="en-US" sz="1200" dirty="0">
                          <a:solidFill>
                            <a:srgbClr val="52514E"/>
                          </a:solidFill>
                          <a:latin typeface="Calibri" pitchFamily="34" charset="0"/>
                          <a:ea typeface="Calibri" pitchFamily="34" charset="-122"/>
                          <a:cs typeface="Calibri" pitchFamily="34" charset="-120"/>
                        </a:rPr>
                        <a:t>Beta konstan sepanjang training</a:t>
                      </a:r>
                      <a:endParaRPr lang="en-US" sz="120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FFFFF"/>
                    </a:solidFill>
                  </a:tcPr>
                </a:tc>
                <a:tc>
                  <a:txBody>
                    <a:bodyPr/>
                    <a:lstStyle/>
                    <a:p>
                      <a:pPr algn="l" indent="0" marL="0">
                        <a:buNone/>
                      </a:pPr>
                      <a:r>
                        <a:rPr lang="en-US" sz="1200" dirty="0">
                          <a:solidFill>
                            <a:srgbClr val="0E1E3C"/>
                          </a:solidFill>
                          <a:latin typeface="Calibri" pitchFamily="34" charset="0"/>
                          <a:ea typeface="Calibri" pitchFamily="34" charset="-122"/>
                          <a:cs typeface="Calibri" pitchFamily="34" charset="-120"/>
                        </a:rPr>
                        <a:t>Cosine decay dari 0,35 ke 0,10</a:t>
                      </a:r>
                      <a:endParaRPr lang="en-US" sz="120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EEF3FB"/>
                    </a:solidFill>
                  </a:tcPr>
                </a:tc>
                <a:tc>
                  <a:txBody>
                    <a:bodyPr/>
                    <a:lstStyle/>
                    <a:p>
                      <a:pPr algn="l" indent="0" marL="0">
                        <a:buNone/>
                      </a:pPr>
                      <a:r>
                        <a:rPr lang="en-US" sz="1200" dirty="0">
                          <a:solidFill>
                            <a:srgbClr val="52514E"/>
                          </a:solidFill>
                          <a:latin typeface="Calibri" pitchFamily="34" charset="0"/>
                          <a:ea typeface="Calibri" pitchFamily="34" charset="-122"/>
                          <a:cs typeface="Calibri" pitchFamily="34" charset="-120"/>
                        </a:rPr>
                        <a:t>Awal training butuh arahan guru, akhir training butuh ground truth</a:t>
                      </a:r>
                      <a:endParaRPr lang="en-US" sz="120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FFFFF"/>
                    </a:solidFill>
                  </a:tcPr>
                </a:tc>
              </a:tr>
              <a:tr h="566928">
                <a:tc>
                  <a:txBody>
                    <a:bodyPr/>
                    <a:lstStyle/>
                    <a:p>
                      <a:pPr algn="l" indent="0" marL="0">
                        <a:buNone/>
                      </a:pPr>
                      <a:r>
                        <a:rPr lang="en-US" sz="1200" dirty="0">
                          <a:solidFill>
                            <a:srgbClr val="52514E"/>
                          </a:solidFill>
                          <a:latin typeface="Calibri" pitchFamily="34" charset="0"/>
                          <a:ea typeface="Calibri" pitchFamily="34" charset="-122"/>
                          <a:cs typeface="Calibri" pitchFamily="34" charset="-120"/>
                        </a:rPr>
                        <a:t>Transfer fitur</a:t>
                      </a:r>
                      <a:endParaRPr lang="en-US" sz="120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FFFFF"/>
                    </a:solidFill>
                  </a:tcPr>
                </a:tc>
                <a:tc>
                  <a:txBody>
                    <a:bodyPr/>
                    <a:lstStyle/>
                    <a:p>
                      <a:pPr algn="l" indent="0" marL="0">
                        <a:buNone/>
                      </a:pPr>
                      <a:r>
                        <a:rPr lang="en-US" sz="1200" dirty="0">
                          <a:solidFill>
                            <a:srgbClr val="52514E"/>
                          </a:solidFill>
                          <a:latin typeface="Calibri" pitchFamily="34" charset="0"/>
                          <a:ea typeface="Calibri" pitchFamily="34" charset="-122"/>
                          <a:cs typeface="Calibri" pitchFamily="34" charset="-120"/>
                        </a:rPr>
                        <a:t>MSE pada activation map</a:t>
                      </a:r>
                      <a:endParaRPr lang="en-US" sz="120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FFFFF"/>
                    </a:solidFill>
                  </a:tcPr>
                </a:tc>
                <a:tc>
                  <a:txBody>
                    <a:bodyPr/>
                    <a:lstStyle/>
                    <a:p>
                      <a:pPr algn="l" indent="0" marL="0">
                        <a:buNone/>
                      </a:pPr>
                      <a:r>
                        <a:rPr lang="en-US" sz="1200" dirty="0">
                          <a:solidFill>
                            <a:srgbClr val="0E1E3C"/>
                          </a:solidFill>
                          <a:latin typeface="Calibri" pitchFamily="34" charset="0"/>
                          <a:ea typeface="Calibri" pitchFamily="34" charset="-122"/>
                          <a:cs typeface="Calibri" pitchFamily="34" charset="-120"/>
                        </a:rPr>
                        <a:t>Channel-wise Distillation, KL pada softmax spasial</a:t>
                      </a:r>
                      <a:endParaRPr lang="en-US" sz="120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EEF3FB"/>
                    </a:solidFill>
                  </a:tcPr>
                </a:tc>
                <a:tc>
                  <a:txBody>
                    <a:bodyPr/>
                    <a:lstStyle/>
                    <a:p>
                      <a:pPr algn="l" indent="0" marL="0">
                        <a:buNone/>
                      </a:pPr>
                      <a:r>
                        <a:rPr lang="en-US" sz="1200" dirty="0">
                          <a:solidFill>
                            <a:srgbClr val="52514E"/>
                          </a:solidFill>
                          <a:latin typeface="Calibri" pitchFamily="34" charset="0"/>
                          <a:ea typeface="Calibri" pitchFamily="34" charset="-122"/>
                          <a:cs typeface="Calibri" pitchFamily="34" charset="-120"/>
                        </a:rPr>
                        <a:t>Meniru di mana guru melihat, bukan seberapa besar aktivasinya</a:t>
                      </a:r>
                      <a:endParaRPr lang="en-US" sz="120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FFFFF"/>
                    </a:solidFill>
                  </a:tcPr>
                </a:tc>
              </a:tr>
            </a:tbl>
          </a:graphicData>
        </a:graphic>
      </p:graphicFrame>
      <p:sp>
        <p:nvSpPr>
          <p:cNvPr id="5" name="Shape 2"/>
          <p:cNvSpPr/>
          <p:nvPr/>
        </p:nvSpPr>
        <p:spPr>
          <a:xfrm>
            <a:off x="548640" y="4434840"/>
            <a:ext cx="11064240" cy="1143000"/>
          </a:xfrm>
          <a:prstGeom prst="roundRect">
            <a:avLst>
              <a:gd name="adj" fmla="val 6400"/>
            </a:avLst>
          </a:prstGeom>
          <a:solidFill>
            <a:srgbClr val="F2F4F8"/>
          </a:solidFill>
          <a:ln w="12700">
            <a:solidFill>
              <a:srgbClr val="F2F4F8"/>
            </a:solidFill>
            <a:prstDash val="solid"/>
          </a:ln>
        </p:spPr>
      </p:sp>
      <p:sp>
        <p:nvSpPr>
          <p:cNvPr id="6" name="Text 3"/>
          <p:cNvSpPr/>
          <p:nvPr/>
        </p:nvSpPr>
        <p:spPr>
          <a:xfrm>
            <a:off x="868680" y="4645152"/>
            <a:ext cx="10424160" cy="777240"/>
          </a:xfrm>
          <a:prstGeom prst="rect">
            <a:avLst/>
          </a:prstGeom>
          <a:noFill/>
          <a:ln/>
        </p:spPr>
        <p:txBody>
          <a:bodyPr wrap="square" lIns="0" tIns="0" rIns="0" bIns="0" rtlCol="0" anchor="ctr"/>
          <a:lstStyle/>
          <a:p>
            <a:pPr indent="0" marL="0">
              <a:buNone/>
            </a:pPr>
            <a:r>
              <a:rPr lang="en-US" sz="1350" dirty="0">
                <a:solidFill>
                  <a:srgbClr val="0E1E3C"/>
                </a:solidFill>
                <a:latin typeface="Calibri" pitchFamily="34" charset="0"/>
                <a:ea typeface="Calibri" pitchFamily="34" charset="-122"/>
                <a:cs typeface="Calibri" pitchFamily="34" charset="-120"/>
              </a:rPr>
              <a:t>Jujur soal orisinalitas: ketiga komponen ini diadaptasi dari literatur, bukan ciptaan kami. Yang baru adalah alasan memilihnya, yaitu ketiganya dipilih spesifik untuk menyerang kegagalan pada kondisi gelap, dan kami buktikan kontribusinya lewat ablation.</a:t>
            </a:r>
            <a:endParaRPr lang="en-US" sz="1350" dirty="0"/>
          </a:p>
        </p:txBody>
      </p:sp>
      <p:sp>
        <p:nvSpPr>
          <p:cNvPr id="7" name="Text 4"/>
          <p:cNvSpPr/>
          <p:nvPr/>
        </p:nvSpPr>
        <p:spPr>
          <a:xfrm>
            <a:off x="11430000" y="6355080"/>
            <a:ext cx="411480" cy="274320"/>
          </a:xfrm>
          <a:prstGeom prst="rect">
            <a:avLst/>
          </a:prstGeom>
          <a:noFill/>
          <a:ln/>
        </p:spPr>
        <p:txBody>
          <a:bodyPr wrap="square" lIns="0" tIns="0" rIns="0" bIns="0" rtlCol="0" anchor="ctr"/>
          <a:lstStyle/>
          <a:p>
            <a:pPr algn="r" indent="0" marL="0">
              <a:buNone/>
            </a:pPr>
            <a:r>
              <a:rPr lang="en-US" sz="1000" dirty="0">
                <a:solidFill>
                  <a:srgbClr val="898781"/>
                </a:solidFill>
                <a:latin typeface="Calibri" pitchFamily="34" charset="0"/>
                <a:ea typeface="Calibri" pitchFamily="34" charset="-122"/>
                <a:cs typeface="Calibri" pitchFamily="34" charset="-120"/>
              </a:rPr>
              <a:t>14</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10896"/>
            <a:ext cx="8229600" cy="256032"/>
          </a:xfrm>
          <a:prstGeom prst="rect">
            <a:avLst/>
          </a:prstGeom>
          <a:noFill/>
          <a:ln/>
        </p:spPr>
        <p:txBody>
          <a:bodyPr wrap="square" lIns="0" tIns="0" rIns="0" bIns="0" rtlCol="0" anchor="ctr"/>
          <a:lstStyle/>
          <a:p>
            <a:pPr indent="0" marL="0">
              <a:buNone/>
            </a:pPr>
            <a:r>
              <a:rPr lang="en-US" sz="1100" b="1" spc="160" kern="0" dirty="0">
                <a:solidFill>
                  <a:srgbClr val="EB6834"/>
                </a:solidFill>
                <a:latin typeface="Calibri" pitchFamily="34" charset="0"/>
                <a:ea typeface="Calibri" pitchFamily="34" charset="-122"/>
                <a:cs typeface="Calibri" pitchFamily="34" charset="-120"/>
              </a:rPr>
              <a:t>HASIL</a:t>
            </a:r>
            <a:endParaRPr lang="en-US" sz="1100" dirty="0"/>
          </a:p>
        </p:txBody>
      </p:sp>
      <p:sp>
        <p:nvSpPr>
          <p:cNvPr id="3" name="Text 1"/>
          <p:cNvSpPr/>
          <p:nvPr/>
        </p:nvSpPr>
        <p:spPr>
          <a:xfrm>
            <a:off x="548640" y="566928"/>
            <a:ext cx="11064240" cy="658368"/>
          </a:xfrm>
          <a:prstGeom prst="rect">
            <a:avLst/>
          </a:prstGeom>
          <a:noFill/>
          <a:ln/>
        </p:spPr>
        <p:txBody>
          <a:bodyPr wrap="square" lIns="0" tIns="0" rIns="0" bIns="0" rtlCol="0" anchor="t"/>
          <a:lstStyle/>
          <a:p>
            <a:pPr indent="0" marL="0">
              <a:buNone/>
            </a:pPr>
            <a:r>
              <a:rPr lang="en-US" sz="3000" b="1" dirty="0">
                <a:solidFill>
                  <a:srgbClr val="0E1E3C"/>
                </a:solidFill>
                <a:latin typeface="Cambria" pitchFamily="34" charset="0"/>
                <a:ea typeface="Cambria" pitchFamily="34" charset="-122"/>
                <a:cs typeface="Cambria" pitchFamily="34" charset="-120"/>
              </a:rPr>
              <a:t>Hasil 1: tiga kali training, hasilnya stabil</a:t>
            </a:r>
            <a:endParaRPr lang="en-US" sz="3000" dirty="0"/>
          </a:p>
        </p:txBody>
      </p:sp>
      <p:pic>
        <p:nvPicPr>
          <p:cNvPr id="4" name="Image 0" descr="/home/claude/kd_consistency/fig1_consistency.png">    </p:cNvPr>
          <p:cNvPicPr>
            <a:picLocks noChangeAspect="1"/>
          </p:cNvPicPr>
          <p:nvPr/>
        </p:nvPicPr>
        <p:blipFill>
          <a:blip r:embed="rId1"/>
          <a:stretch>
            <a:fillRect/>
          </a:stretch>
        </p:blipFill>
        <p:spPr>
          <a:xfrm>
            <a:off x="685800" y="1417320"/>
            <a:ext cx="10789920" cy="3383280"/>
          </a:xfrm>
          <a:prstGeom prst="rect">
            <a:avLst/>
          </a:prstGeom>
        </p:spPr>
      </p:pic>
      <p:sp>
        <p:nvSpPr>
          <p:cNvPr id="5" name="Shape 2"/>
          <p:cNvSpPr/>
          <p:nvPr/>
        </p:nvSpPr>
        <p:spPr>
          <a:xfrm>
            <a:off x="685800" y="5138928"/>
            <a:ext cx="3383280" cy="1005840"/>
          </a:xfrm>
          <a:prstGeom prst="roundRect">
            <a:avLst>
              <a:gd name="adj" fmla="val 7273"/>
            </a:avLst>
          </a:prstGeom>
          <a:solidFill>
            <a:srgbClr val="F2F4F8"/>
          </a:solidFill>
          <a:ln w="12700">
            <a:solidFill>
              <a:srgbClr val="F2F4F8"/>
            </a:solidFill>
            <a:prstDash val="solid"/>
          </a:ln>
        </p:spPr>
      </p:sp>
      <p:sp>
        <p:nvSpPr>
          <p:cNvPr id="6" name="Text 3"/>
          <p:cNvSpPr/>
          <p:nvPr/>
        </p:nvSpPr>
        <p:spPr>
          <a:xfrm>
            <a:off x="960120" y="5230368"/>
            <a:ext cx="1463040" cy="502920"/>
          </a:xfrm>
          <a:prstGeom prst="rect">
            <a:avLst/>
          </a:prstGeom>
          <a:noFill/>
          <a:ln/>
        </p:spPr>
        <p:txBody>
          <a:bodyPr wrap="square" lIns="0" tIns="0" rIns="0" bIns="0" rtlCol="0" anchor="ctr"/>
          <a:lstStyle/>
          <a:p>
            <a:pPr indent="0" marL="0">
              <a:buNone/>
            </a:pPr>
            <a:r>
              <a:rPr lang="en-US" sz="2400" b="1" dirty="0">
                <a:solidFill>
                  <a:srgbClr val="0E1E3C"/>
                </a:solidFill>
                <a:latin typeface="Cambria" pitchFamily="34" charset="0"/>
                <a:ea typeface="Cambria" pitchFamily="34" charset="-122"/>
                <a:cs typeface="Cambria" pitchFamily="34" charset="-120"/>
              </a:rPr>
              <a:t>0,5%</a:t>
            </a:r>
            <a:endParaRPr lang="en-US" sz="2400" dirty="0"/>
          </a:p>
        </p:txBody>
      </p:sp>
      <p:sp>
        <p:nvSpPr>
          <p:cNvPr id="7" name="Text 4"/>
          <p:cNvSpPr/>
          <p:nvPr/>
        </p:nvSpPr>
        <p:spPr>
          <a:xfrm>
            <a:off x="960120" y="5733288"/>
            <a:ext cx="2926080" cy="320040"/>
          </a:xfrm>
          <a:prstGeom prst="rect">
            <a:avLst/>
          </a:prstGeom>
          <a:noFill/>
          <a:ln/>
        </p:spPr>
        <p:txBody>
          <a:bodyPr wrap="square" lIns="0" tIns="0" rIns="0" bIns="0" rtlCol="0" anchor="ctr"/>
          <a:lstStyle/>
          <a:p>
            <a:pPr indent="0" marL="0">
              <a:buNone/>
            </a:pPr>
            <a:r>
              <a:rPr lang="en-US" sz="1200" dirty="0">
                <a:solidFill>
                  <a:srgbClr val="52514E"/>
                </a:solidFill>
                <a:latin typeface="Calibri" pitchFamily="34" charset="0"/>
                <a:ea typeface="Calibri" pitchFamily="34" charset="-122"/>
                <a:cs typeface="Calibri" pitchFamily="34" charset="-120"/>
              </a:rPr>
              <a:t>variasi mAP siang</a:t>
            </a:r>
            <a:endParaRPr lang="en-US" sz="1200" dirty="0"/>
          </a:p>
        </p:txBody>
      </p:sp>
      <p:sp>
        <p:nvSpPr>
          <p:cNvPr id="8" name="Shape 5"/>
          <p:cNvSpPr/>
          <p:nvPr/>
        </p:nvSpPr>
        <p:spPr>
          <a:xfrm>
            <a:off x="4343400" y="5138928"/>
            <a:ext cx="3383280" cy="1005840"/>
          </a:xfrm>
          <a:prstGeom prst="roundRect">
            <a:avLst>
              <a:gd name="adj" fmla="val 7273"/>
            </a:avLst>
          </a:prstGeom>
          <a:solidFill>
            <a:srgbClr val="F2F4F8"/>
          </a:solidFill>
          <a:ln w="12700">
            <a:solidFill>
              <a:srgbClr val="F2F4F8"/>
            </a:solidFill>
            <a:prstDash val="solid"/>
          </a:ln>
        </p:spPr>
      </p:sp>
      <p:sp>
        <p:nvSpPr>
          <p:cNvPr id="9" name="Text 6"/>
          <p:cNvSpPr/>
          <p:nvPr/>
        </p:nvSpPr>
        <p:spPr>
          <a:xfrm>
            <a:off x="4617720" y="5230368"/>
            <a:ext cx="1463040" cy="502920"/>
          </a:xfrm>
          <a:prstGeom prst="rect">
            <a:avLst/>
          </a:prstGeom>
          <a:noFill/>
          <a:ln/>
        </p:spPr>
        <p:txBody>
          <a:bodyPr wrap="square" lIns="0" tIns="0" rIns="0" bIns="0" rtlCol="0" anchor="ctr"/>
          <a:lstStyle/>
          <a:p>
            <a:pPr indent="0" marL="0">
              <a:buNone/>
            </a:pPr>
            <a:r>
              <a:rPr lang="en-US" sz="2400" b="1" dirty="0">
                <a:solidFill>
                  <a:srgbClr val="0E1E3C"/>
                </a:solidFill>
                <a:latin typeface="Cambria" pitchFamily="34" charset="0"/>
                <a:ea typeface="Cambria" pitchFamily="34" charset="-122"/>
                <a:cs typeface="Cambria" pitchFamily="34" charset="-120"/>
              </a:rPr>
              <a:t>0,8%</a:t>
            </a:r>
            <a:endParaRPr lang="en-US" sz="2400" dirty="0"/>
          </a:p>
        </p:txBody>
      </p:sp>
      <p:sp>
        <p:nvSpPr>
          <p:cNvPr id="10" name="Text 7"/>
          <p:cNvSpPr/>
          <p:nvPr/>
        </p:nvSpPr>
        <p:spPr>
          <a:xfrm>
            <a:off x="4617720" y="5733288"/>
            <a:ext cx="2926080" cy="320040"/>
          </a:xfrm>
          <a:prstGeom prst="rect">
            <a:avLst/>
          </a:prstGeom>
          <a:noFill/>
          <a:ln/>
        </p:spPr>
        <p:txBody>
          <a:bodyPr wrap="square" lIns="0" tIns="0" rIns="0" bIns="0" rtlCol="0" anchor="ctr"/>
          <a:lstStyle/>
          <a:p>
            <a:pPr indent="0" marL="0">
              <a:buNone/>
            </a:pPr>
            <a:r>
              <a:rPr lang="en-US" sz="1200" dirty="0">
                <a:solidFill>
                  <a:srgbClr val="52514E"/>
                </a:solidFill>
                <a:latin typeface="Calibri" pitchFamily="34" charset="0"/>
                <a:ea typeface="Calibri" pitchFamily="34" charset="-122"/>
                <a:cs typeface="Calibri" pitchFamily="34" charset="-120"/>
              </a:rPr>
              <a:t>variasi mAP malam</a:t>
            </a:r>
            <a:endParaRPr lang="en-US" sz="1200" dirty="0"/>
          </a:p>
        </p:txBody>
      </p:sp>
      <p:sp>
        <p:nvSpPr>
          <p:cNvPr id="11" name="Shape 8"/>
          <p:cNvSpPr/>
          <p:nvPr/>
        </p:nvSpPr>
        <p:spPr>
          <a:xfrm>
            <a:off x="8001000" y="5138928"/>
            <a:ext cx="3383280" cy="1005840"/>
          </a:xfrm>
          <a:prstGeom prst="roundRect">
            <a:avLst>
              <a:gd name="adj" fmla="val 7273"/>
            </a:avLst>
          </a:prstGeom>
          <a:solidFill>
            <a:srgbClr val="0E1E3C"/>
          </a:solidFill>
          <a:ln w="12700">
            <a:solidFill>
              <a:srgbClr val="0E1E3C"/>
            </a:solidFill>
            <a:prstDash val="solid"/>
          </a:ln>
        </p:spPr>
      </p:sp>
      <p:sp>
        <p:nvSpPr>
          <p:cNvPr id="12" name="Text 9"/>
          <p:cNvSpPr/>
          <p:nvPr/>
        </p:nvSpPr>
        <p:spPr>
          <a:xfrm>
            <a:off x="8275320" y="5230368"/>
            <a:ext cx="1463040" cy="502920"/>
          </a:xfrm>
          <a:prstGeom prst="rect">
            <a:avLst/>
          </a:prstGeom>
          <a:noFill/>
          <a:ln/>
        </p:spPr>
        <p:txBody>
          <a:bodyPr wrap="square" lIns="0" tIns="0" rIns="0" bIns="0" rtlCol="0" anchor="ctr"/>
          <a:lstStyle/>
          <a:p>
            <a:pPr indent="0" marL="0">
              <a:buNone/>
            </a:pPr>
            <a:r>
              <a:rPr lang="en-US" sz="2400" b="1" dirty="0">
                <a:solidFill>
                  <a:srgbClr val="EB6834"/>
                </a:solidFill>
                <a:latin typeface="Cambria" pitchFamily="34" charset="0"/>
                <a:ea typeface="Cambria" pitchFamily="34" charset="-122"/>
                <a:cs typeface="Cambria" pitchFamily="34" charset="-120"/>
              </a:rPr>
              <a:t>3</a:t>
            </a:r>
            <a:endParaRPr lang="en-US" sz="2400" dirty="0"/>
          </a:p>
        </p:txBody>
      </p:sp>
      <p:sp>
        <p:nvSpPr>
          <p:cNvPr id="13" name="Text 10"/>
          <p:cNvSpPr/>
          <p:nvPr/>
        </p:nvSpPr>
        <p:spPr>
          <a:xfrm>
            <a:off x="8275320" y="5733288"/>
            <a:ext cx="2926080" cy="320040"/>
          </a:xfrm>
          <a:prstGeom prst="rect">
            <a:avLst/>
          </a:prstGeom>
          <a:noFill/>
          <a:ln/>
        </p:spPr>
        <p:txBody>
          <a:bodyPr wrap="square" lIns="0" tIns="0" rIns="0" bIns="0" rtlCol="0" anchor="ctr"/>
          <a:lstStyle/>
          <a:p>
            <a:pPr indent="0" marL="0">
              <a:buNone/>
            </a:pPr>
            <a:r>
              <a:rPr lang="en-US" sz="1200" dirty="0">
                <a:solidFill>
                  <a:srgbClr val="CADCFC"/>
                </a:solidFill>
                <a:latin typeface="Calibri" pitchFamily="34" charset="0"/>
                <a:ea typeface="Calibri" pitchFamily="34" charset="-122"/>
                <a:cs typeface="Calibri" pitchFamily="34" charset="-120"/>
              </a:rPr>
              <a:t>kali training penuh</a:t>
            </a:r>
            <a:endParaRPr lang="en-US" sz="1200" dirty="0"/>
          </a:p>
        </p:txBody>
      </p:sp>
      <p:sp>
        <p:nvSpPr>
          <p:cNvPr id="14" name="Text 11"/>
          <p:cNvSpPr/>
          <p:nvPr/>
        </p:nvSpPr>
        <p:spPr>
          <a:xfrm>
            <a:off x="11430000" y="6355080"/>
            <a:ext cx="411480" cy="274320"/>
          </a:xfrm>
          <a:prstGeom prst="rect">
            <a:avLst/>
          </a:prstGeom>
          <a:noFill/>
          <a:ln/>
        </p:spPr>
        <p:txBody>
          <a:bodyPr wrap="square" lIns="0" tIns="0" rIns="0" bIns="0" rtlCol="0" anchor="ctr"/>
          <a:lstStyle/>
          <a:p>
            <a:pPr algn="r" indent="0" marL="0">
              <a:buNone/>
            </a:pPr>
            <a:r>
              <a:rPr lang="en-US" sz="1000" dirty="0">
                <a:solidFill>
                  <a:srgbClr val="898781"/>
                </a:solidFill>
                <a:latin typeface="Calibri" pitchFamily="34" charset="0"/>
                <a:ea typeface="Calibri" pitchFamily="34" charset="-122"/>
                <a:cs typeface="Calibri" pitchFamily="34" charset="-120"/>
              </a:rPr>
              <a:t>15</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10896"/>
            <a:ext cx="8229600" cy="256032"/>
          </a:xfrm>
          <a:prstGeom prst="rect">
            <a:avLst/>
          </a:prstGeom>
          <a:noFill/>
          <a:ln/>
        </p:spPr>
        <p:txBody>
          <a:bodyPr wrap="square" lIns="0" tIns="0" rIns="0" bIns="0" rtlCol="0" anchor="ctr"/>
          <a:lstStyle/>
          <a:p>
            <a:pPr indent="0" marL="0">
              <a:buNone/>
            </a:pPr>
            <a:r>
              <a:rPr lang="en-US" sz="1100" b="1" spc="160" kern="0" dirty="0">
                <a:solidFill>
                  <a:srgbClr val="EB6834"/>
                </a:solidFill>
                <a:latin typeface="Calibri" pitchFamily="34" charset="0"/>
                <a:ea typeface="Calibri" pitchFamily="34" charset="-122"/>
                <a:cs typeface="Calibri" pitchFamily="34" charset="-120"/>
              </a:rPr>
              <a:t>HASIL</a:t>
            </a:r>
            <a:endParaRPr lang="en-US" sz="1100" dirty="0"/>
          </a:p>
        </p:txBody>
      </p:sp>
      <p:sp>
        <p:nvSpPr>
          <p:cNvPr id="3" name="Text 1"/>
          <p:cNvSpPr/>
          <p:nvPr/>
        </p:nvSpPr>
        <p:spPr>
          <a:xfrm>
            <a:off x="548640" y="566928"/>
            <a:ext cx="11064240" cy="658368"/>
          </a:xfrm>
          <a:prstGeom prst="rect">
            <a:avLst/>
          </a:prstGeom>
          <a:noFill/>
          <a:ln/>
        </p:spPr>
        <p:txBody>
          <a:bodyPr wrap="square" lIns="0" tIns="0" rIns="0" bIns="0" rtlCol="0" anchor="t"/>
          <a:lstStyle/>
          <a:p>
            <a:pPr indent="0" marL="0">
              <a:buNone/>
            </a:pPr>
            <a:r>
              <a:rPr lang="en-US" sz="3000" b="1" dirty="0">
                <a:solidFill>
                  <a:srgbClr val="0E1E3C"/>
                </a:solidFill>
                <a:latin typeface="Cambria" pitchFamily="34" charset="0"/>
                <a:ea typeface="Cambria" pitchFamily="34" charset="-122"/>
                <a:cs typeface="Cambria" pitchFamily="34" charset="-120"/>
              </a:rPr>
              <a:t>Hasil 2: menang di semua metrik, terutama malam</a:t>
            </a:r>
            <a:endParaRPr lang="en-US" sz="3000" dirty="0"/>
          </a:p>
        </p:txBody>
      </p:sp>
      <p:pic>
        <p:nvPicPr>
          <p:cNvPr id="4" name="Image 0" descr="/home/claude/kd_consistency/fig2_model_comparison.png">    </p:cNvPr>
          <p:cNvPicPr>
            <a:picLocks noChangeAspect="1"/>
          </p:cNvPicPr>
          <p:nvPr/>
        </p:nvPicPr>
        <p:blipFill>
          <a:blip r:embed="rId1"/>
          <a:stretch>
            <a:fillRect/>
          </a:stretch>
        </p:blipFill>
        <p:spPr>
          <a:xfrm>
            <a:off x="685800" y="1417320"/>
            <a:ext cx="10789920" cy="3840480"/>
          </a:xfrm>
          <a:prstGeom prst="rect">
            <a:avLst/>
          </a:prstGeom>
        </p:spPr>
      </p:pic>
      <p:sp>
        <p:nvSpPr>
          <p:cNvPr id="5" name="Shape 2"/>
          <p:cNvSpPr/>
          <p:nvPr/>
        </p:nvSpPr>
        <p:spPr>
          <a:xfrm>
            <a:off x="548640" y="5486400"/>
            <a:ext cx="11064240" cy="868680"/>
          </a:xfrm>
          <a:prstGeom prst="roundRect">
            <a:avLst>
              <a:gd name="adj" fmla="val 8421"/>
            </a:avLst>
          </a:prstGeom>
          <a:solidFill>
            <a:srgbClr val="0E1E3C"/>
          </a:solidFill>
          <a:ln w="12700">
            <a:solidFill>
              <a:srgbClr val="0E1E3C"/>
            </a:solidFill>
            <a:prstDash val="solid"/>
          </a:ln>
        </p:spPr>
      </p:sp>
      <p:sp>
        <p:nvSpPr>
          <p:cNvPr id="6" name="Text 3"/>
          <p:cNvSpPr/>
          <p:nvPr/>
        </p:nvSpPr>
        <p:spPr>
          <a:xfrm>
            <a:off x="914400" y="5669280"/>
            <a:ext cx="10424160" cy="54864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Siang naik 0,0120 mAP setara 5,1 simpangan baku.   </a:t>
            </a:r>
            <a:pPr indent="0" marL="0">
              <a:buNone/>
            </a:pPr>
            <a:r>
              <a:rPr lang="en-US" sz="1400" b="1" dirty="0">
                <a:solidFill>
                  <a:srgbClr val="EB6834"/>
                </a:solidFill>
                <a:latin typeface="Calibri" pitchFamily="34" charset="0"/>
                <a:ea typeface="Calibri" pitchFamily="34" charset="-122"/>
                <a:cs typeface="Calibri" pitchFamily="34" charset="-120"/>
              </a:rPr>
              <a:t>Malam naik 0,0310 mAP setara 8,1 simpangan baku.</a:t>
            </a:r>
            <a:pPr indent="0" marL="0">
              <a:buNone/>
            </a:pPr>
            <a:r>
              <a:rPr lang="en-US" sz="1400" dirty="0">
                <a:solidFill>
                  <a:srgbClr val="FFFFFF"/>
                </a:solidFill>
                <a:latin typeface="Calibri" pitchFamily="34" charset="0"/>
                <a:ea typeface="Calibri" pitchFamily="34" charset="-122"/>
                <a:cs typeface="Calibri" pitchFamily="34" charset="-120"/>
              </a:rPr>
              <a:t>   Jadi perbaikannya jauh di luar rentang noise antar run.</a:t>
            </a:r>
            <a:endParaRPr lang="en-US" sz="1400" dirty="0"/>
          </a:p>
        </p:txBody>
      </p:sp>
      <p:sp>
        <p:nvSpPr>
          <p:cNvPr id="7" name="Text 4"/>
          <p:cNvSpPr/>
          <p:nvPr/>
        </p:nvSpPr>
        <p:spPr>
          <a:xfrm>
            <a:off x="11430000" y="6355080"/>
            <a:ext cx="411480" cy="274320"/>
          </a:xfrm>
          <a:prstGeom prst="rect">
            <a:avLst/>
          </a:prstGeom>
          <a:noFill/>
          <a:ln/>
        </p:spPr>
        <p:txBody>
          <a:bodyPr wrap="square" lIns="0" tIns="0" rIns="0" bIns="0" rtlCol="0" anchor="ctr"/>
          <a:lstStyle/>
          <a:p>
            <a:pPr algn="r" indent="0" marL="0">
              <a:buNone/>
            </a:pPr>
            <a:r>
              <a:rPr lang="en-US" sz="1000" dirty="0">
                <a:solidFill>
                  <a:srgbClr val="898781"/>
                </a:solidFill>
                <a:latin typeface="Calibri" pitchFamily="34" charset="0"/>
                <a:ea typeface="Calibri" pitchFamily="34" charset="-122"/>
                <a:cs typeface="Calibri" pitchFamily="34" charset="-120"/>
              </a:rPr>
              <a:t>16</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E1E3C"/>
        </a:solidFill>
      </p:bgPr>
    </p:bg>
    <p:spTree>
      <p:nvGrpSpPr>
        <p:cNvPr id="1" name=""/>
        <p:cNvGrpSpPr/>
        <p:nvPr/>
      </p:nvGrpSpPr>
      <p:grpSpPr>
        <a:xfrm>
          <a:off x="0" y="0"/>
          <a:ext cx="0" cy="0"/>
          <a:chOff x="0" y="0"/>
          <a:chExt cx="0" cy="0"/>
        </a:xfrm>
      </p:grpSpPr>
      <p:sp>
        <p:nvSpPr>
          <p:cNvPr id="2" name="Text 0"/>
          <p:cNvSpPr/>
          <p:nvPr/>
        </p:nvSpPr>
        <p:spPr>
          <a:xfrm>
            <a:off x="731520" y="685800"/>
            <a:ext cx="5486400" cy="320040"/>
          </a:xfrm>
          <a:prstGeom prst="rect">
            <a:avLst/>
          </a:prstGeom>
          <a:noFill/>
          <a:ln/>
        </p:spPr>
        <p:txBody>
          <a:bodyPr wrap="square" lIns="0" tIns="0" rIns="0" bIns="0" rtlCol="0" anchor="ctr"/>
          <a:lstStyle/>
          <a:p>
            <a:pPr indent="0" marL="0">
              <a:buNone/>
            </a:pPr>
            <a:r>
              <a:rPr lang="en-US" sz="1200" b="1" spc="200" kern="0" dirty="0">
                <a:solidFill>
                  <a:srgbClr val="EB6834"/>
                </a:solidFill>
                <a:latin typeface="Calibri" pitchFamily="34" charset="0"/>
                <a:ea typeface="Calibri" pitchFamily="34" charset="-122"/>
                <a:cs typeface="Calibri" pitchFamily="34" charset="-120"/>
              </a:rPr>
              <a:t>TEMUAN UTAMA</a:t>
            </a:r>
            <a:endParaRPr lang="en-US" sz="1200" dirty="0"/>
          </a:p>
        </p:txBody>
      </p:sp>
      <p:sp>
        <p:nvSpPr>
          <p:cNvPr id="3" name="Text 1"/>
          <p:cNvSpPr/>
          <p:nvPr/>
        </p:nvSpPr>
        <p:spPr>
          <a:xfrm>
            <a:off x="731520" y="1097280"/>
            <a:ext cx="10698480" cy="1188720"/>
          </a:xfrm>
          <a:prstGeom prst="rect">
            <a:avLst/>
          </a:prstGeom>
          <a:noFill/>
          <a:ln/>
        </p:spPr>
        <p:txBody>
          <a:bodyPr wrap="square" lIns="0" tIns="0" rIns="0" bIns="0" rtlCol="0" anchor="ctr"/>
          <a:lstStyle/>
          <a:p>
            <a:pPr indent="0" marL="0">
              <a:lnSpc>
                <a:spcPts val="3800"/>
              </a:lnSpc>
              <a:buNone/>
            </a:pPr>
            <a:r>
              <a:rPr lang="en-US" sz="3000" b="1" dirty="0">
                <a:solidFill>
                  <a:srgbClr val="FFFFFF"/>
                </a:solidFill>
                <a:latin typeface="Cambria" pitchFamily="34" charset="0"/>
                <a:ea typeface="Cambria" pitchFamily="34" charset="-122"/>
                <a:cs typeface="Cambria" pitchFamily="34" charset="-120"/>
              </a:rPr>
              <a:t>Student hasil distilasi lebih tahan gelap</a:t>
            </a:r>
            <a:endParaRPr lang="en-US" sz="3000" dirty="0"/>
          </a:p>
          <a:p>
            <a:pPr indent="0" marL="0">
              <a:lnSpc>
                <a:spcPts val="3800"/>
              </a:lnSpc>
              <a:buNone/>
            </a:pPr>
            <a:r>
              <a:rPr lang="en-US" sz="3000" b="1" dirty="0">
                <a:solidFill>
                  <a:srgbClr val="FFFFFF"/>
                </a:solidFill>
                <a:latin typeface="Cambria" pitchFamily="34" charset="0"/>
                <a:ea typeface="Cambria" pitchFamily="34" charset="-122"/>
                <a:cs typeface="Cambria" pitchFamily="34" charset="-120"/>
              </a:rPr>
              <a:t>daripada gurunya sendiri</a:t>
            </a:r>
            <a:endParaRPr lang="en-US" sz="3000" dirty="0"/>
          </a:p>
        </p:txBody>
      </p:sp>
      <p:sp>
        <p:nvSpPr>
          <p:cNvPr id="4" name="Shape 2"/>
          <p:cNvSpPr/>
          <p:nvPr/>
        </p:nvSpPr>
        <p:spPr>
          <a:xfrm>
            <a:off x="731520" y="2651760"/>
            <a:ext cx="3291840" cy="1828800"/>
          </a:xfrm>
          <a:prstGeom prst="roundRect">
            <a:avLst>
              <a:gd name="adj" fmla="val 4000"/>
            </a:avLst>
          </a:prstGeom>
          <a:solidFill>
            <a:srgbClr val="16264A"/>
          </a:solidFill>
          <a:ln w="12700">
            <a:solidFill>
              <a:srgbClr val="16264A"/>
            </a:solidFill>
            <a:prstDash val="solid"/>
          </a:ln>
        </p:spPr>
      </p:sp>
      <p:sp>
        <p:nvSpPr>
          <p:cNvPr id="5" name="Text 3"/>
          <p:cNvSpPr/>
          <p:nvPr/>
        </p:nvSpPr>
        <p:spPr>
          <a:xfrm>
            <a:off x="1005840" y="2834640"/>
            <a:ext cx="2743200" cy="365760"/>
          </a:xfrm>
          <a:prstGeom prst="rect">
            <a:avLst/>
          </a:prstGeom>
          <a:noFill/>
          <a:ln/>
        </p:spPr>
        <p:txBody>
          <a:bodyPr wrap="square" lIns="0" tIns="0" rIns="0" bIns="0" rtlCol="0" anchor="ctr"/>
          <a:lstStyle/>
          <a:p>
            <a:pPr indent="0" marL="0">
              <a:buNone/>
            </a:pPr>
            <a:r>
              <a:rPr lang="en-US" sz="1300" dirty="0">
                <a:solidFill>
                  <a:srgbClr val="CADCFC"/>
                </a:solidFill>
                <a:latin typeface="Calibri" pitchFamily="34" charset="0"/>
                <a:ea typeface="Calibri" pitchFamily="34" charset="-122"/>
                <a:cs typeface="Calibri" pitchFamily="34" charset="-120"/>
              </a:rPr>
              <a:t>Teacher YOLOv8l</a:t>
            </a:r>
            <a:endParaRPr lang="en-US" sz="1300" dirty="0"/>
          </a:p>
        </p:txBody>
      </p:sp>
      <p:sp>
        <p:nvSpPr>
          <p:cNvPr id="6" name="Text 4"/>
          <p:cNvSpPr/>
          <p:nvPr/>
        </p:nvSpPr>
        <p:spPr>
          <a:xfrm>
            <a:off x="1005840" y="3291840"/>
            <a:ext cx="2743200" cy="731520"/>
          </a:xfrm>
          <a:prstGeom prst="rect">
            <a:avLst/>
          </a:prstGeom>
          <a:noFill/>
          <a:ln/>
        </p:spPr>
        <p:txBody>
          <a:bodyPr wrap="square" lIns="0" tIns="0" rIns="0" bIns="0" rtlCol="0" anchor="ctr"/>
          <a:lstStyle/>
          <a:p>
            <a:pPr indent="0" marL="0">
              <a:buNone/>
            </a:pPr>
            <a:r>
              <a:rPr lang="en-US" sz="4000" b="1" dirty="0">
                <a:solidFill>
                  <a:srgbClr val="898781"/>
                </a:solidFill>
                <a:latin typeface="Cambria" pitchFamily="34" charset="0"/>
                <a:ea typeface="Cambria" pitchFamily="34" charset="-122"/>
                <a:cs typeface="Cambria" pitchFamily="34" charset="-120"/>
              </a:rPr>
              <a:t>0,0441</a:t>
            </a:r>
            <a:endParaRPr lang="en-US" sz="4000" dirty="0"/>
          </a:p>
        </p:txBody>
      </p:sp>
      <p:sp>
        <p:nvSpPr>
          <p:cNvPr id="7" name="Text 5"/>
          <p:cNvSpPr/>
          <p:nvPr/>
        </p:nvSpPr>
        <p:spPr>
          <a:xfrm>
            <a:off x="1005840" y="4041648"/>
            <a:ext cx="2743200" cy="320040"/>
          </a:xfrm>
          <a:prstGeom prst="rect">
            <a:avLst/>
          </a:prstGeom>
          <a:noFill/>
          <a:ln/>
        </p:spPr>
        <p:txBody>
          <a:bodyPr wrap="square" lIns="0" tIns="0" rIns="0" bIns="0" rtlCol="0" anchor="ctr"/>
          <a:lstStyle/>
          <a:p>
            <a:pPr indent="0" marL="0">
              <a:buNone/>
            </a:pPr>
            <a:r>
              <a:rPr lang="en-US" sz="1100" dirty="0">
                <a:solidFill>
                  <a:srgbClr val="898781"/>
                </a:solidFill>
                <a:latin typeface="Calibri" pitchFamily="34" charset="0"/>
                <a:ea typeface="Calibri" pitchFamily="34" charset="-122"/>
                <a:cs typeface="Calibri" pitchFamily="34" charset="-120"/>
              </a:rPr>
              <a:t>penurunan mAP saat gelap</a:t>
            </a:r>
            <a:endParaRPr lang="en-US" sz="1100" dirty="0"/>
          </a:p>
        </p:txBody>
      </p:sp>
      <p:sp>
        <p:nvSpPr>
          <p:cNvPr id="8" name="Shape 6"/>
          <p:cNvSpPr/>
          <p:nvPr/>
        </p:nvSpPr>
        <p:spPr>
          <a:xfrm>
            <a:off x="4343400" y="2651760"/>
            <a:ext cx="3291840" cy="1828800"/>
          </a:xfrm>
          <a:prstGeom prst="roundRect">
            <a:avLst>
              <a:gd name="adj" fmla="val 4000"/>
            </a:avLst>
          </a:prstGeom>
          <a:solidFill>
            <a:srgbClr val="16264A"/>
          </a:solidFill>
          <a:ln w="12700">
            <a:solidFill>
              <a:srgbClr val="16264A"/>
            </a:solidFill>
            <a:prstDash val="solid"/>
          </a:ln>
        </p:spPr>
      </p:sp>
      <p:sp>
        <p:nvSpPr>
          <p:cNvPr id="9" name="Text 7"/>
          <p:cNvSpPr/>
          <p:nvPr/>
        </p:nvSpPr>
        <p:spPr>
          <a:xfrm>
            <a:off x="4617720" y="2834640"/>
            <a:ext cx="2743200" cy="365760"/>
          </a:xfrm>
          <a:prstGeom prst="rect">
            <a:avLst/>
          </a:prstGeom>
          <a:noFill/>
          <a:ln/>
        </p:spPr>
        <p:txBody>
          <a:bodyPr wrap="square" lIns="0" tIns="0" rIns="0" bIns="0" rtlCol="0" anchor="ctr"/>
          <a:lstStyle/>
          <a:p>
            <a:pPr indent="0" marL="0">
              <a:buNone/>
            </a:pPr>
            <a:r>
              <a:rPr lang="en-US" sz="1300" dirty="0">
                <a:solidFill>
                  <a:srgbClr val="CADCFC"/>
                </a:solidFill>
                <a:latin typeface="Calibri" pitchFamily="34" charset="0"/>
                <a:ea typeface="Calibri" pitchFamily="34" charset="-122"/>
                <a:cs typeface="Calibri" pitchFamily="34" charset="-120"/>
              </a:rPr>
              <a:t>Student baseline</a:t>
            </a:r>
            <a:endParaRPr lang="en-US" sz="1300" dirty="0"/>
          </a:p>
        </p:txBody>
      </p:sp>
      <p:sp>
        <p:nvSpPr>
          <p:cNvPr id="10" name="Text 8"/>
          <p:cNvSpPr/>
          <p:nvPr/>
        </p:nvSpPr>
        <p:spPr>
          <a:xfrm>
            <a:off x="4617720" y="3291840"/>
            <a:ext cx="2743200" cy="731520"/>
          </a:xfrm>
          <a:prstGeom prst="rect">
            <a:avLst/>
          </a:prstGeom>
          <a:noFill/>
          <a:ln/>
        </p:spPr>
        <p:txBody>
          <a:bodyPr wrap="square" lIns="0" tIns="0" rIns="0" bIns="0" rtlCol="0" anchor="ctr"/>
          <a:lstStyle/>
          <a:p>
            <a:pPr indent="0" marL="0">
              <a:buNone/>
            </a:pPr>
            <a:r>
              <a:rPr lang="en-US" sz="4000" b="1" dirty="0">
                <a:solidFill>
                  <a:srgbClr val="CADCFC"/>
                </a:solidFill>
                <a:latin typeface="Cambria" pitchFamily="34" charset="0"/>
                <a:ea typeface="Cambria" pitchFamily="34" charset="-122"/>
                <a:cs typeface="Cambria" pitchFamily="34" charset="-120"/>
              </a:rPr>
              <a:t>0,0423</a:t>
            </a:r>
            <a:endParaRPr lang="en-US" sz="4000" dirty="0"/>
          </a:p>
        </p:txBody>
      </p:sp>
      <p:sp>
        <p:nvSpPr>
          <p:cNvPr id="11" name="Text 9"/>
          <p:cNvSpPr/>
          <p:nvPr/>
        </p:nvSpPr>
        <p:spPr>
          <a:xfrm>
            <a:off x="4617720" y="4041648"/>
            <a:ext cx="2743200" cy="320040"/>
          </a:xfrm>
          <a:prstGeom prst="rect">
            <a:avLst/>
          </a:prstGeom>
          <a:noFill/>
          <a:ln/>
        </p:spPr>
        <p:txBody>
          <a:bodyPr wrap="square" lIns="0" tIns="0" rIns="0" bIns="0" rtlCol="0" anchor="ctr"/>
          <a:lstStyle/>
          <a:p>
            <a:pPr indent="0" marL="0">
              <a:buNone/>
            </a:pPr>
            <a:r>
              <a:rPr lang="en-US" sz="1100" dirty="0">
                <a:solidFill>
                  <a:srgbClr val="898781"/>
                </a:solidFill>
                <a:latin typeface="Calibri" pitchFamily="34" charset="0"/>
                <a:ea typeface="Calibri" pitchFamily="34" charset="-122"/>
                <a:cs typeface="Calibri" pitchFamily="34" charset="-120"/>
              </a:rPr>
              <a:t>penurunan mAP saat gelap</a:t>
            </a:r>
            <a:endParaRPr lang="en-US" sz="1100" dirty="0"/>
          </a:p>
        </p:txBody>
      </p:sp>
      <p:sp>
        <p:nvSpPr>
          <p:cNvPr id="12" name="Shape 10"/>
          <p:cNvSpPr/>
          <p:nvPr/>
        </p:nvSpPr>
        <p:spPr>
          <a:xfrm>
            <a:off x="7955280" y="2651760"/>
            <a:ext cx="3291840" cy="1828800"/>
          </a:xfrm>
          <a:prstGeom prst="roundRect">
            <a:avLst>
              <a:gd name="adj" fmla="val 4000"/>
            </a:avLst>
          </a:prstGeom>
          <a:solidFill>
            <a:srgbClr val="1B3260"/>
          </a:solidFill>
          <a:ln w="25400">
            <a:solidFill>
              <a:srgbClr val="EB6834"/>
            </a:solidFill>
            <a:prstDash val="solid"/>
          </a:ln>
        </p:spPr>
      </p:sp>
      <p:sp>
        <p:nvSpPr>
          <p:cNvPr id="13" name="Text 11"/>
          <p:cNvSpPr/>
          <p:nvPr/>
        </p:nvSpPr>
        <p:spPr>
          <a:xfrm>
            <a:off x="8229600" y="2834640"/>
            <a:ext cx="2743200" cy="365760"/>
          </a:xfrm>
          <a:prstGeom prst="rect">
            <a:avLst/>
          </a:prstGeom>
          <a:noFill/>
          <a:ln/>
        </p:spPr>
        <p:txBody>
          <a:bodyPr wrap="square" lIns="0" tIns="0" rIns="0" bIns="0" rtlCol="0" anchor="ctr"/>
          <a:lstStyle/>
          <a:p>
            <a:pPr indent="0" marL="0">
              <a:buNone/>
            </a:pPr>
            <a:r>
              <a:rPr lang="en-US" sz="1300" dirty="0">
                <a:solidFill>
                  <a:srgbClr val="CADCFC"/>
                </a:solidFill>
                <a:latin typeface="Calibri" pitchFamily="34" charset="0"/>
                <a:ea typeface="Calibri" pitchFamily="34" charset="-122"/>
                <a:cs typeface="Calibri" pitchFamily="34" charset="-120"/>
              </a:rPr>
              <a:t>Student KD kami</a:t>
            </a:r>
            <a:endParaRPr lang="en-US" sz="1300" dirty="0"/>
          </a:p>
        </p:txBody>
      </p:sp>
      <p:sp>
        <p:nvSpPr>
          <p:cNvPr id="14" name="Text 12"/>
          <p:cNvSpPr/>
          <p:nvPr/>
        </p:nvSpPr>
        <p:spPr>
          <a:xfrm>
            <a:off x="8229600" y="3291840"/>
            <a:ext cx="2743200" cy="731520"/>
          </a:xfrm>
          <a:prstGeom prst="rect">
            <a:avLst/>
          </a:prstGeom>
          <a:noFill/>
          <a:ln/>
        </p:spPr>
        <p:txBody>
          <a:bodyPr wrap="square" lIns="0" tIns="0" rIns="0" bIns="0" rtlCol="0" anchor="ctr"/>
          <a:lstStyle/>
          <a:p>
            <a:pPr indent="0" marL="0">
              <a:buNone/>
            </a:pPr>
            <a:r>
              <a:rPr lang="en-US" sz="4000" b="1" dirty="0">
                <a:solidFill>
                  <a:srgbClr val="EB6834"/>
                </a:solidFill>
                <a:latin typeface="Cambria" pitchFamily="34" charset="0"/>
                <a:ea typeface="Cambria" pitchFamily="34" charset="-122"/>
                <a:cs typeface="Cambria" pitchFamily="34" charset="-120"/>
              </a:rPr>
              <a:t>0,0233</a:t>
            </a:r>
            <a:endParaRPr lang="en-US" sz="4000" dirty="0"/>
          </a:p>
        </p:txBody>
      </p:sp>
      <p:sp>
        <p:nvSpPr>
          <p:cNvPr id="15" name="Text 13"/>
          <p:cNvSpPr/>
          <p:nvPr/>
        </p:nvSpPr>
        <p:spPr>
          <a:xfrm>
            <a:off x="8229600" y="4041648"/>
            <a:ext cx="2743200" cy="320040"/>
          </a:xfrm>
          <a:prstGeom prst="rect">
            <a:avLst/>
          </a:prstGeom>
          <a:noFill/>
          <a:ln/>
        </p:spPr>
        <p:txBody>
          <a:bodyPr wrap="square" lIns="0" tIns="0" rIns="0" bIns="0" rtlCol="0" anchor="ctr"/>
          <a:lstStyle/>
          <a:p>
            <a:pPr indent="0" marL="0">
              <a:buNone/>
            </a:pPr>
            <a:r>
              <a:rPr lang="en-US" sz="1100" dirty="0">
                <a:solidFill>
                  <a:srgbClr val="898781"/>
                </a:solidFill>
                <a:latin typeface="Calibri" pitchFamily="34" charset="0"/>
                <a:ea typeface="Calibri" pitchFamily="34" charset="-122"/>
                <a:cs typeface="Calibri" pitchFamily="34" charset="-120"/>
              </a:rPr>
              <a:t>penurunan mAP saat gelap</a:t>
            </a:r>
            <a:endParaRPr lang="en-US" sz="1100" dirty="0"/>
          </a:p>
        </p:txBody>
      </p:sp>
      <p:sp>
        <p:nvSpPr>
          <p:cNvPr id="16" name="Text 14"/>
          <p:cNvSpPr/>
          <p:nvPr/>
        </p:nvSpPr>
        <p:spPr>
          <a:xfrm>
            <a:off x="731520" y="4800600"/>
            <a:ext cx="10698480" cy="1280160"/>
          </a:xfrm>
          <a:prstGeom prst="rect">
            <a:avLst/>
          </a:prstGeom>
          <a:noFill/>
          <a:ln/>
        </p:spPr>
        <p:txBody>
          <a:bodyPr wrap="square" lIns="0" tIns="0" rIns="0" bIns="0" rtlCol="0" anchor="ctr"/>
          <a:lstStyle/>
          <a:p>
            <a:pPr indent="0" marL="0">
              <a:lnSpc>
                <a:spcPts val="2300"/>
              </a:lnSpc>
              <a:buNone/>
            </a:pPr>
            <a:r>
              <a:rPr lang="en-US" sz="1450" dirty="0">
                <a:solidFill>
                  <a:srgbClr val="FFFFFF"/>
                </a:solidFill>
                <a:latin typeface="Calibri" pitchFamily="34" charset="0"/>
                <a:ea typeface="Calibri" pitchFamily="34" charset="-122"/>
                <a:cs typeface="Calibri" pitchFamily="34" charset="-120"/>
              </a:rPr>
              <a:t>Gap siang ke malam turun 45 persen dibanding baseline, dan lebih kecil daripada gap gurunya sendiri. Model 3,9 kali lebih kecil justru lebih stabil terhadap perubahan cahaya. Ini bukan hasil yang bisa diprediksi dari teori distilasi biasa, karena umumnya student diharapkan meniru guru, bukan melampauinya pada sumbu ketahanan.</a:t>
            </a:r>
            <a:endParaRPr lang="en-US" sz="1450" dirty="0"/>
          </a:p>
        </p:txBody>
      </p:sp>
      <p:sp>
        <p:nvSpPr>
          <p:cNvPr id="17" name="Text 15"/>
          <p:cNvSpPr/>
          <p:nvPr/>
        </p:nvSpPr>
        <p:spPr>
          <a:xfrm>
            <a:off x="11430000" y="6355080"/>
            <a:ext cx="411480" cy="274320"/>
          </a:xfrm>
          <a:prstGeom prst="rect">
            <a:avLst/>
          </a:prstGeom>
          <a:noFill/>
          <a:ln/>
        </p:spPr>
        <p:txBody>
          <a:bodyPr wrap="square" lIns="0" tIns="0" rIns="0" bIns="0" rtlCol="0" anchor="ctr"/>
          <a:lstStyle/>
          <a:p>
            <a:pPr algn="r" indent="0" marL="0">
              <a:buNone/>
            </a:pPr>
            <a:r>
              <a:rPr lang="en-US" sz="1000" dirty="0">
                <a:solidFill>
                  <a:srgbClr val="898781"/>
                </a:solidFill>
                <a:latin typeface="Calibri" pitchFamily="34" charset="0"/>
                <a:ea typeface="Calibri" pitchFamily="34" charset="-122"/>
                <a:cs typeface="Calibri" pitchFamily="34" charset="-120"/>
              </a:rPr>
              <a:t>17</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10896"/>
            <a:ext cx="8229600" cy="256032"/>
          </a:xfrm>
          <a:prstGeom prst="rect">
            <a:avLst/>
          </a:prstGeom>
          <a:noFill/>
          <a:ln/>
        </p:spPr>
        <p:txBody>
          <a:bodyPr wrap="square" lIns="0" tIns="0" rIns="0" bIns="0" rtlCol="0" anchor="ctr"/>
          <a:lstStyle/>
          <a:p>
            <a:pPr indent="0" marL="0">
              <a:buNone/>
            </a:pPr>
            <a:r>
              <a:rPr lang="en-US" sz="1100" b="1" spc="160" kern="0" dirty="0">
                <a:solidFill>
                  <a:srgbClr val="EB6834"/>
                </a:solidFill>
                <a:latin typeface="Calibri" pitchFamily="34" charset="0"/>
                <a:ea typeface="Calibri" pitchFamily="34" charset="-122"/>
                <a:cs typeface="Calibri" pitchFamily="34" charset="-120"/>
              </a:rPr>
              <a:t>HASIL</a:t>
            </a:r>
            <a:endParaRPr lang="en-US" sz="1100" dirty="0"/>
          </a:p>
        </p:txBody>
      </p:sp>
      <p:sp>
        <p:nvSpPr>
          <p:cNvPr id="3" name="Text 1"/>
          <p:cNvSpPr/>
          <p:nvPr/>
        </p:nvSpPr>
        <p:spPr>
          <a:xfrm>
            <a:off x="548640" y="566928"/>
            <a:ext cx="11064240" cy="658368"/>
          </a:xfrm>
          <a:prstGeom prst="rect">
            <a:avLst/>
          </a:prstGeom>
          <a:noFill/>
          <a:ln/>
        </p:spPr>
        <p:txBody>
          <a:bodyPr wrap="square" lIns="0" tIns="0" rIns="0" bIns="0" rtlCol="0" anchor="t"/>
          <a:lstStyle/>
          <a:p>
            <a:pPr indent="0" marL="0">
              <a:buNone/>
            </a:pPr>
            <a:r>
              <a:rPr lang="en-US" sz="3000" b="1" dirty="0">
                <a:solidFill>
                  <a:srgbClr val="0E1E3C"/>
                </a:solidFill>
                <a:latin typeface="Cambria" pitchFamily="34" charset="0"/>
                <a:ea typeface="Cambria" pitchFamily="34" charset="-122"/>
                <a:cs typeface="Cambria" pitchFamily="34" charset="-120"/>
              </a:rPr>
              <a:t>Hasil 3: yang paling terbantu adalah pengguna jalan rentan</a:t>
            </a:r>
            <a:endParaRPr lang="en-US" sz="3000" dirty="0"/>
          </a:p>
        </p:txBody>
      </p:sp>
      <p:pic>
        <p:nvPicPr>
          <p:cNvPr id="4" name="Image 0" descr="/home/claude/kd_consistency/fig4_delta_vs_baseline.png">    </p:cNvPr>
          <p:cNvPicPr>
            <a:picLocks noChangeAspect="1"/>
          </p:cNvPicPr>
          <p:nvPr/>
        </p:nvPicPr>
        <p:blipFill>
          <a:blip r:embed="rId1"/>
          <a:stretch>
            <a:fillRect/>
          </a:stretch>
        </p:blipFill>
        <p:spPr>
          <a:xfrm>
            <a:off x="685800" y="1417320"/>
            <a:ext cx="7589520" cy="3611880"/>
          </a:xfrm>
          <a:prstGeom prst="rect">
            <a:avLst/>
          </a:prstGeom>
        </p:spPr>
      </p:pic>
      <p:sp>
        <p:nvSpPr>
          <p:cNvPr id="5" name="Shape 2"/>
          <p:cNvSpPr/>
          <p:nvPr/>
        </p:nvSpPr>
        <p:spPr>
          <a:xfrm>
            <a:off x="8686800" y="1508760"/>
            <a:ext cx="2926080" cy="1645920"/>
          </a:xfrm>
          <a:prstGeom prst="roundRect">
            <a:avLst>
              <a:gd name="adj" fmla="val 4444"/>
            </a:avLst>
          </a:prstGeom>
          <a:solidFill>
            <a:srgbClr val="0E1E3C"/>
          </a:solidFill>
          <a:ln w="12700">
            <a:solidFill>
              <a:srgbClr val="0E1E3C"/>
            </a:solidFill>
            <a:prstDash val="solid"/>
          </a:ln>
        </p:spPr>
      </p:sp>
      <p:sp>
        <p:nvSpPr>
          <p:cNvPr id="6" name="Text 3"/>
          <p:cNvSpPr/>
          <p:nvPr/>
        </p:nvSpPr>
        <p:spPr>
          <a:xfrm>
            <a:off x="8961120" y="1691640"/>
            <a:ext cx="2286000" cy="548640"/>
          </a:xfrm>
          <a:prstGeom prst="rect">
            <a:avLst/>
          </a:prstGeom>
          <a:noFill/>
          <a:ln/>
        </p:spPr>
        <p:txBody>
          <a:bodyPr wrap="square" lIns="0" tIns="0" rIns="0" bIns="0" rtlCol="0" anchor="ctr"/>
          <a:lstStyle/>
          <a:p>
            <a:pPr indent="0" marL="0">
              <a:buNone/>
            </a:pPr>
            <a:r>
              <a:rPr lang="en-US" sz="2800" b="1" dirty="0">
                <a:solidFill>
                  <a:srgbClr val="EB6834"/>
                </a:solidFill>
                <a:latin typeface="Cambria" pitchFamily="34" charset="0"/>
                <a:ea typeface="Cambria" pitchFamily="34" charset="-122"/>
                <a:cs typeface="Cambria" pitchFamily="34" charset="-120"/>
              </a:rPr>
              <a:t>+0,108</a:t>
            </a:r>
            <a:endParaRPr lang="en-US" sz="2800" dirty="0"/>
          </a:p>
        </p:txBody>
      </p:sp>
      <p:sp>
        <p:nvSpPr>
          <p:cNvPr id="7" name="Text 4"/>
          <p:cNvSpPr/>
          <p:nvPr/>
        </p:nvSpPr>
        <p:spPr>
          <a:xfrm>
            <a:off x="8961120" y="2258568"/>
            <a:ext cx="2377440" cy="640080"/>
          </a:xfrm>
          <a:prstGeom prst="rect">
            <a:avLst/>
          </a:prstGeom>
          <a:noFill/>
          <a:ln/>
        </p:spPr>
        <p:txBody>
          <a:bodyPr wrap="square" lIns="0" tIns="0" rIns="0" bIns="0" rtlCol="0" anchor="ctr"/>
          <a:lstStyle/>
          <a:p>
            <a:pPr indent="0" marL="0">
              <a:buNone/>
            </a:pPr>
            <a:r>
              <a:rPr lang="en-US" sz="1200" dirty="0">
                <a:solidFill>
                  <a:srgbClr val="CADCFC"/>
                </a:solidFill>
                <a:latin typeface="Calibri" pitchFamily="34" charset="0"/>
                <a:ea typeface="Calibri" pitchFamily="34" charset="-122"/>
                <a:cs typeface="Calibri" pitchFamily="34" charset="-120"/>
              </a:rPr>
              <a:t>AP kelas bike</a:t>
            </a:r>
            <a:endParaRPr lang="en-US" sz="1200" dirty="0"/>
          </a:p>
          <a:p>
            <a:pPr indent="0" marL="0">
              <a:buNone/>
            </a:pPr>
            <a:r>
              <a:rPr lang="en-US" sz="1200" dirty="0">
                <a:solidFill>
                  <a:srgbClr val="CADCFC"/>
                </a:solidFill>
                <a:latin typeface="Calibri" pitchFamily="34" charset="0"/>
                <a:ea typeface="Calibri" pitchFamily="34" charset="-122"/>
                <a:cs typeface="Calibri" pitchFamily="34" charset="-120"/>
              </a:rPr>
              <a:t>pada malam hari</a:t>
            </a:r>
            <a:endParaRPr lang="en-US" sz="1200" dirty="0"/>
          </a:p>
        </p:txBody>
      </p:sp>
      <p:sp>
        <p:nvSpPr>
          <p:cNvPr id="8" name="Shape 5"/>
          <p:cNvSpPr/>
          <p:nvPr/>
        </p:nvSpPr>
        <p:spPr>
          <a:xfrm>
            <a:off x="8686800" y="3383280"/>
            <a:ext cx="2926080" cy="1645920"/>
          </a:xfrm>
          <a:prstGeom prst="roundRect">
            <a:avLst>
              <a:gd name="adj" fmla="val 4444"/>
            </a:avLst>
          </a:prstGeom>
          <a:solidFill>
            <a:srgbClr val="0E1E3C"/>
          </a:solidFill>
          <a:ln w="12700">
            <a:solidFill>
              <a:srgbClr val="0E1E3C"/>
            </a:solidFill>
            <a:prstDash val="solid"/>
          </a:ln>
        </p:spPr>
      </p:sp>
      <p:sp>
        <p:nvSpPr>
          <p:cNvPr id="9" name="Text 6"/>
          <p:cNvSpPr/>
          <p:nvPr/>
        </p:nvSpPr>
        <p:spPr>
          <a:xfrm>
            <a:off x="8961120" y="3566160"/>
            <a:ext cx="2286000" cy="548640"/>
          </a:xfrm>
          <a:prstGeom prst="rect">
            <a:avLst/>
          </a:prstGeom>
          <a:noFill/>
          <a:ln/>
        </p:spPr>
        <p:txBody>
          <a:bodyPr wrap="square" lIns="0" tIns="0" rIns="0" bIns="0" rtlCol="0" anchor="ctr"/>
          <a:lstStyle/>
          <a:p>
            <a:pPr indent="0" marL="0">
              <a:buNone/>
            </a:pPr>
            <a:r>
              <a:rPr lang="en-US" sz="2800" b="1" dirty="0">
                <a:solidFill>
                  <a:srgbClr val="EB6834"/>
                </a:solidFill>
                <a:latin typeface="Cambria" pitchFamily="34" charset="0"/>
                <a:ea typeface="Cambria" pitchFamily="34" charset="-122"/>
                <a:cs typeface="Cambria" pitchFamily="34" charset="-120"/>
              </a:rPr>
              <a:t>+0,106</a:t>
            </a:r>
            <a:endParaRPr lang="en-US" sz="2800" dirty="0"/>
          </a:p>
        </p:txBody>
      </p:sp>
      <p:sp>
        <p:nvSpPr>
          <p:cNvPr id="10" name="Text 7"/>
          <p:cNvSpPr/>
          <p:nvPr/>
        </p:nvSpPr>
        <p:spPr>
          <a:xfrm>
            <a:off x="8961120" y="4133088"/>
            <a:ext cx="2377440" cy="640080"/>
          </a:xfrm>
          <a:prstGeom prst="rect">
            <a:avLst/>
          </a:prstGeom>
          <a:noFill/>
          <a:ln/>
        </p:spPr>
        <p:txBody>
          <a:bodyPr wrap="square" lIns="0" tIns="0" rIns="0" bIns="0" rtlCol="0" anchor="ctr"/>
          <a:lstStyle/>
          <a:p>
            <a:pPr indent="0" marL="0">
              <a:buNone/>
            </a:pPr>
            <a:r>
              <a:rPr lang="en-US" sz="1200" dirty="0">
                <a:solidFill>
                  <a:srgbClr val="CADCFC"/>
                </a:solidFill>
                <a:latin typeface="Calibri" pitchFamily="34" charset="0"/>
                <a:ea typeface="Calibri" pitchFamily="34" charset="-122"/>
                <a:cs typeface="Calibri" pitchFamily="34" charset="-120"/>
              </a:rPr>
              <a:t>AP kelas rider</a:t>
            </a:r>
            <a:endParaRPr lang="en-US" sz="1200" dirty="0"/>
          </a:p>
          <a:p>
            <a:pPr indent="0" marL="0">
              <a:buNone/>
            </a:pPr>
            <a:r>
              <a:rPr lang="en-US" sz="1200" dirty="0">
                <a:solidFill>
                  <a:srgbClr val="CADCFC"/>
                </a:solidFill>
                <a:latin typeface="Calibri" pitchFamily="34" charset="0"/>
                <a:ea typeface="Calibri" pitchFamily="34" charset="-122"/>
                <a:cs typeface="Calibri" pitchFamily="34" charset="-120"/>
              </a:rPr>
              <a:t>pada malam hari</a:t>
            </a:r>
            <a:endParaRPr lang="en-US" sz="1200" dirty="0"/>
          </a:p>
        </p:txBody>
      </p:sp>
      <p:sp>
        <p:nvSpPr>
          <p:cNvPr id="11" name="Shape 8"/>
          <p:cNvSpPr/>
          <p:nvPr/>
        </p:nvSpPr>
        <p:spPr>
          <a:xfrm>
            <a:off x="548640" y="5303520"/>
            <a:ext cx="11064240" cy="1051560"/>
          </a:xfrm>
          <a:prstGeom prst="roundRect">
            <a:avLst>
              <a:gd name="adj" fmla="val 6957"/>
            </a:avLst>
          </a:prstGeom>
          <a:solidFill>
            <a:srgbClr val="F2F4F8"/>
          </a:solidFill>
          <a:ln w="12700">
            <a:solidFill>
              <a:srgbClr val="F2F4F8"/>
            </a:solidFill>
            <a:prstDash val="solid"/>
          </a:ln>
        </p:spPr>
      </p:sp>
      <p:sp>
        <p:nvSpPr>
          <p:cNvPr id="12" name="Text 9"/>
          <p:cNvSpPr/>
          <p:nvPr/>
        </p:nvSpPr>
        <p:spPr>
          <a:xfrm>
            <a:off x="868680" y="5486400"/>
            <a:ext cx="10424160" cy="731520"/>
          </a:xfrm>
          <a:prstGeom prst="rect">
            <a:avLst/>
          </a:prstGeom>
          <a:noFill/>
          <a:ln/>
        </p:spPr>
        <p:txBody>
          <a:bodyPr wrap="square" lIns="0" tIns="0" rIns="0" bIns="0" rtlCol="0" anchor="ctr"/>
          <a:lstStyle/>
          <a:p>
            <a:pPr indent="0" marL="0">
              <a:buNone/>
            </a:pPr>
            <a:r>
              <a:rPr lang="en-US" sz="1350" dirty="0">
                <a:solidFill>
                  <a:srgbClr val="0E1E3C"/>
                </a:solidFill>
                <a:latin typeface="Calibri" pitchFamily="34" charset="0"/>
                <a:ea typeface="Calibri" pitchFamily="34" charset="-122"/>
                <a:cs typeface="Calibri" pitchFamily="34" charset="-120"/>
              </a:rPr>
              <a:t>Menang di 18 dari 18 kombinasi kelas dan kondisi, tanpa satu pun regresi. Kenaikan terbesar terjadi pada sepeda dan pengendara di malam hari, dan itu justru kelas yang paling menentukan keselamatan sekaligus paling sulit dideteksi saat gelap.</a:t>
            </a:r>
            <a:endParaRPr lang="en-US" sz="1350" dirty="0"/>
          </a:p>
        </p:txBody>
      </p:sp>
      <p:sp>
        <p:nvSpPr>
          <p:cNvPr id="13" name="Text 10"/>
          <p:cNvSpPr/>
          <p:nvPr/>
        </p:nvSpPr>
        <p:spPr>
          <a:xfrm>
            <a:off x="11430000" y="6355080"/>
            <a:ext cx="411480" cy="274320"/>
          </a:xfrm>
          <a:prstGeom prst="rect">
            <a:avLst/>
          </a:prstGeom>
          <a:noFill/>
          <a:ln/>
        </p:spPr>
        <p:txBody>
          <a:bodyPr wrap="square" lIns="0" tIns="0" rIns="0" bIns="0" rtlCol="0" anchor="ctr"/>
          <a:lstStyle/>
          <a:p>
            <a:pPr algn="r" indent="0" marL="0">
              <a:buNone/>
            </a:pPr>
            <a:r>
              <a:rPr lang="en-US" sz="1000" dirty="0">
                <a:solidFill>
                  <a:srgbClr val="898781"/>
                </a:solidFill>
                <a:latin typeface="Calibri" pitchFamily="34" charset="0"/>
                <a:ea typeface="Calibri" pitchFamily="34" charset="-122"/>
                <a:cs typeface="Calibri" pitchFamily="34" charset="-120"/>
              </a:rPr>
              <a:t>18</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10896"/>
            <a:ext cx="8229600" cy="256032"/>
          </a:xfrm>
          <a:prstGeom prst="rect">
            <a:avLst/>
          </a:prstGeom>
          <a:noFill/>
          <a:ln/>
        </p:spPr>
        <p:txBody>
          <a:bodyPr wrap="square" lIns="0" tIns="0" rIns="0" bIns="0" rtlCol="0" anchor="ctr"/>
          <a:lstStyle/>
          <a:p>
            <a:pPr indent="0" marL="0">
              <a:buNone/>
            </a:pPr>
            <a:r>
              <a:rPr lang="en-US" sz="1100" b="1" spc="160" kern="0" dirty="0">
                <a:solidFill>
                  <a:srgbClr val="EB6834"/>
                </a:solidFill>
                <a:latin typeface="Calibri" pitchFamily="34" charset="0"/>
                <a:ea typeface="Calibri" pitchFamily="34" charset="-122"/>
                <a:cs typeface="Calibri" pitchFamily="34" charset="-120"/>
              </a:rPr>
              <a:t>HASIL</a:t>
            </a:r>
            <a:endParaRPr lang="en-US" sz="1100" dirty="0"/>
          </a:p>
        </p:txBody>
      </p:sp>
      <p:sp>
        <p:nvSpPr>
          <p:cNvPr id="3" name="Text 1"/>
          <p:cNvSpPr/>
          <p:nvPr/>
        </p:nvSpPr>
        <p:spPr>
          <a:xfrm>
            <a:off x="548640" y="566928"/>
            <a:ext cx="11064240" cy="658368"/>
          </a:xfrm>
          <a:prstGeom prst="rect">
            <a:avLst/>
          </a:prstGeom>
          <a:noFill/>
          <a:ln/>
        </p:spPr>
        <p:txBody>
          <a:bodyPr wrap="square" lIns="0" tIns="0" rIns="0" bIns="0" rtlCol="0" anchor="t"/>
          <a:lstStyle/>
          <a:p>
            <a:pPr indent="0" marL="0">
              <a:buNone/>
            </a:pPr>
            <a:r>
              <a:rPr lang="en-US" sz="3000" b="1" dirty="0">
                <a:solidFill>
                  <a:srgbClr val="0E1E3C"/>
                </a:solidFill>
                <a:latin typeface="Cambria" pitchFamily="34" charset="0"/>
                <a:ea typeface="Cambria" pitchFamily="34" charset="-122"/>
                <a:cs typeface="Cambria" pitchFamily="34" charset="-120"/>
              </a:rPr>
              <a:t>Hasil 4: ablation membuktikan komponennya bekerja</a:t>
            </a:r>
            <a:endParaRPr lang="en-US" sz="3000" dirty="0"/>
          </a:p>
        </p:txBody>
      </p:sp>
      <p:pic>
        <p:nvPicPr>
          <p:cNvPr id="4" name="Image 0" descr="/home/claude/kd_consistency/fig5_ablation_cwd.png">    </p:cNvPr>
          <p:cNvPicPr>
            <a:picLocks noChangeAspect="1"/>
          </p:cNvPicPr>
          <p:nvPr/>
        </p:nvPicPr>
        <p:blipFill>
          <a:blip r:embed="rId1"/>
          <a:stretch>
            <a:fillRect/>
          </a:stretch>
        </p:blipFill>
        <p:spPr>
          <a:xfrm>
            <a:off x="1325880" y="1371600"/>
            <a:ext cx="9509760" cy="3886200"/>
          </a:xfrm>
          <a:prstGeom prst="rect">
            <a:avLst/>
          </a:prstGeom>
        </p:spPr>
      </p:pic>
      <p:sp>
        <p:nvSpPr>
          <p:cNvPr id="5" name="Shape 2"/>
          <p:cNvSpPr/>
          <p:nvPr/>
        </p:nvSpPr>
        <p:spPr>
          <a:xfrm>
            <a:off x="548640" y="5532120"/>
            <a:ext cx="11064240" cy="914400"/>
          </a:xfrm>
          <a:prstGeom prst="roundRect">
            <a:avLst>
              <a:gd name="adj" fmla="val 8000"/>
            </a:avLst>
          </a:prstGeom>
          <a:solidFill>
            <a:srgbClr val="0E1E3C"/>
          </a:solidFill>
          <a:ln w="12700">
            <a:solidFill>
              <a:srgbClr val="0E1E3C"/>
            </a:solidFill>
            <a:prstDash val="solid"/>
          </a:ln>
        </p:spPr>
      </p:sp>
      <p:sp>
        <p:nvSpPr>
          <p:cNvPr id="6" name="Text 3"/>
          <p:cNvSpPr/>
          <p:nvPr/>
        </p:nvSpPr>
        <p:spPr>
          <a:xfrm>
            <a:off x="914400" y="5715000"/>
            <a:ext cx="10424160" cy="54864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Tanpa CWD, gap melebar dari 0,0233 menjadi 0,0321. </a:t>
            </a:r>
            <a:pPr indent="0" marL="0">
              <a:buNone/>
            </a:pPr>
            <a:r>
              <a:rPr lang="en-US" sz="1400" b="1" dirty="0">
                <a:solidFill>
                  <a:srgbClr val="EB6834"/>
                </a:solidFill>
                <a:latin typeface="Calibri" pitchFamily="34" charset="0"/>
                <a:ea typeface="Calibri" pitchFamily="34" charset="-122"/>
                <a:cs typeface="Calibri" pitchFamily="34" charset="-120"/>
              </a:rPr>
              <a:t>Artinya komponen ini saja menyumbang 46 persen dari total pengecilan gap.</a:t>
            </a:r>
            <a:endParaRPr lang="en-US" sz="1400" dirty="0"/>
          </a:p>
        </p:txBody>
      </p:sp>
      <p:sp>
        <p:nvSpPr>
          <p:cNvPr id="7" name="Text 4"/>
          <p:cNvSpPr/>
          <p:nvPr/>
        </p:nvSpPr>
        <p:spPr>
          <a:xfrm>
            <a:off x="11430000" y="6355080"/>
            <a:ext cx="411480" cy="274320"/>
          </a:xfrm>
          <a:prstGeom prst="rect">
            <a:avLst/>
          </a:prstGeom>
          <a:noFill/>
          <a:ln/>
        </p:spPr>
        <p:txBody>
          <a:bodyPr wrap="square" lIns="0" tIns="0" rIns="0" bIns="0" rtlCol="0" anchor="ctr"/>
          <a:lstStyle/>
          <a:p>
            <a:pPr algn="r" indent="0" marL="0">
              <a:buNone/>
            </a:pPr>
            <a:r>
              <a:rPr lang="en-US" sz="1000" dirty="0">
                <a:solidFill>
                  <a:srgbClr val="898781"/>
                </a:solidFill>
                <a:latin typeface="Calibri" pitchFamily="34" charset="0"/>
                <a:ea typeface="Calibri" pitchFamily="34" charset="-122"/>
                <a:cs typeface="Calibri" pitchFamily="34" charset="-120"/>
              </a:rPr>
              <a:t>19</a:t>
            </a:r>
            <a:endParaRPr lang="en-US" sz="1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10896"/>
            <a:ext cx="8229600" cy="256032"/>
          </a:xfrm>
          <a:prstGeom prst="rect">
            <a:avLst/>
          </a:prstGeom>
          <a:noFill/>
          <a:ln/>
        </p:spPr>
        <p:txBody>
          <a:bodyPr wrap="square" lIns="0" tIns="0" rIns="0" bIns="0" rtlCol="0" anchor="ctr"/>
          <a:lstStyle/>
          <a:p>
            <a:pPr indent="0" marL="0">
              <a:buNone/>
            </a:pPr>
            <a:r>
              <a:rPr lang="en-US" sz="1100" b="1" spc="160" kern="0" dirty="0">
                <a:solidFill>
                  <a:srgbClr val="EB6834"/>
                </a:solidFill>
                <a:latin typeface="Calibri" pitchFamily="34" charset="0"/>
                <a:ea typeface="Calibri" pitchFamily="34" charset="-122"/>
                <a:cs typeface="Calibri" pitchFamily="34" charset="-120"/>
              </a:rPr>
              <a:t>NOVELTY</a:t>
            </a:r>
            <a:endParaRPr lang="en-US" sz="1100" dirty="0"/>
          </a:p>
        </p:txBody>
      </p:sp>
      <p:sp>
        <p:nvSpPr>
          <p:cNvPr id="3" name="Text 1"/>
          <p:cNvSpPr/>
          <p:nvPr/>
        </p:nvSpPr>
        <p:spPr>
          <a:xfrm>
            <a:off x="548640" y="566928"/>
            <a:ext cx="11064240" cy="658368"/>
          </a:xfrm>
          <a:prstGeom prst="rect">
            <a:avLst/>
          </a:prstGeom>
          <a:noFill/>
          <a:ln/>
        </p:spPr>
        <p:txBody>
          <a:bodyPr wrap="square" lIns="0" tIns="0" rIns="0" bIns="0" rtlCol="0" anchor="t"/>
          <a:lstStyle/>
          <a:p>
            <a:pPr indent="0" marL="0">
              <a:buNone/>
            </a:pPr>
            <a:r>
              <a:rPr lang="en-US" sz="3000" b="1" dirty="0">
                <a:solidFill>
                  <a:srgbClr val="0E1E3C"/>
                </a:solidFill>
                <a:latin typeface="Cambria" pitchFamily="34" charset="0"/>
                <a:ea typeface="Cambria" pitchFamily="34" charset="-122"/>
                <a:cs typeface="Cambria" pitchFamily="34" charset="-120"/>
              </a:rPr>
              <a:t>Klaim kontribusi kami, dinyatakan secara eksplisit</a:t>
            </a:r>
            <a:endParaRPr lang="en-US" sz="3000" dirty="0"/>
          </a:p>
        </p:txBody>
      </p:sp>
      <p:sp>
        <p:nvSpPr>
          <p:cNvPr id="4" name="Shape 2"/>
          <p:cNvSpPr/>
          <p:nvPr/>
        </p:nvSpPr>
        <p:spPr>
          <a:xfrm>
            <a:off x="548640" y="1554480"/>
            <a:ext cx="11064240" cy="987552"/>
          </a:xfrm>
          <a:prstGeom prst="roundRect">
            <a:avLst>
              <a:gd name="adj" fmla="val 7407"/>
            </a:avLst>
          </a:prstGeom>
          <a:solidFill>
            <a:srgbClr val="F2F4F8"/>
          </a:solidFill>
          <a:ln w="12700">
            <a:solidFill>
              <a:srgbClr val="F2F4F8"/>
            </a:solidFill>
            <a:prstDash val="solid"/>
          </a:ln>
        </p:spPr>
      </p:sp>
      <p:sp>
        <p:nvSpPr>
          <p:cNvPr id="5" name="Shape 3"/>
          <p:cNvSpPr/>
          <p:nvPr/>
        </p:nvSpPr>
        <p:spPr>
          <a:xfrm>
            <a:off x="868680" y="1865376"/>
            <a:ext cx="384048" cy="384048"/>
          </a:xfrm>
          <a:prstGeom prst="ellipse">
            <a:avLst/>
          </a:prstGeom>
          <a:solidFill>
            <a:srgbClr val="EB6834"/>
          </a:solidFill>
          <a:ln w="12700">
            <a:solidFill>
              <a:srgbClr val="EB6834"/>
            </a:solidFill>
            <a:prstDash val="solid"/>
          </a:ln>
        </p:spPr>
      </p:sp>
      <p:sp>
        <p:nvSpPr>
          <p:cNvPr id="6" name="Text 4"/>
          <p:cNvSpPr/>
          <p:nvPr/>
        </p:nvSpPr>
        <p:spPr>
          <a:xfrm>
            <a:off x="868680" y="1865376"/>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p:nvPr/>
        </p:nvSpPr>
        <p:spPr>
          <a:xfrm>
            <a:off x="1463040" y="1700784"/>
            <a:ext cx="3108960" cy="685800"/>
          </a:xfrm>
          <a:prstGeom prst="rect">
            <a:avLst/>
          </a:prstGeom>
          <a:noFill/>
          <a:ln/>
        </p:spPr>
        <p:txBody>
          <a:bodyPr wrap="square" lIns="0" tIns="0" rIns="0" bIns="0" rtlCol="0" anchor="ctr"/>
          <a:lstStyle/>
          <a:p>
            <a:pPr indent="0" marL="0">
              <a:buNone/>
            </a:pPr>
            <a:r>
              <a:rPr lang="en-US" sz="1450" b="1" dirty="0">
                <a:solidFill>
                  <a:srgbClr val="0E1E3C"/>
                </a:solidFill>
                <a:latin typeface="Cambria" pitchFamily="34" charset="0"/>
                <a:ea typeface="Cambria" pitchFamily="34" charset="-122"/>
                <a:cs typeface="Cambria" pitchFamily="34" charset="-120"/>
              </a:rPr>
              <a:t>Reframing metrik</a:t>
            </a:r>
            <a:endParaRPr lang="en-US" sz="1450" dirty="0"/>
          </a:p>
        </p:txBody>
      </p:sp>
      <p:sp>
        <p:nvSpPr>
          <p:cNvPr id="8" name="Text 6"/>
          <p:cNvSpPr/>
          <p:nvPr/>
        </p:nvSpPr>
        <p:spPr>
          <a:xfrm>
            <a:off x="4663440" y="1682496"/>
            <a:ext cx="6675120" cy="731520"/>
          </a:xfrm>
          <a:prstGeom prst="rect">
            <a:avLst/>
          </a:prstGeom>
          <a:noFill/>
          <a:ln/>
        </p:spPr>
        <p:txBody>
          <a:bodyPr wrap="square" lIns="0" tIns="0" rIns="0" bIns="0" rtlCol="0" anchor="ctr"/>
          <a:lstStyle/>
          <a:p>
            <a:pPr indent="0" marL="0">
              <a:buNone/>
            </a:pPr>
            <a:r>
              <a:rPr lang="en-US" sz="1200" dirty="0">
                <a:solidFill>
                  <a:srgbClr val="52514E"/>
                </a:solidFill>
                <a:latin typeface="Calibri" pitchFamily="34" charset="0"/>
                <a:ea typeface="Calibri" pitchFamily="34" charset="-122"/>
                <a:cs typeface="Calibri" pitchFamily="34" charset="-120"/>
              </a:rPr>
              <a:t>Kami menjadikan besar penurunan siang ke malam sebagai metrik utama, bukan mAP gabungan. Sejauh penelusuran kami, belum ada yang melakukan ini untuk detektor ringan</a:t>
            </a:r>
            <a:endParaRPr lang="en-US" sz="1200" dirty="0"/>
          </a:p>
        </p:txBody>
      </p:sp>
      <p:sp>
        <p:nvSpPr>
          <p:cNvPr id="9" name="Shape 7"/>
          <p:cNvSpPr/>
          <p:nvPr/>
        </p:nvSpPr>
        <p:spPr>
          <a:xfrm>
            <a:off x="548640" y="2651760"/>
            <a:ext cx="11064240" cy="987552"/>
          </a:xfrm>
          <a:prstGeom prst="roundRect">
            <a:avLst>
              <a:gd name="adj" fmla="val 7407"/>
            </a:avLst>
          </a:prstGeom>
          <a:solidFill>
            <a:srgbClr val="F2F4F8"/>
          </a:solidFill>
          <a:ln w="12700">
            <a:solidFill>
              <a:srgbClr val="F2F4F8"/>
            </a:solidFill>
            <a:prstDash val="solid"/>
          </a:ln>
        </p:spPr>
      </p:sp>
      <p:sp>
        <p:nvSpPr>
          <p:cNvPr id="10" name="Shape 8"/>
          <p:cNvSpPr/>
          <p:nvPr/>
        </p:nvSpPr>
        <p:spPr>
          <a:xfrm>
            <a:off x="868680" y="2962656"/>
            <a:ext cx="384048" cy="384048"/>
          </a:xfrm>
          <a:prstGeom prst="ellipse">
            <a:avLst/>
          </a:prstGeom>
          <a:solidFill>
            <a:srgbClr val="EB6834"/>
          </a:solidFill>
          <a:ln w="12700">
            <a:solidFill>
              <a:srgbClr val="EB6834"/>
            </a:solidFill>
            <a:prstDash val="solid"/>
          </a:ln>
        </p:spPr>
      </p:sp>
      <p:sp>
        <p:nvSpPr>
          <p:cNvPr id="11" name="Text 9"/>
          <p:cNvSpPr/>
          <p:nvPr/>
        </p:nvSpPr>
        <p:spPr>
          <a:xfrm>
            <a:off x="868680" y="2962656"/>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2" name="Text 10"/>
          <p:cNvSpPr/>
          <p:nvPr/>
        </p:nvSpPr>
        <p:spPr>
          <a:xfrm>
            <a:off x="1463040" y="2798064"/>
            <a:ext cx="3108960" cy="685800"/>
          </a:xfrm>
          <a:prstGeom prst="rect">
            <a:avLst/>
          </a:prstGeom>
          <a:noFill/>
          <a:ln/>
        </p:spPr>
        <p:txBody>
          <a:bodyPr wrap="square" lIns="0" tIns="0" rIns="0" bIns="0" rtlCol="0" anchor="ctr"/>
          <a:lstStyle/>
          <a:p>
            <a:pPr indent="0" marL="0">
              <a:buNone/>
            </a:pPr>
            <a:r>
              <a:rPr lang="en-US" sz="1450" b="1" dirty="0">
                <a:solidFill>
                  <a:srgbClr val="0E1E3C"/>
                </a:solidFill>
                <a:latin typeface="Cambria" pitchFamily="34" charset="0"/>
                <a:ea typeface="Cambria" pitchFamily="34" charset="-122"/>
                <a:cs typeface="Cambria" pitchFamily="34" charset="-120"/>
              </a:rPr>
              <a:t>Temuan empiris yang tidak terduga</a:t>
            </a:r>
            <a:endParaRPr lang="en-US" sz="1450" dirty="0"/>
          </a:p>
        </p:txBody>
      </p:sp>
      <p:sp>
        <p:nvSpPr>
          <p:cNvPr id="13" name="Text 11"/>
          <p:cNvSpPr/>
          <p:nvPr/>
        </p:nvSpPr>
        <p:spPr>
          <a:xfrm>
            <a:off x="4663440" y="2779776"/>
            <a:ext cx="6675120" cy="731520"/>
          </a:xfrm>
          <a:prstGeom prst="rect">
            <a:avLst/>
          </a:prstGeom>
          <a:noFill/>
          <a:ln/>
        </p:spPr>
        <p:txBody>
          <a:bodyPr wrap="square" lIns="0" tIns="0" rIns="0" bIns="0" rtlCol="0" anchor="ctr"/>
          <a:lstStyle/>
          <a:p>
            <a:pPr indent="0" marL="0">
              <a:buNone/>
            </a:pPr>
            <a:r>
              <a:rPr lang="en-US" sz="1200" dirty="0">
                <a:solidFill>
                  <a:srgbClr val="52514E"/>
                </a:solidFill>
                <a:latin typeface="Calibri" pitchFamily="34" charset="0"/>
                <a:ea typeface="Calibri" pitchFamily="34" charset="-122"/>
                <a:cs typeface="Calibri" pitchFamily="34" charset="-120"/>
              </a:rPr>
              <a:t>Student yang 3,9 kali lebih kecil justru lebih tahan perubahan cahaya daripada gurunya. Ini bertentangan dengan intuisi bahwa student hanya meniru guru</a:t>
            </a:r>
            <a:endParaRPr lang="en-US" sz="1200" dirty="0"/>
          </a:p>
        </p:txBody>
      </p:sp>
      <p:sp>
        <p:nvSpPr>
          <p:cNvPr id="14" name="Shape 12"/>
          <p:cNvSpPr/>
          <p:nvPr/>
        </p:nvSpPr>
        <p:spPr>
          <a:xfrm>
            <a:off x="548640" y="3749040"/>
            <a:ext cx="11064240" cy="987552"/>
          </a:xfrm>
          <a:prstGeom prst="roundRect">
            <a:avLst>
              <a:gd name="adj" fmla="val 7407"/>
            </a:avLst>
          </a:prstGeom>
          <a:solidFill>
            <a:srgbClr val="F2F4F8"/>
          </a:solidFill>
          <a:ln w="12700">
            <a:solidFill>
              <a:srgbClr val="F2F4F8"/>
            </a:solidFill>
            <a:prstDash val="solid"/>
          </a:ln>
        </p:spPr>
      </p:sp>
      <p:sp>
        <p:nvSpPr>
          <p:cNvPr id="15" name="Shape 13"/>
          <p:cNvSpPr/>
          <p:nvPr/>
        </p:nvSpPr>
        <p:spPr>
          <a:xfrm>
            <a:off x="868680" y="4059936"/>
            <a:ext cx="384048" cy="384048"/>
          </a:xfrm>
          <a:prstGeom prst="ellipse">
            <a:avLst/>
          </a:prstGeom>
          <a:solidFill>
            <a:srgbClr val="2A78D6"/>
          </a:solidFill>
          <a:ln w="12700">
            <a:solidFill>
              <a:srgbClr val="2A78D6"/>
            </a:solidFill>
            <a:prstDash val="solid"/>
          </a:ln>
        </p:spPr>
      </p:sp>
      <p:sp>
        <p:nvSpPr>
          <p:cNvPr id="16" name="Text 14"/>
          <p:cNvSpPr/>
          <p:nvPr/>
        </p:nvSpPr>
        <p:spPr>
          <a:xfrm>
            <a:off x="868680" y="4059936"/>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7" name="Text 15"/>
          <p:cNvSpPr/>
          <p:nvPr/>
        </p:nvSpPr>
        <p:spPr>
          <a:xfrm>
            <a:off x="1463040" y="3895344"/>
            <a:ext cx="3108960" cy="685800"/>
          </a:xfrm>
          <a:prstGeom prst="rect">
            <a:avLst/>
          </a:prstGeom>
          <a:noFill/>
          <a:ln/>
        </p:spPr>
        <p:txBody>
          <a:bodyPr wrap="square" lIns="0" tIns="0" rIns="0" bIns="0" rtlCol="0" anchor="ctr"/>
          <a:lstStyle/>
          <a:p>
            <a:pPr indent="0" marL="0">
              <a:buNone/>
            </a:pPr>
            <a:r>
              <a:rPr lang="en-US" sz="1450" b="1" dirty="0">
                <a:solidFill>
                  <a:srgbClr val="0E1E3C"/>
                </a:solidFill>
                <a:latin typeface="Cambria" pitchFamily="34" charset="0"/>
                <a:ea typeface="Cambria" pitchFamily="34" charset="-122"/>
                <a:cs typeface="Cambria" pitchFamily="34" charset="-120"/>
              </a:rPr>
              <a:t>Desain distilasi khusus low light</a:t>
            </a:r>
            <a:endParaRPr lang="en-US" sz="1450" dirty="0"/>
          </a:p>
        </p:txBody>
      </p:sp>
      <p:sp>
        <p:nvSpPr>
          <p:cNvPr id="18" name="Text 16"/>
          <p:cNvSpPr/>
          <p:nvPr/>
        </p:nvSpPr>
        <p:spPr>
          <a:xfrm>
            <a:off x="4663440" y="3877056"/>
            <a:ext cx="6675120" cy="731520"/>
          </a:xfrm>
          <a:prstGeom prst="rect">
            <a:avLst/>
          </a:prstGeom>
          <a:noFill/>
          <a:ln/>
        </p:spPr>
        <p:txBody>
          <a:bodyPr wrap="square" lIns="0" tIns="0" rIns="0" bIns="0" rtlCol="0" anchor="ctr"/>
          <a:lstStyle/>
          <a:p>
            <a:pPr indent="0" marL="0">
              <a:buNone/>
            </a:pPr>
            <a:r>
              <a:rPr lang="en-US" sz="1200" dirty="0">
                <a:solidFill>
                  <a:srgbClr val="52514E"/>
                </a:solidFill>
                <a:latin typeface="Calibri" pitchFamily="34" charset="0"/>
                <a:ea typeface="Calibri" pitchFamily="34" charset="-122"/>
                <a:cs typeface="Calibri" pitchFamily="34" charset="-120"/>
              </a:rPr>
              <a:t>Tiga perubahan mekanisme yang dipilih untuk menyerang mode kegagalan malam hari, dan kontribusinya dibuktikan lewat ablation</a:t>
            </a:r>
            <a:endParaRPr lang="en-US" sz="1200" dirty="0"/>
          </a:p>
        </p:txBody>
      </p:sp>
      <p:sp>
        <p:nvSpPr>
          <p:cNvPr id="19" name="Shape 17"/>
          <p:cNvSpPr/>
          <p:nvPr/>
        </p:nvSpPr>
        <p:spPr>
          <a:xfrm>
            <a:off x="548640" y="4846320"/>
            <a:ext cx="11064240" cy="987552"/>
          </a:xfrm>
          <a:prstGeom prst="roundRect">
            <a:avLst>
              <a:gd name="adj" fmla="val 7407"/>
            </a:avLst>
          </a:prstGeom>
          <a:solidFill>
            <a:srgbClr val="F2F4F8"/>
          </a:solidFill>
          <a:ln w="12700">
            <a:solidFill>
              <a:srgbClr val="F2F4F8"/>
            </a:solidFill>
            <a:prstDash val="solid"/>
          </a:ln>
        </p:spPr>
      </p:sp>
      <p:sp>
        <p:nvSpPr>
          <p:cNvPr id="20" name="Shape 18"/>
          <p:cNvSpPr/>
          <p:nvPr/>
        </p:nvSpPr>
        <p:spPr>
          <a:xfrm>
            <a:off x="868680" y="5157216"/>
            <a:ext cx="384048" cy="384048"/>
          </a:xfrm>
          <a:prstGeom prst="ellipse">
            <a:avLst/>
          </a:prstGeom>
          <a:solidFill>
            <a:srgbClr val="2A78D6"/>
          </a:solidFill>
          <a:ln w="12700">
            <a:solidFill>
              <a:srgbClr val="2A78D6"/>
            </a:solidFill>
            <a:prstDash val="solid"/>
          </a:ln>
        </p:spPr>
      </p:sp>
      <p:sp>
        <p:nvSpPr>
          <p:cNvPr id="21" name="Text 19"/>
          <p:cNvSpPr/>
          <p:nvPr/>
        </p:nvSpPr>
        <p:spPr>
          <a:xfrm>
            <a:off x="868680" y="5157216"/>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2" name="Text 20"/>
          <p:cNvSpPr/>
          <p:nvPr/>
        </p:nvSpPr>
        <p:spPr>
          <a:xfrm>
            <a:off x="1463040" y="4992624"/>
            <a:ext cx="3108960" cy="685800"/>
          </a:xfrm>
          <a:prstGeom prst="rect">
            <a:avLst/>
          </a:prstGeom>
          <a:noFill/>
          <a:ln/>
        </p:spPr>
        <p:txBody>
          <a:bodyPr wrap="square" lIns="0" tIns="0" rIns="0" bIns="0" rtlCol="0" anchor="ctr"/>
          <a:lstStyle/>
          <a:p>
            <a:pPr indent="0" marL="0">
              <a:buNone/>
            </a:pPr>
            <a:r>
              <a:rPr lang="en-US" sz="1450" b="1" dirty="0">
                <a:solidFill>
                  <a:srgbClr val="0E1E3C"/>
                </a:solidFill>
                <a:latin typeface="Cambria" pitchFamily="34" charset="0"/>
                <a:ea typeface="Cambria" pitchFamily="34" charset="-122"/>
                <a:cs typeface="Cambria" pitchFamily="34" charset="-120"/>
              </a:rPr>
              <a:t>Standar pelaporan yang lebih ketat</a:t>
            </a:r>
            <a:endParaRPr lang="en-US" sz="1450" dirty="0"/>
          </a:p>
        </p:txBody>
      </p:sp>
      <p:sp>
        <p:nvSpPr>
          <p:cNvPr id="23" name="Text 21"/>
          <p:cNvSpPr/>
          <p:nvPr/>
        </p:nvSpPr>
        <p:spPr>
          <a:xfrm>
            <a:off x="4663440" y="4974336"/>
            <a:ext cx="6675120" cy="731520"/>
          </a:xfrm>
          <a:prstGeom prst="rect">
            <a:avLst/>
          </a:prstGeom>
          <a:noFill/>
          <a:ln/>
        </p:spPr>
        <p:txBody>
          <a:bodyPr wrap="square" lIns="0" tIns="0" rIns="0" bIns="0" rtlCol="0" anchor="ctr"/>
          <a:lstStyle/>
          <a:p>
            <a:pPr indent="0" marL="0">
              <a:buNone/>
            </a:pPr>
            <a:r>
              <a:rPr lang="en-US" sz="1200" dirty="0">
                <a:solidFill>
                  <a:srgbClr val="52514E"/>
                </a:solidFill>
                <a:latin typeface="Calibri" pitchFamily="34" charset="0"/>
                <a:ea typeface="Calibri" pitchFamily="34" charset="-122"/>
                <a:cs typeface="Calibri" pitchFamily="34" charset="-120"/>
              </a:rPr>
              <a:t>Tiga kali training dengan mean dan simpangan baku, sementara mayoritas paper sejenis hanya melaporkan satu run</a:t>
            </a:r>
            <a:endParaRPr lang="en-US" sz="1200" dirty="0"/>
          </a:p>
        </p:txBody>
      </p:sp>
      <p:sp>
        <p:nvSpPr>
          <p:cNvPr id="24" name="Text 22"/>
          <p:cNvSpPr/>
          <p:nvPr/>
        </p:nvSpPr>
        <p:spPr>
          <a:xfrm>
            <a:off x="548640" y="5989320"/>
            <a:ext cx="10698480" cy="365760"/>
          </a:xfrm>
          <a:prstGeom prst="rect">
            <a:avLst/>
          </a:prstGeom>
          <a:noFill/>
          <a:ln/>
        </p:spPr>
        <p:txBody>
          <a:bodyPr wrap="square" lIns="0" tIns="0" rIns="0" bIns="0" rtlCol="0" anchor="ctr"/>
          <a:lstStyle/>
          <a:p>
            <a:pPr indent="0" marL="0">
              <a:buNone/>
            </a:pPr>
            <a:r>
              <a:rPr lang="en-US" sz="1250" i="1" dirty="0">
                <a:solidFill>
                  <a:srgbClr val="898781"/>
                </a:solidFill>
                <a:latin typeface="Calibri" pitchFamily="34" charset="0"/>
                <a:ea typeface="Calibri" pitchFamily="34" charset="-122"/>
                <a:cs typeface="Calibri" pitchFamily="34" charset="-120"/>
              </a:rPr>
              <a:t>Yang tidak kami klaim: mekanisme distilasi baru dari nol. Kami memakai teknik yang ada, dengan pertanyaan, metrik, dan bukti yang berbeda.</a:t>
            </a:r>
            <a:endParaRPr lang="en-US" sz="1250" dirty="0"/>
          </a:p>
        </p:txBody>
      </p:sp>
      <p:sp>
        <p:nvSpPr>
          <p:cNvPr id="25" name="Text 23"/>
          <p:cNvSpPr/>
          <p:nvPr/>
        </p:nvSpPr>
        <p:spPr>
          <a:xfrm>
            <a:off x="11430000" y="6355080"/>
            <a:ext cx="411480" cy="274320"/>
          </a:xfrm>
          <a:prstGeom prst="rect">
            <a:avLst/>
          </a:prstGeom>
          <a:noFill/>
          <a:ln/>
        </p:spPr>
        <p:txBody>
          <a:bodyPr wrap="square" lIns="0" tIns="0" rIns="0" bIns="0" rtlCol="0" anchor="ctr"/>
          <a:lstStyle/>
          <a:p>
            <a:pPr algn="r" indent="0" marL="0">
              <a:buNone/>
            </a:pPr>
            <a:r>
              <a:rPr lang="en-US" sz="1000" dirty="0">
                <a:solidFill>
                  <a:srgbClr val="898781"/>
                </a:solidFill>
                <a:latin typeface="Calibri" pitchFamily="34" charset="0"/>
                <a:ea typeface="Calibri" pitchFamily="34" charset="-122"/>
                <a:cs typeface="Calibri" pitchFamily="34" charset="-120"/>
              </a:rPr>
              <a:t>20</a:t>
            </a:r>
            <a:endParaRPr lang="en-US" sz="1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10896"/>
            <a:ext cx="8229600" cy="256032"/>
          </a:xfrm>
          <a:prstGeom prst="rect">
            <a:avLst/>
          </a:prstGeom>
          <a:noFill/>
          <a:ln/>
        </p:spPr>
        <p:txBody>
          <a:bodyPr wrap="square" lIns="0" tIns="0" rIns="0" bIns="0" rtlCol="0" anchor="ctr"/>
          <a:lstStyle/>
          <a:p>
            <a:pPr indent="0" marL="0">
              <a:buNone/>
            </a:pPr>
            <a:r>
              <a:rPr lang="en-US" sz="1100" b="1" spc="160" kern="0" dirty="0">
                <a:solidFill>
                  <a:srgbClr val="EB6834"/>
                </a:solidFill>
                <a:latin typeface="Calibri" pitchFamily="34" charset="0"/>
                <a:ea typeface="Calibri" pitchFamily="34" charset="-122"/>
                <a:cs typeface="Calibri" pitchFamily="34" charset="-120"/>
              </a:rPr>
              <a:t>RENCANA KERJA</a:t>
            </a:r>
            <a:endParaRPr lang="en-US" sz="1100" dirty="0"/>
          </a:p>
        </p:txBody>
      </p:sp>
      <p:sp>
        <p:nvSpPr>
          <p:cNvPr id="3" name="Text 1"/>
          <p:cNvSpPr/>
          <p:nvPr/>
        </p:nvSpPr>
        <p:spPr>
          <a:xfrm>
            <a:off x="548640" y="566928"/>
            <a:ext cx="11064240" cy="658368"/>
          </a:xfrm>
          <a:prstGeom prst="rect">
            <a:avLst/>
          </a:prstGeom>
          <a:noFill/>
          <a:ln/>
        </p:spPr>
        <p:txBody>
          <a:bodyPr wrap="square" lIns="0" tIns="0" rIns="0" bIns="0" rtlCol="0" anchor="t"/>
          <a:lstStyle/>
          <a:p>
            <a:pPr indent="0" marL="0">
              <a:buNone/>
            </a:pPr>
            <a:r>
              <a:rPr lang="en-US" sz="3000" b="1" dirty="0">
                <a:solidFill>
                  <a:srgbClr val="0E1E3C"/>
                </a:solidFill>
                <a:latin typeface="Cambria" pitchFamily="34" charset="0"/>
                <a:ea typeface="Cambria" pitchFamily="34" charset="-122"/>
                <a:cs typeface="Cambria" pitchFamily="34" charset="-120"/>
              </a:rPr>
              <a:t>Sisa pekerjaan sampai thesis</a:t>
            </a:r>
            <a:endParaRPr lang="en-US" sz="3000" dirty="0"/>
          </a:p>
        </p:txBody>
      </p:sp>
      <p:sp>
        <p:nvSpPr>
          <p:cNvPr id="4" name="Shape 2"/>
          <p:cNvSpPr/>
          <p:nvPr/>
        </p:nvSpPr>
        <p:spPr>
          <a:xfrm>
            <a:off x="548640" y="1645920"/>
            <a:ext cx="3520440" cy="2971800"/>
          </a:xfrm>
          <a:prstGeom prst="roundRect">
            <a:avLst>
              <a:gd name="adj" fmla="val 2462"/>
            </a:avLst>
          </a:prstGeom>
          <a:solidFill>
            <a:srgbClr val="F2F4F8"/>
          </a:solidFill>
          <a:ln w="12700">
            <a:solidFill>
              <a:srgbClr val="F2F4F8"/>
            </a:solidFill>
            <a:prstDash val="solid"/>
          </a:ln>
        </p:spPr>
      </p:sp>
      <p:sp>
        <p:nvSpPr>
          <p:cNvPr id="5" name="Shape 3"/>
          <p:cNvSpPr/>
          <p:nvPr/>
        </p:nvSpPr>
        <p:spPr>
          <a:xfrm>
            <a:off x="822960" y="1874520"/>
            <a:ext cx="292608" cy="292608"/>
          </a:xfrm>
          <a:prstGeom prst="ellipse">
            <a:avLst/>
          </a:prstGeom>
          <a:solidFill>
            <a:srgbClr val="2A78D6"/>
          </a:solidFill>
          <a:ln w="12700">
            <a:solidFill>
              <a:srgbClr val="2A78D6"/>
            </a:solidFill>
            <a:prstDash val="solid"/>
          </a:ln>
        </p:spPr>
      </p:sp>
      <p:sp>
        <p:nvSpPr>
          <p:cNvPr id="6" name="Text 4"/>
          <p:cNvSpPr/>
          <p:nvPr/>
        </p:nvSpPr>
        <p:spPr>
          <a:xfrm>
            <a:off x="1234440" y="1828800"/>
            <a:ext cx="2651760" cy="365760"/>
          </a:xfrm>
          <a:prstGeom prst="rect">
            <a:avLst/>
          </a:prstGeom>
          <a:noFill/>
          <a:ln/>
        </p:spPr>
        <p:txBody>
          <a:bodyPr wrap="square" lIns="0" tIns="0" rIns="0" bIns="0" rtlCol="0" anchor="ctr"/>
          <a:lstStyle/>
          <a:p>
            <a:pPr indent="0" marL="0">
              <a:buNone/>
            </a:pPr>
            <a:r>
              <a:rPr lang="en-US" sz="1500" b="1" dirty="0">
                <a:solidFill>
                  <a:srgbClr val="0E1E3C"/>
                </a:solidFill>
                <a:latin typeface="Cambria" pitchFamily="34" charset="0"/>
                <a:ea typeface="Cambria" pitchFamily="34" charset="-122"/>
                <a:cs typeface="Cambria" pitchFamily="34" charset="-120"/>
              </a:rPr>
              <a:t>Sudah selesai</a:t>
            </a:r>
            <a:endParaRPr lang="en-US" sz="1500" dirty="0"/>
          </a:p>
        </p:txBody>
      </p:sp>
      <p:sp>
        <p:nvSpPr>
          <p:cNvPr id="7" name="Text 5"/>
          <p:cNvSpPr/>
          <p:nvPr/>
        </p:nvSpPr>
        <p:spPr>
          <a:xfrm>
            <a:off x="868680" y="2331720"/>
            <a:ext cx="2926080" cy="2834640"/>
          </a:xfrm>
          <a:prstGeom prst="rect">
            <a:avLst/>
          </a:prstGeom>
          <a:noFill/>
          <a:ln/>
        </p:spPr>
        <p:txBody>
          <a:bodyPr wrap="square" lIns="0" tIns="0" rIns="0" bIns="0" rtlCol="0" anchor="t"/>
          <a:lstStyle/>
          <a:p>
            <a:pPr marL="342900" indent="-342900">
              <a:spcAft>
                <a:spcPts val="1200"/>
              </a:spcAft>
              <a:buSzPct val="100000"/>
              <a:buChar char="•"/>
            </a:pPr>
            <a:r>
              <a:rPr lang="en-US" sz="1200" dirty="0">
                <a:solidFill>
                  <a:srgbClr val="52514E"/>
                </a:solidFill>
                <a:latin typeface="Calibri" pitchFamily="34" charset="0"/>
                <a:ea typeface="Calibri" pitchFamily="34" charset="-122"/>
                <a:cs typeface="Calibri" pitchFamily="34" charset="-120"/>
              </a:rPr>
              <a:t>Full pipeline 9 kelas untuk teacher, baseline, dan student KD</a:t>
            </a:r>
            <a:endParaRPr lang="en-US" sz="1200" dirty="0"/>
          </a:p>
          <a:p>
            <a:pPr marL="342900" indent="-342900">
              <a:spcAft>
                <a:spcPts val="1200"/>
              </a:spcAft>
              <a:buSzPct val="100000"/>
              <a:buChar char="•"/>
            </a:pPr>
            <a:r>
              <a:rPr lang="en-US" sz="1200" dirty="0">
                <a:solidFill>
                  <a:srgbClr val="52514E"/>
                </a:solidFill>
                <a:latin typeface="Calibri" pitchFamily="34" charset="0"/>
                <a:ea typeface="Calibri" pitchFamily="34" charset="-122"/>
                <a:cs typeface="Calibri" pitchFamily="34" charset="-120"/>
              </a:rPr>
              <a:t>Tiga kali training untuk verifikasi konsistensi</a:t>
            </a:r>
            <a:endParaRPr lang="en-US" sz="1200" dirty="0"/>
          </a:p>
          <a:p>
            <a:pPr marL="342900" indent="-342900">
              <a:spcAft>
                <a:spcPts val="1200"/>
              </a:spcAft>
              <a:buSzPct val="100000"/>
              <a:buChar char="•"/>
            </a:pPr>
            <a:r>
              <a:rPr lang="en-US" sz="1200" dirty="0">
                <a:solidFill>
                  <a:srgbClr val="52514E"/>
                </a:solidFill>
                <a:latin typeface="Calibri" pitchFamily="34" charset="0"/>
                <a:ea typeface="Calibri" pitchFamily="34" charset="-122"/>
                <a:cs typeface="Calibri" pitchFamily="34" charset="-120"/>
              </a:rPr>
              <a:t>Ablation channel-wise distillation</a:t>
            </a:r>
            <a:endParaRPr lang="en-US" sz="1200" dirty="0"/>
          </a:p>
        </p:txBody>
      </p:sp>
      <p:sp>
        <p:nvSpPr>
          <p:cNvPr id="8" name="Shape 6"/>
          <p:cNvSpPr/>
          <p:nvPr/>
        </p:nvSpPr>
        <p:spPr>
          <a:xfrm>
            <a:off x="4343400" y="1645920"/>
            <a:ext cx="3520440" cy="2971800"/>
          </a:xfrm>
          <a:prstGeom prst="roundRect">
            <a:avLst>
              <a:gd name="adj" fmla="val 2462"/>
            </a:avLst>
          </a:prstGeom>
          <a:solidFill>
            <a:srgbClr val="F2F4F8"/>
          </a:solidFill>
          <a:ln w="12700">
            <a:solidFill>
              <a:srgbClr val="F2F4F8"/>
            </a:solidFill>
            <a:prstDash val="solid"/>
          </a:ln>
        </p:spPr>
      </p:sp>
      <p:sp>
        <p:nvSpPr>
          <p:cNvPr id="9" name="Shape 7"/>
          <p:cNvSpPr/>
          <p:nvPr/>
        </p:nvSpPr>
        <p:spPr>
          <a:xfrm>
            <a:off x="4617720" y="1874520"/>
            <a:ext cx="292608" cy="292608"/>
          </a:xfrm>
          <a:prstGeom prst="ellipse">
            <a:avLst/>
          </a:prstGeom>
          <a:solidFill>
            <a:srgbClr val="EB6834"/>
          </a:solidFill>
          <a:ln w="12700">
            <a:solidFill>
              <a:srgbClr val="EB6834"/>
            </a:solidFill>
            <a:prstDash val="solid"/>
          </a:ln>
        </p:spPr>
      </p:sp>
      <p:sp>
        <p:nvSpPr>
          <p:cNvPr id="10" name="Text 8"/>
          <p:cNvSpPr/>
          <p:nvPr/>
        </p:nvSpPr>
        <p:spPr>
          <a:xfrm>
            <a:off x="5029200" y="1828800"/>
            <a:ext cx="2651760" cy="365760"/>
          </a:xfrm>
          <a:prstGeom prst="rect">
            <a:avLst/>
          </a:prstGeom>
          <a:noFill/>
          <a:ln/>
        </p:spPr>
        <p:txBody>
          <a:bodyPr wrap="square" lIns="0" tIns="0" rIns="0" bIns="0" rtlCol="0" anchor="ctr"/>
          <a:lstStyle/>
          <a:p>
            <a:pPr indent="0" marL="0">
              <a:buNone/>
            </a:pPr>
            <a:r>
              <a:rPr lang="en-US" sz="1500" b="1" dirty="0">
                <a:solidFill>
                  <a:srgbClr val="0E1E3C"/>
                </a:solidFill>
                <a:latin typeface="Cambria" pitchFamily="34" charset="0"/>
                <a:ea typeface="Cambria" pitchFamily="34" charset="-122"/>
                <a:cs typeface="Cambria" pitchFamily="34" charset="-120"/>
              </a:rPr>
              <a:t>Sedang berjalan</a:t>
            </a:r>
            <a:endParaRPr lang="en-US" sz="1500" dirty="0"/>
          </a:p>
        </p:txBody>
      </p:sp>
      <p:sp>
        <p:nvSpPr>
          <p:cNvPr id="11" name="Text 9"/>
          <p:cNvSpPr/>
          <p:nvPr/>
        </p:nvSpPr>
        <p:spPr>
          <a:xfrm>
            <a:off x="4663440" y="2331720"/>
            <a:ext cx="2926080" cy="2834640"/>
          </a:xfrm>
          <a:prstGeom prst="rect">
            <a:avLst/>
          </a:prstGeom>
          <a:noFill/>
          <a:ln/>
        </p:spPr>
        <p:txBody>
          <a:bodyPr wrap="square" lIns="0" tIns="0" rIns="0" bIns="0" rtlCol="0" anchor="t"/>
          <a:lstStyle/>
          <a:p>
            <a:pPr marL="342900" indent="-342900">
              <a:spcAft>
                <a:spcPts val="1200"/>
              </a:spcAft>
              <a:buSzPct val="100000"/>
              <a:buChar char="•"/>
            </a:pPr>
            <a:r>
              <a:rPr lang="en-US" sz="1200" dirty="0">
                <a:solidFill>
                  <a:srgbClr val="52514E"/>
                </a:solidFill>
                <a:latin typeface="Calibri" pitchFamily="34" charset="0"/>
                <a:ea typeface="Calibri" pitchFamily="34" charset="-122"/>
                <a:cs typeface="Calibri" pitchFamily="34" charset="-120"/>
              </a:rPr>
              <a:t>Ablation soft confidence weighting</a:t>
            </a:r>
            <a:endParaRPr lang="en-US" sz="1200" dirty="0"/>
          </a:p>
          <a:p>
            <a:pPr marL="342900" indent="-342900">
              <a:spcAft>
                <a:spcPts val="1200"/>
              </a:spcAft>
              <a:buSzPct val="100000"/>
              <a:buChar char="•"/>
            </a:pPr>
            <a:r>
              <a:rPr lang="en-US" sz="1200" dirty="0">
                <a:solidFill>
                  <a:srgbClr val="52514E"/>
                </a:solidFill>
                <a:latin typeface="Calibri" pitchFamily="34" charset="0"/>
                <a:ea typeface="Calibri" pitchFamily="34" charset="-122"/>
                <a:cs typeface="Calibri" pitchFamily="34" charset="-120"/>
              </a:rPr>
              <a:t>Ablation cosine beta schedule</a:t>
            </a:r>
            <a:endParaRPr lang="en-US" sz="1200" dirty="0"/>
          </a:p>
        </p:txBody>
      </p:sp>
      <p:sp>
        <p:nvSpPr>
          <p:cNvPr id="12" name="Shape 10"/>
          <p:cNvSpPr/>
          <p:nvPr/>
        </p:nvSpPr>
        <p:spPr>
          <a:xfrm>
            <a:off x="8138160" y="1645920"/>
            <a:ext cx="3520440" cy="2971800"/>
          </a:xfrm>
          <a:prstGeom prst="roundRect">
            <a:avLst>
              <a:gd name="adj" fmla="val 2462"/>
            </a:avLst>
          </a:prstGeom>
          <a:solidFill>
            <a:srgbClr val="0E1E3C"/>
          </a:solidFill>
          <a:ln w="12700">
            <a:solidFill>
              <a:srgbClr val="0E1E3C"/>
            </a:solidFill>
            <a:prstDash val="solid"/>
          </a:ln>
        </p:spPr>
      </p:sp>
      <p:sp>
        <p:nvSpPr>
          <p:cNvPr id="13" name="Shape 11"/>
          <p:cNvSpPr/>
          <p:nvPr/>
        </p:nvSpPr>
        <p:spPr>
          <a:xfrm>
            <a:off x="8412480" y="1874520"/>
            <a:ext cx="292608" cy="292608"/>
          </a:xfrm>
          <a:prstGeom prst="ellipse">
            <a:avLst/>
          </a:prstGeom>
          <a:solidFill>
            <a:srgbClr val="EB6834"/>
          </a:solidFill>
          <a:ln w="12700">
            <a:solidFill>
              <a:srgbClr val="EB6834"/>
            </a:solidFill>
            <a:prstDash val="solid"/>
          </a:ln>
        </p:spPr>
      </p:sp>
      <p:sp>
        <p:nvSpPr>
          <p:cNvPr id="14" name="Text 12"/>
          <p:cNvSpPr/>
          <p:nvPr/>
        </p:nvSpPr>
        <p:spPr>
          <a:xfrm>
            <a:off x="8823960" y="1828800"/>
            <a:ext cx="2651760" cy="365760"/>
          </a:xfrm>
          <a:prstGeom prst="rect">
            <a:avLst/>
          </a:prstGeom>
          <a:noFill/>
          <a:ln/>
        </p:spPr>
        <p:txBody>
          <a:bodyPr wrap="square" lIns="0" tIns="0" rIns="0" bIns="0"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Rencana berikutnya</a:t>
            </a:r>
            <a:endParaRPr lang="en-US" sz="1500" dirty="0"/>
          </a:p>
        </p:txBody>
      </p:sp>
      <p:sp>
        <p:nvSpPr>
          <p:cNvPr id="15" name="Text 13"/>
          <p:cNvSpPr/>
          <p:nvPr/>
        </p:nvSpPr>
        <p:spPr>
          <a:xfrm>
            <a:off x="8458200" y="2331720"/>
            <a:ext cx="2926080" cy="2834640"/>
          </a:xfrm>
          <a:prstGeom prst="rect">
            <a:avLst/>
          </a:prstGeom>
          <a:noFill/>
          <a:ln/>
        </p:spPr>
        <p:txBody>
          <a:bodyPr wrap="square" lIns="0" tIns="0" rIns="0" bIns="0" rtlCol="0" anchor="t"/>
          <a:lstStyle/>
          <a:p>
            <a:pPr marL="342900" indent="-342900">
              <a:spcAft>
                <a:spcPts val="1200"/>
              </a:spcAft>
              <a:buSzPct val="100000"/>
              <a:buChar char="•"/>
            </a:pPr>
            <a:r>
              <a:rPr lang="en-US" sz="1200" dirty="0">
                <a:solidFill>
                  <a:srgbClr val="FFFFFF"/>
                </a:solidFill>
                <a:latin typeface="Calibri" pitchFamily="34" charset="0"/>
                <a:ea typeface="Calibri" pitchFamily="34" charset="-122"/>
                <a:cs typeface="Calibri" pitchFamily="34" charset="-120"/>
              </a:rPr>
              <a:t>Baseline diulang tiga kali supaya uji signifikansi lengkap</a:t>
            </a:r>
            <a:endParaRPr lang="en-US" sz="1200" dirty="0"/>
          </a:p>
          <a:p>
            <a:pPr marL="342900" indent="-342900">
              <a:spcAft>
                <a:spcPts val="1200"/>
              </a:spcAft>
              <a:buSzPct val="100000"/>
              <a:buChar char="•"/>
            </a:pPr>
            <a:r>
              <a:rPr lang="en-US" sz="1200" dirty="0">
                <a:solidFill>
                  <a:srgbClr val="FFFFFF"/>
                </a:solidFill>
                <a:latin typeface="Calibri" pitchFamily="34" charset="0"/>
                <a:ea typeface="Calibri" pitchFamily="34" charset="-122"/>
                <a:cs typeface="Calibri" pitchFamily="34" charset="-120"/>
              </a:rPr>
              <a:t>Pengukuran latency dan FPS pada perangkat edge</a:t>
            </a:r>
            <a:endParaRPr lang="en-US" sz="1200" dirty="0"/>
          </a:p>
          <a:p>
            <a:pPr marL="342900" indent="-342900">
              <a:spcAft>
                <a:spcPts val="1200"/>
              </a:spcAft>
              <a:buSzPct val="100000"/>
              <a:buChar char="•"/>
            </a:pPr>
            <a:r>
              <a:rPr lang="en-US" sz="1200" dirty="0">
                <a:solidFill>
                  <a:srgbClr val="FFFFFF"/>
                </a:solidFill>
                <a:latin typeface="Calibri" pitchFamily="34" charset="0"/>
                <a:ea typeface="Calibri" pitchFamily="34" charset="-122"/>
                <a:cs typeface="Calibri" pitchFamily="34" charset="-120"/>
              </a:rPr>
              <a:t>Pembanding tambahan berupa student dengan image enhancement</a:t>
            </a:r>
            <a:endParaRPr lang="en-US" sz="1200" dirty="0"/>
          </a:p>
        </p:txBody>
      </p:sp>
      <p:sp>
        <p:nvSpPr>
          <p:cNvPr id="16" name="Shape 14"/>
          <p:cNvSpPr/>
          <p:nvPr/>
        </p:nvSpPr>
        <p:spPr>
          <a:xfrm>
            <a:off x="548640" y="4937760"/>
            <a:ext cx="11064240" cy="868680"/>
          </a:xfrm>
          <a:prstGeom prst="roundRect">
            <a:avLst>
              <a:gd name="adj" fmla="val 8421"/>
            </a:avLst>
          </a:prstGeom>
          <a:solidFill>
            <a:srgbClr val="F2F4F8"/>
          </a:solidFill>
          <a:ln w="12700">
            <a:solidFill>
              <a:srgbClr val="F2F4F8"/>
            </a:solidFill>
            <a:prstDash val="solid"/>
          </a:ln>
        </p:spPr>
      </p:sp>
      <p:sp>
        <p:nvSpPr>
          <p:cNvPr id="17" name="Text 15"/>
          <p:cNvSpPr/>
          <p:nvPr/>
        </p:nvSpPr>
        <p:spPr>
          <a:xfrm>
            <a:off x="868680" y="5120640"/>
            <a:ext cx="10424160" cy="548640"/>
          </a:xfrm>
          <a:prstGeom prst="rect">
            <a:avLst/>
          </a:prstGeom>
          <a:noFill/>
          <a:ln/>
        </p:spPr>
        <p:txBody>
          <a:bodyPr wrap="square" lIns="0" tIns="0" rIns="0" bIns="0" rtlCol="0" anchor="ctr"/>
          <a:lstStyle/>
          <a:p>
            <a:pPr indent="0" marL="0">
              <a:buNone/>
            </a:pPr>
            <a:r>
              <a:rPr lang="en-US" sz="1300" dirty="0">
                <a:solidFill>
                  <a:srgbClr val="0E1E3C"/>
                </a:solidFill>
                <a:latin typeface="Calibri" pitchFamily="34" charset="0"/>
                <a:ea typeface="Calibri" pitchFamily="34" charset="-122"/>
                <a:cs typeface="Calibri" pitchFamily="34" charset="-120"/>
              </a:rPr>
              <a:t>Prioritas utama berdasarkan masukan: mengulang baseline tiga kali agar uji signifikansi statistik menjadi lengkap, dan mengukur latency nyata agar klaim deployable punya bukti angka.</a:t>
            </a:r>
            <a:endParaRPr lang="en-US" sz="1300" dirty="0"/>
          </a:p>
        </p:txBody>
      </p:sp>
      <p:sp>
        <p:nvSpPr>
          <p:cNvPr id="18" name="Text 16"/>
          <p:cNvSpPr/>
          <p:nvPr/>
        </p:nvSpPr>
        <p:spPr>
          <a:xfrm>
            <a:off x="11430000" y="6355080"/>
            <a:ext cx="411480" cy="274320"/>
          </a:xfrm>
          <a:prstGeom prst="rect">
            <a:avLst/>
          </a:prstGeom>
          <a:noFill/>
          <a:ln/>
        </p:spPr>
        <p:txBody>
          <a:bodyPr wrap="square" lIns="0" tIns="0" rIns="0" bIns="0" rtlCol="0" anchor="ctr"/>
          <a:lstStyle/>
          <a:p>
            <a:pPr algn="r" indent="0" marL="0">
              <a:buNone/>
            </a:pPr>
            <a:r>
              <a:rPr lang="en-US" sz="1000" dirty="0">
                <a:solidFill>
                  <a:srgbClr val="898781"/>
                </a:solidFill>
                <a:latin typeface="Calibri" pitchFamily="34" charset="0"/>
                <a:ea typeface="Calibri" pitchFamily="34" charset="-122"/>
                <a:cs typeface="Calibri" pitchFamily="34" charset="-120"/>
              </a:rPr>
              <a:t>21</a:t>
            </a:r>
            <a:endParaRPr lang="en-US" sz="1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10896"/>
            <a:ext cx="8229600" cy="256032"/>
          </a:xfrm>
          <a:prstGeom prst="rect">
            <a:avLst/>
          </a:prstGeom>
          <a:noFill/>
          <a:ln/>
        </p:spPr>
        <p:txBody>
          <a:bodyPr wrap="square" lIns="0" tIns="0" rIns="0" bIns="0" rtlCol="0" anchor="ctr"/>
          <a:lstStyle/>
          <a:p>
            <a:pPr indent="0" marL="0">
              <a:buNone/>
            </a:pPr>
            <a:r>
              <a:rPr lang="en-US" sz="1100" b="1" spc="160" kern="0" dirty="0">
                <a:solidFill>
                  <a:srgbClr val="EB6834"/>
                </a:solidFill>
                <a:latin typeface="Calibri" pitchFamily="34" charset="0"/>
                <a:ea typeface="Calibri" pitchFamily="34" charset="-122"/>
                <a:cs typeface="Calibri" pitchFamily="34" charset="-120"/>
              </a:rPr>
              <a:t>BACKUP</a:t>
            </a:r>
            <a:endParaRPr lang="en-US" sz="1100" dirty="0"/>
          </a:p>
        </p:txBody>
      </p:sp>
      <p:sp>
        <p:nvSpPr>
          <p:cNvPr id="3" name="Text 1"/>
          <p:cNvSpPr/>
          <p:nvPr/>
        </p:nvSpPr>
        <p:spPr>
          <a:xfrm>
            <a:off x="548640" y="566928"/>
            <a:ext cx="11064240" cy="658368"/>
          </a:xfrm>
          <a:prstGeom prst="rect">
            <a:avLst/>
          </a:prstGeom>
          <a:noFill/>
          <a:ln/>
        </p:spPr>
        <p:txBody>
          <a:bodyPr wrap="square" lIns="0" tIns="0" rIns="0" bIns="0" rtlCol="0" anchor="t"/>
          <a:lstStyle/>
          <a:p>
            <a:pPr indent="0" marL="0">
              <a:buNone/>
            </a:pPr>
            <a:r>
              <a:rPr lang="en-US" sz="3000" b="1" dirty="0">
                <a:solidFill>
                  <a:srgbClr val="0E1E3C"/>
                </a:solidFill>
                <a:latin typeface="Cambria" pitchFamily="34" charset="0"/>
                <a:ea typeface="Cambria" pitchFamily="34" charset="-122"/>
                <a:cs typeface="Cambria" pitchFamily="34" charset="-120"/>
              </a:rPr>
              <a:t>Antisipasi pertanyaan penguji</a:t>
            </a:r>
            <a:endParaRPr lang="en-US" sz="3000" dirty="0"/>
          </a:p>
        </p:txBody>
      </p:sp>
      <p:sp>
        <p:nvSpPr>
          <p:cNvPr id="4" name="Shape 2"/>
          <p:cNvSpPr/>
          <p:nvPr/>
        </p:nvSpPr>
        <p:spPr>
          <a:xfrm>
            <a:off x="548640" y="1554480"/>
            <a:ext cx="11064240" cy="1033272"/>
          </a:xfrm>
          <a:prstGeom prst="roundRect">
            <a:avLst>
              <a:gd name="adj" fmla="val 7080"/>
            </a:avLst>
          </a:prstGeom>
          <a:solidFill>
            <a:srgbClr val="F2F4F8"/>
          </a:solidFill>
          <a:ln w="12700">
            <a:solidFill>
              <a:srgbClr val="F2F4F8"/>
            </a:solidFill>
            <a:prstDash val="solid"/>
          </a:ln>
        </p:spPr>
      </p:sp>
      <p:sp>
        <p:nvSpPr>
          <p:cNvPr id="5" name="Text 3"/>
          <p:cNvSpPr/>
          <p:nvPr/>
        </p:nvSpPr>
        <p:spPr>
          <a:xfrm>
            <a:off x="868680" y="1673352"/>
            <a:ext cx="10424160" cy="320040"/>
          </a:xfrm>
          <a:prstGeom prst="rect">
            <a:avLst/>
          </a:prstGeom>
          <a:noFill/>
          <a:ln/>
        </p:spPr>
        <p:txBody>
          <a:bodyPr wrap="square" lIns="0" tIns="0" rIns="0" bIns="0" rtlCol="0" anchor="ctr"/>
          <a:lstStyle/>
          <a:p>
            <a:pPr indent="0" marL="0">
              <a:buNone/>
            </a:pPr>
            <a:r>
              <a:rPr lang="en-US" sz="1400" b="1" dirty="0">
                <a:solidFill>
                  <a:srgbClr val="0E1E3C"/>
                </a:solidFill>
                <a:latin typeface="Cambria" pitchFamily="34" charset="0"/>
                <a:ea typeface="Cambria" pitchFamily="34" charset="-122"/>
                <a:cs typeface="Cambria" pitchFamily="34" charset="-120"/>
              </a:rPr>
              <a:t>Kenapa tidak pakai detektor yang lebih baru?</a:t>
            </a:r>
            <a:endParaRPr lang="en-US" sz="1400" dirty="0"/>
          </a:p>
        </p:txBody>
      </p:sp>
      <p:sp>
        <p:nvSpPr>
          <p:cNvPr id="6" name="Text 4"/>
          <p:cNvSpPr/>
          <p:nvPr/>
        </p:nvSpPr>
        <p:spPr>
          <a:xfrm>
            <a:off x="868680" y="2011680"/>
            <a:ext cx="10424160" cy="502920"/>
          </a:xfrm>
          <a:prstGeom prst="rect">
            <a:avLst/>
          </a:prstGeom>
          <a:noFill/>
          <a:ln/>
        </p:spPr>
        <p:txBody>
          <a:bodyPr wrap="square" lIns="0" tIns="0" rIns="0" bIns="0" rtlCol="0" anchor="ctr"/>
          <a:lstStyle/>
          <a:p>
            <a:pPr indent="0" marL="0">
              <a:buNone/>
            </a:pPr>
            <a:r>
              <a:rPr lang="en-US" sz="1200" dirty="0">
                <a:solidFill>
                  <a:srgbClr val="52514E"/>
                </a:solidFill>
                <a:latin typeface="Calibri" pitchFamily="34" charset="0"/>
                <a:ea typeface="Calibri" pitchFamily="34" charset="-122"/>
                <a:cs typeface="Calibri" pitchFamily="34" charset="-120"/>
              </a:rPr>
              <a:t>YOLOv8 dipilih karena stabil, terdokumentasi, dan realistis untuk edge. Fokus penelitian kami pada mekanisme transfer, jadi backbone sengaja dibuat konstan agar variabelnya terkontrol</a:t>
            </a:r>
            <a:endParaRPr lang="en-US" sz="1200" dirty="0"/>
          </a:p>
        </p:txBody>
      </p:sp>
      <p:sp>
        <p:nvSpPr>
          <p:cNvPr id="7" name="Shape 5"/>
          <p:cNvSpPr/>
          <p:nvPr/>
        </p:nvSpPr>
        <p:spPr>
          <a:xfrm>
            <a:off x="548640" y="2724912"/>
            <a:ext cx="11064240" cy="1033272"/>
          </a:xfrm>
          <a:prstGeom prst="roundRect">
            <a:avLst>
              <a:gd name="adj" fmla="val 7080"/>
            </a:avLst>
          </a:prstGeom>
          <a:solidFill>
            <a:srgbClr val="F2F4F8"/>
          </a:solidFill>
          <a:ln w="12700">
            <a:solidFill>
              <a:srgbClr val="F2F4F8"/>
            </a:solidFill>
            <a:prstDash val="solid"/>
          </a:ln>
        </p:spPr>
      </p:sp>
      <p:sp>
        <p:nvSpPr>
          <p:cNvPr id="8" name="Text 6"/>
          <p:cNvSpPr/>
          <p:nvPr/>
        </p:nvSpPr>
        <p:spPr>
          <a:xfrm>
            <a:off x="868680" y="2843784"/>
            <a:ext cx="10424160" cy="320040"/>
          </a:xfrm>
          <a:prstGeom prst="rect">
            <a:avLst/>
          </a:prstGeom>
          <a:noFill/>
          <a:ln/>
        </p:spPr>
        <p:txBody>
          <a:bodyPr wrap="square" lIns="0" tIns="0" rIns="0" bIns="0" rtlCol="0" anchor="ctr"/>
          <a:lstStyle/>
          <a:p>
            <a:pPr indent="0" marL="0">
              <a:buNone/>
            </a:pPr>
            <a:r>
              <a:rPr lang="en-US" sz="1400" b="1" dirty="0">
                <a:solidFill>
                  <a:srgbClr val="0E1E3C"/>
                </a:solidFill>
                <a:latin typeface="Cambria" pitchFamily="34" charset="0"/>
                <a:ea typeface="Cambria" pitchFamily="34" charset="-122"/>
                <a:cs typeface="Cambria" pitchFamily="34" charset="-120"/>
              </a:rPr>
              <a:t>Kenaikan 0,012 mAP itu kecil, kenapa penting?</a:t>
            </a:r>
            <a:endParaRPr lang="en-US" sz="1400" dirty="0"/>
          </a:p>
        </p:txBody>
      </p:sp>
      <p:sp>
        <p:nvSpPr>
          <p:cNvPr id="9" name="Text 7"/>
          <p:cNvSpPr/>
          <p:nvPr/>
        </p:nvSpPr>
        <p:spPr>
          <a:xfrm>
            <a:off x="868680" y="3182112"/>
            <a:ext cx="10424160" cy="502920"/>
          </a:xfrm>
          <a:prstGeom prst="rect">
            <a:avLst/>
          </a:prstGeom>
          <a:noFill/>
          <a:ln/>
        </p:spPr>
        <p:txBody>
          <a:bodyPr wrap="square" lIns="0" tIns="0" rIns="0" bIns="0" rtlCol="0" anchor="ctr"/>
          <a:lstStyle/>
          <a:p>
            <a:pPr indent="0" marL="0">
              <a:buNone/>
            </a:pPr>
            <a:r>
              <a:rPr lang="en-US" sz="1200" dirty="0">
                <a:solidFill>
                  <a:srgbClr val="52514E"/>
                </a:solidFill>
                <a:latin typeface="Calibri" pitchFamily="34" charset="0"/>
                <a:ea typeface="Calibri" pitchFamily="34" charset="-122"/>
                <a:cs typeface="Calibri" pitchFamily="34" charset="-120"/>
              </a:rPr>
              <a:t>Karena kontribusi kami bukan angka mAP nya, tapi pengecilan gap 45 persen dan kemenangan di 18 dari 18 kelas, dengan variasi antar run hanya 0,5 persen</a:t>
            </a:r>
            <a:endParaRPr lang="en-US" sz="1200" dirty="0"/>
          </a:p>
        </p:txBody>
      </p:sp>
      <p:sp>
        <p:nvSpPr>
          <p:cNvPr id="10" name="Shape 8"/>
          <p:cNvSpPr/>
          <p:nvPr/>
        </p:nvSpPr>
        <p:spPr>
          <a:xfrm>
            <a:off x="548640" y="3895344"/>
            <a:ext cx="11064240" cy="1033272"/>
          </a:xfrm>
          <a:prstGeom prst="roundRect">
            <a:avLst>
              <a:gd name="adj" fmla="val 7080"/>
            </a:avLst>
          </a:prstGeom>
          <a:solidFill>
            <a:srgbClr val="F2F4F8"/>
          </a:solidFill>
          <a:ln w="12700">
            <a:solidFill>
              <a:srgbClr val="F2F4F8"/>
            </a:solidFill>
            <a:prstDash val="solid"/>
          </a:ln>
        </p:spPr>
      </p:sp>
      <p:sp>
        <p:nvSpPr>
          <p:cNvPr id="11" name="Text 9"/>
          <p:cNvSpPr/>
          <p:nvPr/>
        </p:nvSpPr>
        <p:spPr>
          <a:xfrm>
            <a:off x="868680" y="4014216"/>
            <a:ext cx="10424160" cy="320040"/>
          </a:xfrm>
          <a:prstGeom prst="rect">
            <a:avLst/>
          </a:prstGeom>
          <a:noFill/>
          <a:ln/>
        </p:spPr>
        <p:txBody>
          <a:bodyPr wrap="square" lIns="0" tIns="0" rIns="0" bIns="0" rtlCol="0" anchor="ctr"/>
          <a:lstStyle/>
          <a:p>
            <a:pPr indent="0" marL="0">
              <a:buNone/>
            </a:pPr>
            <a:r>
              <a:rPr lang="en-US" sz="1400" b="1" dirty="0">
                <a:solidFill>
                  <a:srgbClr val="0E1E3C"/>
                </a:solidFill>
                <a:latin typeface="Cambria" pitchFamily="34" charset="0"/>
                <a:ea typeface="Cambria" pitchFamily="34" charset="-122"/>
                <a:cs typeface="Cambria" pitchFamily="34" charset="-120"/>
              </a:rPr>
              <a:t>Kenapa tidak dibandingkan dengan metode low light terbaru?</a:t>
            </a:r>
            <a:endParaRPr lang="en-US" sz="1400" dirty="0"/>
          </a:p>
        </p:txBody>
      </p:sp>
      <p:sp>
        <p:nvSpPr>
          <p:cNvPr id="12" name="Text 10"/>
          <p:cNvSpPr/>
          <p:nvPr/>
        </p:nvSpPr>
        <p:spPr>
          <a:xfrm>
            <a:off x="868680" y="4352544"/>
            <a:ext cx="10424160" cy="502920"/>
          </a:xfrm>
          <a:prstGeom prst="rect">
            <a:avLst/>
          </a:prstGeom>
          <a:noFill/>
          <a:ln/>
        </p:spPr>
        <p:txBody>
          <a:bodyPr wrap="square" lIns="0" tIns="0" rIns="0" bIns="0" rtlCol="0" anchor="ctr"/>
          <a:lstStyle/>
          <a:p>
            <a:pPr indent="0" marL="0">
              <a:buNone/>
            </a:pPr>
            <a:r>
              <a:rPr lang="en-US" sz="1200" dirty="0">
                <a:solidFill>
                  <a:srgbClr val="52514E"/>
                </a:solidFill>
                <a:latin typeface="Calibri" pitchFamily="34" charset="0"/>
                <a:ea typeface="Calibri" pitchFamily="34" charset="-122"/>
                <a:cs typeface="Calibri" pitchFamily="34" charset="-120"/>
              </a:rPr>
              <a:t>Metode tersebut menambah modul saat inference, sedangkan kami membatasi diri pada solusi tanpa biaya inference. Perbandingan ini akan kami masukkan sebagai baseline tambahan</a:t>
            </a:r>
            <a:endParaRPr lang="en-US" sz="1200" dirty="0"/>
          </a:p>
        </p:txBody>
      </p:sp>
      <p:sp>
        <p:nvSpPr>
          <p:cNvPr id="13" name="Shape 11"/>
          <p:cNvSpPr/>
          <p:nvPr/>
        </p:nvSpPr>
        <p:spPr>
          <a:xfrm>
            <a:off x="548640" y="5065776"/>
            <a:ext cx="11064240" cy="1033272"/>
          </a:xfrm>
          <a:prstGeom prst="roundRect">
            <a:avLst>
              <a:gd name="adj" fmla="val 7080"/>
            </a:avLst>
          </a:prstGeom>
          <a:solidFill>
            <a:srgbClr val="F2F4F8"/>
          </a:solidFill>
          <a:ln w="12700">
            <a:solidFill>
              <a:srgbClr val="F2F4F8"/>
            </a:solidFill>
            <a:prstDash val="solid"/>
          </a:ln>
        </p:spPr>
      </p:sp>
      <p:sp>
        <p:nvSpPr>
          <p:cNvPr id="14" name="Text 12"/>
          <p:cNvSpPr/>
          <p:nvPr/>
        </p:nvSpPr>
        <p:spPr>
          <a:xfrm>
            <a:off x="868680" y="5184648"/>
            <a:ext cx="10424160" cy="320040"/>
          </a:xfrm>
          <a:prstGeom prst="rect">
            <a:avLst/>
          </a:prstGeom>
          <a:noFill/>
          <a:ln/>
        </p:spPr>
        <p:txBody>
          <a:bodyPr wrap="square" lIns="0" tIns="0" rIns="0" bIns="0" rtlCol="0" anchor="ctr"/>
          <a:lstStyle/>
          <a:p>
            <a:pPr indent="0" marL="0">
              <a:buNone/>
            </a:pPr>
            <a:r>
              <a:rPr lang="en-US" sz="1400" b="1" dirty="0">
                <a:solidFill>
                  <a:srgbClr val="0E1E3C"/>
                </a:solidFill>
                <a:latin typeface="Cambria" pitchFamily="34" charset="0"/>
                <a:ea typeface="Cambria" pitchFamily="34" charset="-122"/>
                <a:cs typeface="Cambria" pitchFamily="34" charset="-120"/>
              </a:rPr>
              <a:t>Kenapa kelas train dihapus?</a:t>
            </a:r>
            <a:endParaRPr lang="en-US" sz="1400" dirty="0"/>
          </a:p>
        </p:txBody>
      </p:sp>
      <p:sp>
        <p:nvSpPr>
          <p:cNvPr id="15" name="Text 13"/>
          <p:cNvSpPr/>
          <p:nvPr/>
        </p:nvSpPr>
        <p:spPr>
          <a:xfrm>
            <a:off x="868680" y="5522976"/>
            <a:ext cx="10424160" cy="502920"/>
          </a:xfrm>
          <a:prstGeom prst="rect">
            <a:avLst/>
          </a:prstGeom>
          <a:noFill/>
          <a:ln/>
        </p:spPr>
        <p:txBody>
          <a:bodyPr wrap="square" lIns="0" tIns="0" rIns="0" bIns="0" rtlCol="0" anchor="ctr"/>
          <a:lstStyle/>
          <a:p>
            <a:pPr indent="0" marL="0">
              <a:buNone/>
            </a:pPr>
            <a:r>
              <a:rPr lang="en-US" sz="1200" dirty="0">
                <a:solidFill>
                  <a:srgbClr val="52514E"/>
                </a:solidFill>
                <a:latin typeface="Calibri" pitchFamily="34" charset="0"/>
                <a:ea typeface="Calibri" pitchFamily="34" charset="-122"/>
                <a:cs typeface="Calibri" pitchFamily="34" charset="-120"/>
              </a:rPr>
              <a:t>Hanya 25 gambar training dan 3 instance test. Nilai AP dari 3 instance tidak bermakna secara statistik dan justru mendistorsi rata rata seluruh kelas</a:t>
            </a:r>
            <a:endParaRPr lang="en-US" sz="1200" dirty="0"/>
          </a:p>
        </p:txBody>
      </p:sp>
      <p:sp>
        <p:nvSpPr>
          <p:cNvPr id="16" name="Text 14"/>
          <p:cNvSpPr/>
          <p:nvPr/>
        </p:nvSpPr>
        <p:spPr>
          <a:xfrm>
            <a:off x="11430000" y="6355080"/>
            <a:ext cx="411480" cy="274320"/>
          </a:xfrm>
          <a:prstGeom prst="rect">
            <a:avLst/>
          </a:prstGeom>
          <a:noFill/>
          <a:ln/>
        </p:spPr>
        <p:txBody>
          <a:bodyPr wrap="square" lIns="0" tIns="0" rIns="0" bIns="0" rtlCol="0" anchor="ctr"/>
          <a:lstStyle/>
          <a:p>
            <a:pPr algn="r" indent="0" marL="0">
              <a:buNone/>
            </a:pPr>
            <a:r>
              <a:rPr lang="en-US" sz="1000" dirty="0">
                <a:solidFill>
                  <a:srgbClr val="898781"/>
                </a:solidFill>
                <a:latin typeface="Calibri" pitchFamily="34" charset="0"/>
                <a:ea typeface="Calibri" pitchFamily="34" charset="-122"/>
                <a:cs typeface="Calibri" pitchFamily="34" charset="-120"/>
              </a:rPr>
              <a:t>22</a:t>
            </a:r>
            <a:endParaRPr lang="en-US" sz="1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E1E3C"/>
        </a:solidFill>
      </p:bgPr>
    </p:bg>
    <p:spTree>
      <p:nvGrpSpPr>
        <p:cNvPr id="1" name=""/>
        <p:cNvGrpSpPr/>
        <p:nvPr/>
      </p:nvGrpSpPr>
      <p:grpSpPr>
        <a:xfrm>
          <a:off x="0" y="0"/>
          <a:ext cx="0" cy="0"/>
          <a:chOff x="0" y="0"/>
          <a:chExt cx="0" cy="0"/>
        </a:xfrm>
      </p:grpSpPr>
      <p:sp>
        <p:nvSpPr>
          <p:cNvPr id="2" name="Shape 0"/>
          <p:cNvSpPr/>
          <p:nvPr/>
        </p:nvSpPr>
        <p:spPr>
          <a:xfrm>
            <a:off x="-2651760" y="5212080"/>
            <a:ext cx="5486400" cy="5486400"/>
          </a:xfrm>
          <a:prstGeom prst="ellipse">
            <a:avLst/>
          </a:prstGeom>
          <a:solidFill>
            <a:srgbClr val="1B3260"/>
          </a:solidFill>
          <a:ln w="12700">
            <a:solidFill>
              <a:srgbClr val="1B3260"/>
            </a:solidFill>
            <a:prstDash val="solid"/>
          </a:ln>
        </p:spPr>
      </p:sp>
      <p:sp>
        <p:nvSpPr>
          <p:cNvPr id="3" name="Text 1"/>
          <p:cNvSpPr/>
          <p:nvPr/>
        </p:nvSpPr>
        <p:spPr>
          <a:xfrm>
            <a:off x="822960" y="2103120"/>
            <a:ext cx="7315200" cy="82296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Terima kasih</a:t>
            </a:r>
            <a:endParaRPr lang="en-US" sz="4000" dirty="0"/>
          </a:p>
        </p:txBody>
      </p:sp>
      <p:sp>
        <p:nvSpPr>
          <p:cNvPr id="4" name="Text 2"/>
          <p:cNvSpPr/>
          <p:nvPr/>
        </p:nvSpPr>
        <p:spPr>
          <a:xfrm>
            <a:off x="822960" y="3017520"/>
            <a:ext cx="8686800" cy="822960"/>
          </a:xfrm>
          <a:prstGeom prst="rect">
            <a:avLst/>
          </a:prstGeom>
          <a:noFill/>
          <a:ln/>
        </p:spPr>
        <p:txBody>
          <a:bodyPr wrap="square" lIns="0" tIns="0" rIns="0" bIns="0" rtlCol="0" anchor="ctr"/>
          <a:lstStyle/>
          <a:p>
            <a:pPr indent="0" marL="0">
              <a:buNone/>
            </a:pPr>
            <a:r>
              <a:rPr lang="en-US" sz="1600" dirty="0">
                <a:solidFill>
                  <a:srgbClr val="CADCFC"/>
                </a:solidFill>
                <a:latin typeface="Calibri" pitchFamily="34" charset="0"/>
                <a:ea typeface="Calibri" pitchFamily="34" charset="-122"/>
                <a:cs typeface="Calibri" pitchFamily="34" charset="-120"/>
              </a:rPr>
              <a:t>Kami sangat terbuka untuk masukan, terutama pada bagian klaim kontribusi dan rencana pengujian statistik.</a:t>
            </a:r>
            <a:endParaRPr lang="en-US" sz="1600" dirty="0"/>
          </a:p>
        </p:txBody>
      </p:sp>
      <p:sp>
        <p:nvSpPr>
          <p:cNvPr id="5" name="Text 3"/>
          <p:cNvSpPr/>
          <p:nvPr/>
        </p:nvSpPr>
        <p:spPr>
          <a:xfrm>
            <a:off x="822960" y="4069080"/>
            <a:ext cx="9601200" cy="731520"/>
          </a:xfrm>
          <a:prstGeom prst="rect">
            <a:avLst/>
          </a:prstGeom>
          <a:noFill/>
          <a:ln/>
        </p:spPr>
        <p:txBody>
          <a:bodyPr wrap="square" lIns="0" tIns="0" rIns="0" bIns="0" rtlCol="0" anchor="ctr"/>
          <a:lstStyle/>
          <a:p>
            <a:pPr indent="0" marL="0">
              <a:buNone/>
            </a:pPr>
            <a:r>
              <a:rPr lang="en-US" sz="1500" b="1" i="1" dirty="0">
                <a:solidFill>
                  <a:srgbClr val="EB6834"/>
                </a:solidFill>
                <a:latin typeface="Calibri" pitchFamily="34" charset="0"/>
                <a:ea typeface="Calibri" pitchFamily="34" charset="-122"/>
                <a:cs typeface="Calibri" pitchFamily="34" charset="-120"/>
              </a:rPr>
              <a:t>Gap siang ke malam turun dari 0,0423 menjadi 0,0233 tanpa menambah satu pun operasi saat inference.</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Knowledge Distillation for Low-Light Driving Scene Object Detection</dc:title>
  <dc:subject>PptxGenJS Presentation</dc:subject>
  <dc:creator>Tim Pre-Thesis</dc:creator>
  <cp:lastModifiedBy>Tim Pre-Thesis</cp:lastModifiedBy>
  <cp:revision>1</cp:revision>
  <dcterms:created xsi:type="dcterms:W3CDTF">2026-08-15T03:55:04Z</dcterms:created>
  <dcterms:modified xsi:type="dcterms:W3CDTF">2026-08-15T03:55:04Z</dcterms:modified>
</cp:coreProperties>
</file>